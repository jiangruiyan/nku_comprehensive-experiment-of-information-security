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344" r:id="rId6"/>
    <p:sldId id="362" r:id="rId7"/>
    <p:sldId id="363" r:id="rId8"/>
    <p:sldId id="347" r:id="rId9"/>
    <p:sldId id="352" r:id="rId10"/>
    <p:sldId id="32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06" userDrawn="1">
          <p15:clr>
            <a:srgbClr val="A4A3A4"/>
          </p15:clr>
        </p15:guide>
        <p15:guide id="3" orient="horz" pos="705" userDrawn="1">
          <p15:clr>
            <a:srgbClr val="A4A3A4"/>
          </p15:clr>
        </p15:guide>
        <p15:guide id="4" orient="horz" pos="705" userDrawn="1">
          <p15:clr>
            <a:srgbClr val="A4A3A4"/>
          </p15:clr>
        </p15:guide>
        <p15:guide id="6" orient="horz" pos="39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7267" autoAdjust="0"/>
  </p:normalViewPr>
  <p:slideViewPr>
    <p:cSldViewPr snapToGrid="0" showGuides="1">
      <p:cViewPr varScale="1">
        <p:scale>
          <a:sx n="99" d="100"/>
          <a:sy n="99" d="100"/>
        </p:scale>
        <p:origin x="462" y="468"/>
      </p:cViewPr>
      <p:guideLst>
        <p:guide pos="445"/>
        <p:guide pos="7206"/>
        <p:guide orient="horz" pos="705"/>
        <p:guide orient="horz" pos="705"/>
        <p:guide orient="horz" pos="3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650" y="1464945"/>
            <a:ext cx="9157335" cy="27228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使用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Burp Suite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对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HTTPS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流量进行中间人篡改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97718" y="4116665"/>
            <a:ext cx="6472255" cy="10433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ea typeface="微软雅黑" panose="020B0503020204020204" pitchFamily="34" charset="-122"/>
              </a:rPr>
              <a:t>月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实验目标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1064260"/>
            <a:ext cx="11383010" cy="4370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1.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掌握工具使用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——进一步了解Burp Suite的使用方式，熟悉其HTTPS代理拦截功能和图形化操作界面</a:t>
            </a:r>
            <a:endParaRPr 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2.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理解攻击原理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ea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掌握中间人攻击原理、TLS保护的通信过程，以及对HTTPS实现中间人攻击的具体流程</a:t>
            </a:r>
            <a:endParaRPr 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3.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rPr>
              <a:t>深化理论认知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在实践中加深对于中间人流量劫持和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原理的理解，建立完整的安全知识体系</a:t>
            </a:r>
            <a:endParaRPr 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883920"/>
            <a:ext cx="10761345" cy="2784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MiSans" pitchFamily="34" charset="-120"/>
              </a:rPr>
              <a:t>中间人攻击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MiSans" pitchFamily="34" charset="-120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中间人攻击（Man-in-the-Middle Attack）是一种常见的网络攻击手段，攻击者通过在网络通信的双方之间插入自己， 截获、篡改或伪造 双方的通信内容，从而实现窃取敏感信息、篡改数据或破坏通信的目的。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indent="0" algn="l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4495" y="3767455"/>
            <a:ext cx="109601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AF624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 ARP欺骗：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通过伪造ARP响应包，将攻击者的MAC地址与网关IP绑定，使流量经过攻击者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AF624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 DNS劫持：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篡改DNS解析结果，将用户请求重定向到攻击者控制的恶意服务器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AF624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Wi-Fi劫持：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搭建恶意热点或入侵现有Wi-Fi网络，截获所有经过的流量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"/>
            </p:custDataLst>
          </p:nvPr>
        </p:nvSpPr>
        <p:spPr>
          <a:xfrm>
            <a:off x="609600" y="2107565"/>
            <a:ext cx="50800" cy="4127500"/>
          </a:xfrm>
          <a:custGeom>
            <a:avLst/>
            <a:gdLst>
              <a:gd name="sw" fmla="*/ 1 w 80"/>
              <a:gd name="sh" fmla="*/ 1 h 6500"/>
              <a:gd name="mins" fmla="min sw sh"/>
              <a:gd name="dsw" fmla="+- 0 sw mins"/>
              <a:gd name="dsh" fmla="+- 0 sh mins"/>
              <a:gd name="p0x0" fmla="*/ 40 w 80"/>
              <a:gd name="p0y0" fmla="*/ 0 h 6500"/>
              <a:gd name="p0x1" fmla="*/ 62 w 80"/>
              <a:gd name="p0y1" fmla="*/ 0 h 6500"/>
              <a:gd name="p0x2" fmla="*/ 80 w 80"/>
              <a:gd name="p0y2" fmla="*/ 17 h 6500"/>
              <a:gd name="p0x3" fmla="*/ 80 w 80"/>
              <a:gd name="p0y3" fmla="*/ 40 h 6500"/>
              <a:gd name="p0x4" fmla="*/ 80 w 80"/>
              <a:gd name="p0y4" fmla="*/ 6460 h 6500"/>
              <a:gd name="p0x5" fmla="*/ 80 w 80"/>
              <a:gd name="p0y5" fmla="*/ 6482 h 6500"/>
              <a:gd name="p0x6" fmla="*/ 62 w 80"/>
              <a:gd name="p0y6" fmla="*/ 6500 h 6500"/>
              <a:gd name="p0x7" fmla="*/ 40 w 80"/>
              <a:gd name="p0y7" fmla="*/ 6500 h 6500"/>
              <a:gd name="p0x8" fmla="*/ 17 w 80"/>
              <a:gd name="p0y8" fmla="*/ 6500 h 6500"/>
              <a:gd name="p0x9" fmla="*/ 0 w 80"/>
              <a:gd name="p0y9" fmla="*/ 6482 h 6500"/>
              <a:gd name="p0x10" fmla="*/ 0 w 80"/>
              <a:gd name="p0y10" fmla="*/ 6460 h 6500"/>
              <a:gd name="p0x11" fmla="*/ 0 w 80"/>
              <a:gd name="p0y11" fmla="*/ 40 h 6500"/>
              <a:gd name="p0x12" fmla="*/ 0 w 80"/>
              <a:gd name="p0y12" fmla="*/ 17 h 6500"/>
              <a:gd name="p0x13" fmla="*/ 17 w 80"/>
              <a:gd name="p0y13" fmla="*/ 0 h 6500"/>
              <a:gd name="p0x14" fmla="*/ 40 w 80"/>
              <a:gd name="p0y14" fmla="*/ 0 h 6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812800" y="2107565"/>
            <a:ext cx="3251200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/>
            <a:r>
              <a:rPr sz="2100" b="1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</a:rPr>
              <a:t>握手阶段</a:t>
            </a:r>
            <a:endParaRPr sz="2100" b="1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812800" y="2513965"/>
            <a:ext cx="3251200" cy="37211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marL="0" lvl="1" indent="0" algn="l">
              <a:lnSpc>
                <a:spcPct val="120000"/>
              </a:lnSpc>
              <a:buNone/>
            </a:pPr>
            <a:r>
              <a:rPr lang="zh-CN" altLang="en-US" sz="1600">
                <a:solidFill>
                  <a:schemeClr val="accent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协商加密参数并建立安全连接</a:t>
            </a:r>
            <a:endParaRPr lang="en-US" altLang="zh-CN" sz="1600">
              <a:solidFill>
                <a:schemeClr val="accent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l">
              <a:lnSpc>
                <a:spcPct val="120000"/>
              </a:lnSpc>
              <a:spcBef>
                <a:spcPct val="24000"/>
              </a:spcBef>
              <a:buNone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Client Hello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：客户端发送支持的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TLS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版本、加密算法列表和随机数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l">
              <a:lnSpc>
                <a:spcPct val="120000"/>
              </a:lnSpc>
              <a:spcBef>
                <a:spcPct val="24000"/>
              </a:spcBef>
              <a:buNone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Server Hello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：服务器选择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TLS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版本和加密算法，发送随机数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l">
              <a:lnSpc>
                <a:spcPct val="120000"/>
              </a:lnSpc>
              <a:spcBef>
                <a:spcPct val="24000"/>
              </a:spcBef>
              <a:buNone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证书验证：服务器发送数字证书，客户端验证证书有效性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l">
              <a:lnSpc>
                <a:spcPct val="120000"/>
              </a:lnSpc>
              <a:spcBef>
                <a:spcPct val="24000"/>
              </a:spcBef>
              <a:buNone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④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密钥交换：生成预主密钥，双方生成对称加密的会话密钥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l">
              <a:lnSpc>
                <a:spcPct val="120000"/>
              </a:lnSpc>
              <a:spcBef>
                <a:spcPct val="24000"/>
              </a:spcBef>
              <a:buNone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⑤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握手完成：双方交换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握手完成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消息，建立安全连接</a:t>
            </a:r>
            <a:endParaRPr lang="zh-CN" altLang="en-US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4368800" y="2107565"/>
            <a:ext cx="50800" cy="4127500"/>
          </a:xfrm>
          <a:custGeom>
            <a:avLst/>
            <a:gdLst>
              <a:gd name="sw" fmla="*/ 1 w 80"/>
              <a:gd name="sh" fmla="*/ 1 h 6500"/>
              <a:gd name="mins" fmla="min sw sh"/>
              <a:gd name="dsw" fmla="+- 0 sw mins"/>
              <a:gd name="dsh" fmla="+- 0 sh mins"/>
              <a:gd name="p0x0" fmla="*/ 40 w 80"/>
              <a:gd name="p0y0" fmla="*/ 0 h 6500"/>
              <a:gd name="p0x1" fmla="*/ 62 w 80"/>
              <a:gd name="p0y1" fmla="*/ 0 h 6500"/>
              <a:gd name="p0x2" fmla="*/ 80 w 80"/>
              <a:gd name="p0y2" fmla="*/ 17 h 6500"/>
              <a:gd name="p0x3" fmla="*/ 80 w 80"/>
              <a:gd name="p0y3" fmla="*/ 40 h 6500"/>
              <a:gd name="p0x4" fmla="*/ 80 w 80"/>
              <a:gd name="p0y4" fmla="*/ 6460 h 6500"/>
              <a:gd name="p0x5" fmla="*/ 80 w 80"/>
              <a:gd name="p0y5" fmla="*/ 6482 h 6500"/>
              <a:gd name="p0x6" fmla="*/ 62 w 80"/>
              <a:gd name="p0y6" fmla="*/ 6500 h 6500"/>
              <a:gd name="p0x7" fmla="*/ 40 w 80"/>
              <a:gd name="p0y7" fmla="*/ 6500 h 6500"/>
              <a:gd name="p0x8" fmla="*/ 17 w 80"/>
              <a:gd name="p0y8" fmla="*/ 6500 h 6500"/>
              <a:gd name="p0x9" fmla="*/ 0 w 80"/>
              <a:gd name="p0y9" fmla="*/ 6482 h 6500"/>
              <a:gd name="p0x10" fmla="*/ 0 w 80"/>
              <a:gd name="p0y10" fmla="*/ 6460 h 6500"/>
              <a:gd name="p0x11" fmla="*/ 0 w 80"/>
              <a:gd name="p0y11" fmla="*/ 40 h 6500"/>
              <a:gd name="p0x12" fmla="*/ 0 w 80"/>
              <a:gd name="p0y12" fmla="*/ 17 h 6500"/>
              <a:gd name="p0x13" fmla="*/ 17 w 80"/>
              <a:gd name="p0y13" fmla="*/ 0 h 6500"/>
              <a:gd name="p0x14" fmla="*/ 40 w 80"/>
              <a:gd name="p0y14" fmla="*/ 0 h 6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572000" y="2107565"/>
            <a:ext cx="3251200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/>
            <a:r>
              <a:rPr sz="2100" b="1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</a:rPr>
              <a:t>数据传输阶段</a:t>
            </a:r>
            <a:endParaRPr sz="2100" b="1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572000" y="2513965"/>
            <a:ext cx="3251200" cy="37211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marL="0" lvl="1" indent="0" algn="l">
              <a:lnSpc>
                <a:spcPct val="120000"/>
              </a:lnSpc>
              <a:buNone/>
            </a:pPr>
            <a:r>
              <a:rPr lang="zh-CN" altLang="en-US" sz="1600">
                <a:solidFill>
                  <a:schemeClr val="accent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使用对称加密算法保护数据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2400" lvl="1" indent="-152400" algn="l">
              <a:lnSpc>
                <a:spcPct val="120000"/>
              </a:lnSpc>
              <a:spcBef>
                <a:spcPct val="24000"/>
              </a:spcBef>
              <a:buChar char="•"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对称加密：使用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AES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等对称加密算法对数据进行加密和解密，确保数据机密性。客户端和服务器使用相同的会话密钥进行加密通信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2400" lvl="1" indent="-152400" algn="l">
              <a:lnSpc>
                <a:spcPct val="120000"/>
              </a:lnSpc>
              <a:spcBef>
                <a:spcPct val="24000"/>
              </a:spcBef>
              <a:buChar char="•"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完整性验证：通过消息认证码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(MAC)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验证数据完整性，防止数据被篡改</a:t>
            </a:r>
            <a:endParaRPr lang="zh-CN" altLang="en-US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8128000" y="2107565"/>
            <a:ext cx="50800" cy="4127500"/>
          </a:xfrm>
          <a:custGeom>
            <a:avLst/>
            <a:gdLst>
              <a:gd name="sw" fmla="*/ 1 w 80"/>
              <a:gd name="sh" fmla="*/ 1 h 6500"/>
              <a:gd name="mins" fmla="min sw sh"/>
              <a:gd name="dsw" fmla="+- 0 sw mins"/>
              <a:gd name="dsh" fmla="+- 0 sh mins"/>
              <a:gd name="p0x0" fmla="*/ 40 w 80"/>
              <a:gd name="p0y0" fmla="*/ 0 h 6500"/>
              <a:gd name="p0x1" fmla="*/ 62 w 80"/>
              <a:gd name="p0y1" fmla="*/ 0 h 6500"/>
              <a:gd name="p0x2" fmla="*/ 80 w 80"/>
              <a:gd name="p0y2" fmla="*/ 17 h 6500"/>
              <a:gd name="p0x3" fmla="*/ 80 w 80"/>
              <a:gd name="p0y3" fmla="*/ 40 h 6500"/>
              <a:gd name="p0x4" fmla="*/ 80 w 80"/>
              <a:gd name="p0y4" fmla="*/ 6460 h 6500"/>
              <a:gd name="p0x5" fmla="*/ 80 w 80"/>
              <a:gd name="p0y5" fmla="*/ 6482 h 6500"/>
              <a:gd name="p0x6" fmla="*/ 62 w 80"/>
              <a:gd name="p0y6" fmla="*/ 6500 h 6500"/>
              <a:gd name="p0x7" fmla="*/ 40 w 80"/>
              <a:gd name="p0y7" fmla="*/ 6500 h 6500"/>
              <a:gd name="p0x8" fmla="*/ 17 w 80"/>
              <a:gd name="p0y8" fmla="*/ 6500 h 6500"/>
              <a:gd name="p0x9" fmla="*/ 0 w 80"/>
              <a:gd name="p0y9" fmla="*/ 6482 h 6500"/>
              <a:gd name="p0x10" fmla="*/ 0 w 80"/>
              <a:gd name="p0y10" fmla="*/ 6460 h 6500"/>
              <a:gd name="p0x11" fmla="*/ 0 w 80"/>
              <a:gd name="p0y11" fmla="*/ 40 h 6500"/>
              <a:gd name="p0x12" fmla="*/ 0 w 80"/>
              <a:gd name="p0y12" fmla="*/ 17 h 6500"/>
              <a:gd name="p0x13" fmla="*/ 17 w 80"/>
              <a:gd name="p0y13" fmla="*/ 0 h 6500"/>
              <a:gd name="p0x14" fmla="*/ 40 w 80"/>
              <a:gd name="p0y14" fmla="*/ 0 h 6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8331200" y="2107565"/>
            <a:ext cx="3251200" cy="3556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/>
            <a:r>
              <a:rPr sz="2100" b="1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</a:rPr>
              <a:t>连接关闭阶段</a:t>
            </a:r>
            <a:endParaRPr sz="2100" b="1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8331200" y="2513965"/>
            <a:ext cx="3251200" cy="37211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marL="0" lvl="1" indent="0" algn="l">
              <a:lnSpc>
                <a:spcPct val="120000"/>
              </a:lnSpc>
              <a:buNone/>
            </a:pPr>
            <a:r>
              <a:rPr lang="zh-CN" altLang="en-US" sz="1600">
                <a:solidFill>
                  <a:schemeClr val="accent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安全地终止通信会话</a:t>
            </a:r>
            <a:endParaRPr lang="en-US" altLang="zh-CN" sz="1600">
              <a:solidFill>
                <a:schemeClr val="accent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2400" lvl="1" indent="-152400" algn="l">
              <a:lnSpc>
                <a:spcPct val="120000"/>
              </a:lnSpc>
              <a:spcBef>
                <a:spcPct val="24000"/>
              </a:spcBef>
              <a:buChar char="•"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关闭通知：双方通过发送特定的关闭消息</a:t>
            </a:r>
            <a:r>
              <a:rPr lang="en-US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(Close Notify)</a:t>
            </a: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通知对方即将关闭连接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2400" lvl="1" indent="-152400" algn="l">
              <a:lnSpc>
                <a:spcPct val="120000"/>
              </a:lnSpc>
              <a:spcBef>
                <a:spcPct val="24000"/>
              </a:spcBef>
              <a:buChar char="•"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密钥销毁：会话密钥被安全销毁，防止后续被恶意利用</a:t>
            </a:r>
            <a:endParaRPr lang="en-US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2400" lvl="1" indent="-152400" algn="l">
              <a:lnSpc>
                <a:spcPct val="120000"/>
              </a:lnSpc>
              <a:spcBef>
                <a:spcPct val="24000"/>
              </a:spcBef>
              <a:buChar char="•"/>
            </a:pPr>
            <a:r>
              <a:rPr lang="zh-CN" altLang="zh-CN" sz="1600">
                <a:solidFill>
                  <a:schemeClr val="dk1"/>
                </a:solidFill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安全终止：确保所有未完成的传输都已处理完毕，连接安全关闭</a:t>
            </a:r>
            <a:endParaRPr lang="zh-CN" altLang="zh-CN" sz="1600">
              <a:solidFill>
                <a:schemeClr val="dk1"/>
              </a:solidFill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120" y="885190"/>
            <a:ext cx="103759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TLS（传输层安全协议）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是一种加密通信方式，旨在确保数据在传输过程中的安全性和完整性。TLS保护通信主要分为三个阶段：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120" y="961390"/>
            <a:ext cx="11010265" cy="3929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HTTPS=HTTP+</a:t>
            </a:r>
            <a:r>
              <a: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TLS</a:t>
            </a:r>
            <a:endParaRPr lang="zh-CN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HTTPS的安全性依赖于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数字证书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证书链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的验证机制。客户端在建立HTTPS连接时会执行以下验证：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√  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验证服务器证书是否由可信CA签发</a:t>
            </a:r>
            <a:endParaRPr lang="zh-CN" alt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√  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检查证书链的根CA是否在受信任存储中</a:t>
            </a:r>
            <a:endParaRPr lang="zh-CN" alt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√  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验证证书中的域名与目标服务器一致</a:t>
            </a:r>
            <a:endParaRPr lang="zh-CN" alt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√  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检查证书是否过期或被吊销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3" name="Shape 15"/>
          <p:cNvSpPr/>
          <p:nvPr/>
        </p:nvSpPr>
        <p:spPr>
          <a:xfrm>
            <a:off x="570865" y="5173345"/>
            <a:ext cx="11145520" cy="1098550"/>
          </a:xfrm>
          <a:custGeom>
            <a:avLst/>
            <a:gdLst/>
            <a:ahLst/>
            <a:cxnLst/>
            <a:rect l="l" t="t" r="r" b="b"/>
            <a:pathLst>
              <a:path w="4925786" h="1442357">
                <a:moveTo>
                  <a:pt x="72565" y="0"/>
                </a:moveTo>
                <a:lnTo>
                  <a:pt x="4853221" y="0"/>
                </a:lnTo>
                <a:cubicBezTo>
                  <a:pt x="4893297" y="0"/>
                  <a:pt x="4925786" y="32488"/>
                  <a:pt x="4925786" y="72565"/>
                </a:cubicBezTo>
                <a:lnTo>
                  <a:pt x="4925786" y="1369792"/>
                </a:lnTo>
                <a:cubicBezTo>
                  <a:pt x="4925786" y="1409869"/>
                  <a:pt x="4893297" y="1442357"/>
                  <a:pt x="4853221" y="1442357"/>
                </a:cubicBezTo>
                <a:lnTo>
                  <a:pt x="72565" y="1442357"/>
                </a:lnTo>
                <a:cubicBezTo>
                  <a:pt x="32488" y="1442357"/>
                  <a:pt x="0" y="1409869"/>
                  <a:pt x="0" y="1369792"/>
                </a:cubicBezTo>
                <a:lnTo>
                  <a:pt x="0" y="72565"/>
                </a:lnTo>
                <a:cubicBezTo>
                  <a:pt x="0" y="32488"/>
                  <a:pt x="32488" y="0"/>
                  <a:pt x="72565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F6243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        如果攻击者能够控制客户端设备安装</a:t>
            </a:r>
            <a:r>
              <a:rPr lang="en-US" sz="2000" b="1" dirty="0">
                <a:solidFill>
                  <a:srgbClr val="AF62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 恶意根证书 </a:t>
            </a:r>
            <a:r>
              <a:rPr lang="en-US" sz="2000" dirty="0">
                <a:solidFill>
                  <a:srgbClr val="AF6243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，一旦客户端信任了伪造的根证书，所有由该伪造根证书签发的证书都会被视为“可信”，从而</a:t>
            </a:r>
            <a:r>
              <a:rPr lang="en-US" sz="2000" b="1" dirty="0">
                <a:solidFill>
                  <a:srgbClr val="AF62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 绕过证书验证机制 </a:t>
            </a:r>
            <a:r>
              <a:rPr lang="en-US" sz="2000" dirty="0">
                <a:solidFill>
                  <a:srgbClr val="AF6243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。</a:t>
            </a:r>
            <a:endParaRPr lang="en-US" altLang="en-US" sz="2000" dirty="0">
              <a:solidFill>
                <a:srgbClr val="AF6243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5" name="Shape 16"/>
          <p:cNvSpPr/>
          <p:nvPr/>
        </p:nvSpPr>
        <p:spPr>
          <a:xfrm>
            <a:off x="706120" y="5332095"/>
            <a:ext cx="295910" cy="308610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0"/>
                </a:moveTo>
                <a:cubicBezTo>
                  <a:pt x="95923" y="0"/>
                  <a:pt x="100707" y="2870"/>
                  <a:pt x="103188" y="7441"/>
                </a:cubicBezTo>
                <a:lnTo>
                  <a:pt x="179728" y="149182"/>
                </a:lnTo>
                <a:cubicBezTo>
                  <a:pt x="182102" y="153576"/>
                  <a:pt x="181996" y="158892"/>
                  <a:pt x="179444" y="163179"/>
                </a:cubicBezTo>
                <a:cubicBezTo>
                  <a:pt x="176893" y="167467"/>
                  <a:pt x="172251" y="170089"/>
                  <a:pt x="167254" y="170089"/>
                </a:cubicBezTo>
                <a:lnTo>
                  <a:pt x="14174" y="170089"/>
                </a:lnTo>
                <a:cubicBezTo>
                  <a:pt x="9178" y="170089"/>
                  <a:pt x="4571" y="167467"/>
                  <a:pt x="1984" y="163179"/>
                </a:cubicBezTo>
                <a:cubicBezTo>
                  <a:pt x="-602" y="158892"/>
                  <a:pt x="-673" y="153576"/>
                  <a:pt x="1701" y="149182"/>
                </a:cubicBezTo>
                <a:lnTo>
                  <a:pt x="78241" y="7441"/>
                </a:lnTo>
                <a:cubicBezTo>
                  <a:pt x="80722" y="2870"/>
                  <a:pt x="85505" y="0"/>
                  <a:pt x="90714" y="0"/>
                </a:cubicBezTo>
                <a:close/>
                <a:moveTo>
                  <a:pt x="90714" y="59531"/>
                </a:moveTo>
                <a:cubicBezTo>
                  <a:pt x="86001" y="59531"/>
                  <a:pt x="82210" y="63323"/>
                  <a:pt x="82210" y="68036"/>
                </a:cubicBezTo>
                <a:lnTo>
                  <a:pt x="82210" y="107723"/>
                </a:lnTo>
                <a:cubicBezTo>
                  <a:pt x="82210" y="112436"/>
                  <a:pt x="86001" y="116228"/>
                  <a:pt x="90714" y="116228"/>
                </a:cubicBezTo>
                <a:cubicBezTo>
                  <a:pt x="95427" y="116228"/>
                  <a:pt x="99219" y="112436"/>
                  <a:pt x="99219" y="107723"/>
                </a:cubicBezTo>
                <a:lnTo>
                  <a:pt x="99219" y="68036"/>
                </a:lnTo>
                <a:cubicBezTo>
                  <a:pt x="99219" y="63323"/>
                  <a:pt x="95427" y="59531"/>
                  <a:pt x="90714" y="59531"/>
                </a:cubicBezTo>
                <a:close/>
                <a:moveTo>
                  <a:pt x="100176" y="136071"/>
                </a:moveTo>
                <a:cubicBezTo>
                  <a:pt x="100391" y="132560"/>
                  <a:pt x="98639" y="129218"/>
                  <a:pt x="95629" y="127397"/>
                </a:cubicBezTo>
                <a:cubicBezTo>
                  <a:pt x="92618" y="125576"/>
                  <a:pt x="88846" y="125576"/>
                  <a:pt x="85835" y="127397"/>
                </a:cubicBezTo>
                <a:cubicBezTo>
                  <a:pt x="82825" y="129218"/>
                  <a:pt x="81073" y="132560"/>
                  <a:pt x="81289" y="136071"/>
                </a:cubicBezTo>
                <a:cubicBezTo>
                  <a:pt x="81073" y="139583"/>
                  <a:pt x="82825" y="142925"/>
                  <a:pt x="85835" y="144746"/>
                </a:cubicBezTo>
                <a:cubicBezTo>
                  <a:pt x="88846" y="146567"/>
                  <a:pt x="92618" y="146567"/>
                  <a:pt x="95629" y="144746"/>
                </a:cubicBezTo>
                <a:cubicBezTo>
                  <a:pt x="98639" y="142925"/>
                  <a:pt x="100391" y="139583"/>
                  <a:pt x="100176" y="136071"/>
                </a:cubicBezTo>
                <a:close/>
              </a:path>
            </a:pathLst>
          </a:custGeom>
          <a:solidFill>
            <a:srgbClr val="9B7BFF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基础知识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18435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对HTTPS的中间人攻击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流程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8" name="Shape 23"/>
          <p:cNvSpPr/>
          <p:nvPr>
            <p:custDataLst>
              <p:tags r:id="rId1"/>
            </p:custDataLst>
          </p:nvPr>
        </p:nvSpPr>
        <p:spPr>
          <a:xfrm>
            <a:off x="1509395" y="1120140"/>
            <a:ext cx="8514715" cy="728980"/>
          </a:xfrm>
          <a:custGeom>
            <a:avLst/>
            <a:gdLst/>
            <a:ahLst/>
            <a:cxnLst/>
            <a:rect l="l" t="t" r="r" b="b"/>
            <a:pathLst>
              <a:path w="5542643" h="653143">
                <a:moveTo>
                  <a:pt x="18143" y="0"/>
                </a:moveTo>
                <a:lnTo>
                  <a:pt x="5506354" y="0"/>
                </a:lnTo>
                <a:cubicBezTo>
                  <a:pt x="5526396" y="0"/>
                  <a:pt x="5542643" y="16247"/>
                  <a:pt x="5542643" y="36289"/>
                </a:cubicBezTo>
                <a:lnTo>
                  <a:pt x="5542643" y="616854"/>
                </a:lnTo>
                <a:cubicBezTo>
                  <a:pt x="5542643" y="636896"/>
                  <a:pt x="5526396" y="653143"/>
                  <a:pt x="5506354" y="653143"/>
                </a:cubicBezTo>
                <a:lnTo>
                  <a:pt x="18143" y="653143"/>
                </a:lnTo>
                <a:cubicBezTo>
                  <a:pt x="8123" y="653143"/>
                  <a:pt x="0" y="645020"/>
                  <a:pt x="0" y="635000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客户端发起</a:t>
            </a:r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</a:t>
            </a: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请求</a:t>
            </a:r>
            <a:endParaRPr lang="zh-CN" altLang="en-US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客户端尝试访问目标服务器，发送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连接请求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Shape 21"/>
          <p:cNvSpPr/>
          <p:nvPr>
            <p:custDataLst>
              <p:tags r:id="rId2"/>
            </p:custDataLst>
          </p:nvPr>
        </p:nvSpPr>
        <p:spPr>
          <a:xfrm>
            <a:off x="694055" y="120840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r>
              <a:rPr lang="en-US" altLang="zh-C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23"/>
          <p:cNvSpPr/>
          <p:nvPr>
            <p:custDataLst>
              <p:tags r:id="rId3"/>
            </p:custDataLst>
          </p:nvPr>
        </p:nvSpPr>
        <p:spPr>
          <a:xfrm>
            <a:off x="1509395" y="2196465"/>
            <a:ext cx="8514715" cy="728980"/>
          </a:xfrm>
          <a:custGeom>
            <a:avLst/>
            <a:gdLst/>
            <a:ahLst/>
            <a:cxnLst/>
            <a:rect l="l" t="t" r="r" b="b"/>
            <a:pathLst>
              <a:path w="5542643" h="653143">
                <a:moveTo>
                  <a:pt x="18143" y="0"/>
                </a:moveTo>
                <a:lnTo>
                  <a:pt x="5506354" y="0"/>
                </a:lnTo>
                <a:cubicBezTo>
                  <a:pt x="5526396" y="0"/>
                  <a:pt x="5542643" y="16247"/>
                  <a:pt x="5542643" y="36289"/>
                </a:cubicBezTo>
                <a:lnTo>
                  <a:pt x="5542643" y="616854"/>
                </a:lnTo>
                <a:cubicBezTo>
                  <a:pt x="5542643" y="636896"/>
                  <a:pt x="5526396" y="653143"/>
                  <a:pt x="5506354" y="653143"/>
                </a:cubicBezTo>
                <a:lnTo>
                  <a:pt x="18143" y="653143"/>
                </a:lnTo>
                <a:cubicBezTo>
                  <a:pt x="8123" y="653143"/>
                  <a:pt x="0" y="645020"/>
                  <a:pt x="0" y="635000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攻击者拦截请求</a:t>
            </a:r>
            <a:endParaRPr lang="zh-CN" altLang="en-US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攻击者在网络中拦截客户端请求，向客户端提供伪造的服务器证书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Shape 21"/>
          <p:cNvSpPr/>
          <p:nvPr>
            <p:custDataLst>
              <p:tags r:id="rId4"/>
            </p:custDataLst>
          </p:nvPr>
        </p:nvSpPr>
        <p:spPr>
          <a:xfrm>
            <a:off x="694055" y="228473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r>
              <a:rPr lang="en-US" altLang="zh-C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5"/>
            </p:custDataLst>
          </p:nvPr>
        </p:nvCxnSpPr>
        <p:spPr>
          <a:xfrm>
            <a:off x="5766435" y="1849120"/>
            <a:ext cx="0" cy="330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6"/>
            </p:custDataLst>
          </p:nvPr>
        </p:nvCxnSpPr>
        <p:spPr>
          <a:xfrm>
            <a:off x="5766435" y="2925445"/>
            <a:ext cx="0" cy="330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Shape 23"/>
          <p:cNvSpPr/>
          <p:nvPr>
            <p:custDataLst>
              <p:tags r:id="rId7"/>
            </p:custDataLst>
          </p:nvPr>
        </p:nvSpPr>
        <p:spPr>
          <a:xfrm>
            <a:off x="1509395" y="3272790"/>
            <a:ext cx="8514715" cy="728980"/>
          </a:xfrm>
          <a:custGeom>
            <a:avLst/>
            <a:gdLst/>
            <a:ahLst/>
            <a:cxnLst/>
            <a:rect l="l" t="t" r="r" b="b"/>
            <a:pathLst>
              <a:path w="5542643" h="653143">
                <a:moveTo>
                  <a:pt x="18143" y="0"/>
                </a:moveTo>
                <a:lnTo>
                  <a:pt x="5506354" y="0"/>
                </a:lnTo>
                <a:cubicBezTo>
                  <a:pt x="5526396" y="0"/>
                  <a:pt x="5542643" y="16247"/>
                  <a:pt x="5542643" y="36289"/>
                </a:cubicBezTo>
                <a:lnTo>
                  <a:pt x="5542643" y="616854"/>
                </a:lnTo>
                <a:cubicBezTo>
                  <a:pt x="5542643" y="636896"/>
                  <a:pt x="5526396" y="653143"/>
                  <a:pt x="5506354" y="653143"/>
                </a:cubicBezTo>
                <a:lnTo>
                  <a:pt x="18143" y="653143"/>
                </a:lnTo>
                <a:cubicBezTo>
                  <a:pt x="8123" y="653143"/>
                  <a:pt x="0" y="645020"/>
                  <a:pt x="0" y="635000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客户端验证证书</a:t>
            </a:r>
            <a:endParaRPr lang="zh-CN" altLang="en-US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伪造证书由已安装的伪造根证书签发，客户端认为证书可信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Shape 21"/>
          <p:cNvSpPr/>
          <p:nvPr>
            <p:custDataLst>
              <p:tags r:id="rId8"/>
            </p:custDataLst>
          </p:nvPr>
        </p:nvSpPr>
        <p:spPr>
          <a:xfrm>
            <a:off x="694055" y="336105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r>
              <a:rPr lang="en-US" altLang="zh-C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/>
          <p:nvPr>
            <p:custDataLst>
              <p:tags r:id="rId9"/>
            </p:custDataLst>
          </p:nvPr>
        </p:nvCxnSpPr>
        <p:spPr>
          <a:xfrm>
            <a:off x="5766435" y="4001770"/>
            <a:ext cx="0" cy="330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Shape 23"/>
          <p:cNvSpPr/>
          <p:nvPr>
            <p:custDataLst>
              <p:tags r:id="rId10"/>
            </p:custDataLst>
          </p:nvPr>
        </p:nvSpPr>
        <p:spPr>
          <a:xfrm>
            <a:off x="1509395" y="4331970"/>
            <a:ext cx="8514715" cy="728980"/>
          </a:xfrm>
          <a:custGeom>
            <a:avLst/>
            <a:gdLst/>
            <a:ahLst/>
            <a:cxnLst/>
            <a:rect l="l" t="t" r="r" b="b"/>
            <a:pathLst>
              <a:path w="5542643" h="653143">
                <a:moveTo>
                  <a:pt x="18143" y="0"/>
                </a:moveTo>
                <a:lnTo>
                  <a:pt x="5506354" y="0"/>
                </a:lnTo>
                <a:cubicBezTo>
                  <a:pt x="5526396" y="0"/>
                  <a:pt x="5542643" y="16247"/>
                  <a:pt x="5542643" y="36289"/>
                </a:cubicBezTo>
                <a:lnTo>
                  <a:pt x="5542643" y="616854"/>
                </a:lnTo>
                <a:cubicBezTo>
                  <a:pt x="5542643" y="636896"/>
                  <a:pt x="5526396" y="653143"/>
                  <a:pt x="5506354" y="653143"/>
                </a:cubicBezTo>
                <a:lnTo>
                  <a:pt x="18143" y="653143"/>
                </a:lnTo>
                <a:cubicBezTo>
                  <a:pt x="8123" y="653143"/>
                  <a:pt x="0" y="645020"/>
                  <a:pt x="0" y="635000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建立加密通信</a:t>
            </a:r>
            <a:endParaRPr lang="zh-CN" altLang="en-US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客户端与攻击者建立加密通信，攻击者解密请求并转发到真实服务器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0" name="Shape 21"/>
          <p:cNvSpPr/>
          <p:nvPr>
            <p:custDataLst>
              <p:tags r:id="rId11"/>
            </p:custDataLst>
          </p:nvPr>
        </p:nvSpPr>
        <p:spPr>
          <a:xfrm>
            <a:off x="694055" y="442023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r>
              <a:rPr lang="en-US" altLang="zh-C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/>
          <p:cNvCxnSpPr/>
          <p:nvPr>
            <p:custDataLst>
              <p:tags r:id="rId12"/>
            </p:custDataLst>
          </p:nvPr>
        </p:nvCxnSpPr>
        <p:spPr>
          <a:xfrm>
            <a:off x="5766435" y="5060950"/>
            <a:ext cx="0" cy="330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Shape 23"/>
          <p:cNvSpPr/>
          <p:nvPr>
            <p:custDataLst>
              <p:tags r:id="rId13"/>
            </p:custDataLst>
          </p:nvPr>
        </p:nvSpPr>
        <p:spPr>
          <a:xfrm>
            <a:off x="1509395" y="5391150"/>
            <a:ext cx="8514715" cy="728980"/>
          </a:xfrm>
          <a:custGeom>
            <a:avLst/>
            <a:gdLst/>
            <a:ahLst/>
            <a:cxnLst/>
            <a:rect l="l" t="t" r="r" b="b"/>
            <a:pathLst>
              <a:path w="5542643" h="653143">
                <a:moveTo>
                  <a:pt x="18143" y="0"/>
                </a:moveTo>
                <a:lnTo>
                  <a:pt x="5506354" y="0"/>
                </a:lnTo>
                <a:cubicBezTo>
                  <a:pt x="5526396" y="0"/>
                  <a:pt x="5542643" y="16247"/>
                  <a:pt x="5542643" y="36289"/>
                </a:cubicBezTo>
                <a:lnTo>
                  <a:pt x="5542643" y="616854"/>
                </a:lnTo>
                <a:cubicBezTo>
                  <a:pt x="5542643" y="636896"/>
                  <a:pt x="5526396" y="653143"/>
                  <a:pt x="5506354" y="653143"/>
                </a:cubicBezTo>
                <a:lnTo>
                  <a:pt x="18143" y="653143"/>
                </a:lnTo>
                <a:cubicBezTo>
                  <a:pt x="8123" y="653143"/>
                  <a:pt x="0" y="645020"/>
                  <a:pt x="0" y="635000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ln w="190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数据篡改与转发</a:t>
            </a:r>
            <a:endParaRPr lang="zh-CN" altLang="en-US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攻击者窃取或篡改通信内容，重新加密后发送给客户端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Shape 21"/>
          <p:cNvSpPr/>
          <p:nvPr>
            <p:custDataLst>
              <p:tags r:id="rId14"/>
            </p:custDataLst>
          </p:nvPr>
        </p:nvSpPr>
        <p:spPr>
          <a:xfrm>
            <a:off x="694055" y="547941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/>
          <a:p>
            <a:pPr algn="ctr"/>
            <a:r>
              <a:rPr lang="en-US" altLang="zh-C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521335" y="593725"/>
            <a:ext cx="11243945" cy="673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5000"/>
              </a:lnSpc>
              <a:defRPr/>
            </a:pPr>
            <a:r>
              <a:rPr lang="en-US" altLang="zh-CN" sz="24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01</a:t>
            </a:r>
            <a:r>
              <a:rPr lang="en-US" altLang="zh-CN" sz="2400" b="1" i="0" u="none" strike="noStrik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  </a:t>
            </a:r>
            <a:r>
              <a:rPr lang="zh-CN" altLang="en-US" sz="2400" b="1" i="0" u="none" strike="noStrike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准备环境</a:t>
            </a:r>
            <a:endParaRPr lang="zh-CN" altLang="en-US" sz="2400" b="1" i="0" u="none" strike="noStrike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准备一台配有无线网卡的电脑，安装Burp Suite</a:t>
            </a:r>
            <a:endParaRPr lang="zh-CN" altLang="en-US" sz="2400" b="0" i="0" u="none" strike="noStrike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Noto Sans SC" panose="020B0200000000000000" charset="-122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准备一部安卓手机/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平板电脑</a:t>
            </a:r>
            <a:r>
              <a:rPr lang="zh-CN" alt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作为被攻击设备</a:t>
            </a:r>
            <a:endParaRPr lang="zh-CN" altLang="en-US" sz="2400" b="0" i="0" u="none" strike="noStrike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Noto Sans SC" panose="020B0200000000000000" charset="-122"/>
            </a:endParaRPr>
          </a:p>
          <a:p>
            <a:pPr algn="l">
              <a:lnSpc>
                <a:spcPct val="145000"/>
              </a:lnSpc>
              <a:buClrTx/>
              <a:buSzTx/>
              <a:buFontTx/>
              <a:defRPr/>
            </a:pPr>
            <a:r>
              <a:rPr lang="en-US" altLang="zh-CN" sz="2400" b="1" i="0" u="none" strike="noStrike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02  </a:t>
            </a:r>
            <a:r>
              <a:rPr lang="zh-CN" altLang="en-US" sz="2400" b="1" i="0" u="none" strike="noStrike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实验内容</a:t>
            </a:r>
            <a:endParaRPr lang="en-US" altLang="zh-CN" sz="2400" b="1" i="0" u="none" strike="noStrike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利用自己的电脑搭建热点，使用Burp Suite对手机/平板电脑访问的任意HTTPS网页进行拦截并篡改响应内容，观察攻击效果。详细流程见实验指导视频。（手机需要打开开发者模式，根据不同型号在互联网上搜索对应型号安装用户证书的教程）</a:t>
            </a:r>
            <a:endParaRPr lang="zh-CN" altLang="en-US" sz="2400" b="0" i="0" u="none" strike="noStrike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Noto Sans SC" panose="020B0200000000000000" charset="-122"/>
            </a:endParaRPr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Noto Sans SC" panose="020B0200000000000000" charset="-122"/>
              </a:rPr>
              <a:t>尝试对除浏览器外的任一APP的流量进行拦截篡改。如果失败，尝试分析原因；如果成功，简述实验过程。</a:t>
            </a:r>
            <a:endParaRPr lang="zh-CN" altLang="en-US" sz="2400" b="0" i="0" u="none" strike="noStrike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Noto Sans SC" panose="020B0200000000000000" charset="-122"/>
            </a:endParaRPr>
          </a:p>
          <a:p>
            <a:pPr marL="342900" indent="-342900" algn="l">
              <a:lnSpc>
                <a:spcPct val="175000"/>
              </a:lnSpc>
              <a:buFont typeface="Arial" panose="020B0604020202020204" pitchFamily="34" charset="0"/>
              <a:buChar char="•"/>
              <a:defRPr/>
            </a:pPr>
            <a:endParaRPr lang="zh-CN" altLang="en-US" sz="2400" b="0" i="0" u="none" strike="noStrike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383" y="784945"/>
            <a:ext cx="9721031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实验时间：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2周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报告内容：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+mn-ea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（1）完整的实验流程（截图）；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（2）实验关键步骤解析；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（3）实验心得体会。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提交</a:t>
            </a:r>
            <a:r>
              <a:rPr lang="zh-CN" altLang="en-US" sz="2800" b="1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方式：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智慧课堂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FOLLOW_SHAPE_UNIT_TAG" val="1_1_1*l_h_y*"/>
  <p:tag name="KSO_WM_NEWLAYOUT_GROUP_ID" val="21"/>
  <p:tag name="KSO_WM_NEWLAYOUT_ID" val="lay_5b76c792fb9c5cf8bb89d841985a2b4d16701b1c"/>
  <p:tag name="KSO_WM_SLIDE_FIGMA_DIAGRAM" val="1"/>
  <p:tag name="KSO_WM_UNIT_INDEX" val="1_1_1"/>
  <p:tag name="KSO_WM_UNIT_TYPE" val="l_h_i"/>
  <p:tag name="KSO_WM_CARDGROUP_LAYOUT_DATA" val="{&quot;cardRct&quot;:[960,3299.535,5440,6540.465],&quot;lytRct&quot;:[960,3299,17280,6541],&quot;rct&quot;:[960,3319,17280,6500],&quot;spRct&quot;:[0,20,79,6519]}"/>
</p:tagLst>
</file>

<file path=ppt/tags/tag2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960,3299.535,5440,6540.465],&quot;lytRct&quot;:[960,3299,17280,6541],&quot;rct&quot;:[960,3319,17280,6500],&quot;spRct&quot;:[320,20,5439,579]}"/>
</p:tagLst>
</file>

<file path=ppt/tags/tag3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1_1"/>
  <p:tag name="KSO_WM_UNIT_PRESET_TEXT" val="请在此输入您的文本。"/>
  <p:tag name="KSO_WM_UNIT_TYPE" val="l_h_f"/>
  <p:tag name="KSO_WM_CARDGROUP_LAYOUT_DATA" val="{&quot;cardRct&quot;:[960,3299.535,5440,6540.465],&quot;lytRct&quot;:[960,3299,17280,6541],&quot;rct&quot;:[960,3319,17280,6500],&quot;spRct&quot;:[320,660,5439,6519]}"/>
</p:tagLst>
</file>

<file path=ppt/tags/tag4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FOLLOW_SHAPE_UNIT_TAG" val="1_2_1*l_h_y*"/>
  <p:tag name="KSO_WM_NEWLAYOUT_GROUP_ID" val="21"/>
  <p:tag name="KSO_WM_NEWLAYOUT_ID" val="lay_5b76c792fb9c5cf8bb89d841985a2b4d16701b1c"/>
  <p:tag name="KSO_WM_SLIDE_FIGMA_DIAGRAM" val="1"/>
  <p:tag name="KSO_WM_UNIT_INDEX" val="1_2_1"/>
  <p:tag name="KSO_WM_UNIT_TYPE" val="l_h_i"/>
  <p:tag name="KSO_WM_CARDGROUP_LAYOUT_DATA" val="{&quot;cardRct&quot;:[6880,3299.535,5440,6540.465],&quot;lytRct&quot;:[960,3299,17280,6541],&quot;rct&quot;:[960,3319,17280,6500],&quot;spRct&quot;:[5920,20,5999,6519]}"/>
</p:tagLst>
</file>

<file path=ppt/tags/tag5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2_1"/>
  <p:tag name="KSO_WM_UNIT_PRESET_TEXT" val="请在此输入您的标题"/>
  <p:tag name="KSO_WM_UNIT_TYPE" val="l_h_a"/>
  <p:tag name="KSO_WM_CARDGROUP_LAYOUT_DATA" val="{&quot;cardRct&quot;:[6880,3299.535,5440,6540.465],&quot;lytRct&quot;:[960,3299,17280,6541],&quot;rct&quot;:[960,3319,17280,6500],&quot;spRct&quot;:[6240,20,11359,579]}"/>
</p:tagLst>
</file>

<file path=ppt/tags/tag6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2_1"/>
  <p:tag name="KSO_WM_UNIT_PRESET_TEXT" val="请在此输入您的文本。"/>
  <p:tag name="KSO_WM_UNIT_TYPE" val="l_h_f"/>
  <p:tag name="KSO_WM_CARDGROUP_LAYOUT_DATA" val="{&quot;cardRct&quot;:[6880,3299.535,5440,6540.465],&quot;lytRct&quot;:[960,3299,17280,6541],&quot;rct&quot;:[960,3319,17280,6500],&quot;spRct&quot;:[6240,660,11359,6519]}"/>
</p:tagLst>
</file>

<file path=ppt/tags/tag7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FOLLOW_SHAPE_UNIT_TAG" val="1_3_1*l_h_y*"/>
  <p:tag name="KSO_WM_NEWLAYOUT_GROUP_ID" val="21"/>
  <p:tag name="KSO_WM_NEWLAYOUT_ID" val="lay_5b76c792fb9c5cf8bb89d841985a2b4d16701b1c"/>
  <p:tag name="KSO_WM_SLIDE_FIGMA_DIAGRAM" val="1"/>
  <p:tag name="KSO_WM_UNIT_INDEX" val="1_3_1"/>
  <p:tag name="KSO_WM_UNIT_TYPE" val="l_h_i"/>
  <p:tag name="KSO_WM_CARDGROUP_LAYOUT_DATA" val="{&quot;cardRct&quot;:[12800,3299.535,5440,6540.465],&quot;lytRct&quot;:[960,3299,17280,6541],&quot;rct&quot;:[960,3319,17280,6500],&quot;spRct&quot;:[11840,20,11919,6519]}"/>
</p:tagLst>
</file>

<file path=ppt/tags/tag8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3_1"/>
  <p:tag name="KSO_WM_UNIT_PRESET_TEXT" val="请在此输入您的标题"/>
  <p:tag name="KSO_WM_UNIT_TYPE" val="l_h_a"/>
  <p:tag name="KSO_WM_CARDGROUP_LAYOUT_DATA" val="{&quot;cardRct&quot;:[12800,3299.535,5440,6540.465],&quot;lytRct&quot;:[960,3299,17280,6541],&quot;rct&quot;:[960,3319,17280,6500],&quot;spRct&quot;:[12160,20,17279,579]}"/>
</p:tagLst>
</file>

<file path=ppt/tags/tag9.xml><?xml version="1.0" encoding="utf-8"?>
<p:tagLst xmlns:p="http://schemas.openxmlformats.org/presentationml/2006/main">
  <p:tag name="KSO_WM_AILAYOUT_OPTION" val="0_0_1_0"/>
  <p:tag name="KSO_WM_BEAUTIFY_FLAG" val="#wm#"/>
  <p:tag name="KSO_WM_CARDGOUR_SOURCE_FROM" val="aipagebeautify"/>
  <p:tag name="KSO_WM_CARDGROUP_FEATURE" val="2*1*10*1*1"/>
  <p:tag name="KSO_WM_CARDGROUP_ID" val="060f8f5430464a4aa06d84f74e271155"/>
  <p:tag name="KSO_WM_CARDGROUP_STYLE_INFO" val="C1_sc_p2*lined*0"/>
  <p:tag name="KSO_WM_FIGMA_FLAG" val="#fgm#"/>
  <p:tag name="KSO_WM_NEWLAYOUT_GROUP_ID" val="21"/>
  <p:tag name="KSO_WM_NEWLAYOUT_ID" val="lay_5b76c792fb9c5cf8bb89d841985a2b4d16701b1c"/>
  <p:tag name="KSO_WM_SLIDE_FIGMA_DIAGRAM" val="1"/>
  <p:tag name="KSO_WM_UNIT_INDEX" val="1_3_1"/>
  <p:tag name="KSO_WM_UNIT_PRESET_TEXT" val="请在此输入您的文本。"/>
  <p:tag name="KSO_WM_UNIT_TYPE" val="l_h_f"/>
  <p:tag name="KSO_WM_CARDGROUP_LAYOUT_DATA" val="{&quot;cardRct&quot;:[12800,3299.535,5440,6540.465],&quot;lytRct&quot;:[960,3299,17280,6541],&quot;rct&quot;:[960,3319,17280,6500],&quot;spRct&quot;:[12160,660,17279,6519]}"/>
</p:tagLst>
</file>

<file path=ppt/tags/tag10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1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2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3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4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5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6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7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8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19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20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21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22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23.xml><?xml version="1.0" encoding="utf-8"?>
<p:tagLst xmlns:p="http://schemas.openxmlformats.org/presentationml/2006/main">
  <p:tag name="KSO_WM_DIAGRAM_VIRTUALLY_FRAME" val="{&quot;height&quot;:393.7,&quot;left&quot;:54.65,&quot;top&quot;:88.2,&quot;width&quot;:734.65}"/>
</p:tagLst>
</file>

<file path=ppt/tags/tag24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5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WPS 演示</Application>
  <PresentationFormat>宽屏</PresentationFormat>
  <Paragraphs>113</Paragraphs>
  <Slides>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5" baseType="lpstr">
      <vt:lpstr>Arial</vt:lpstr>
      <vt:lpstr>宋体</vt:lpstr>
      <vt:lpstr>Wingdings</vt:lpstr>
      <vt:lpstr>方正姚体</vt:lpstr>
      <vt:lpstr>微软雅黑</vt:lpstr>
      <vt:lpstr>OPPOSans B</vt:lpstr>
      <vt:lpstr>MiSans</vt:lpstr>
      <vt:lpstr>MiSans</vt:lpstr>
      <vt:lpstr>微软雅黑</vt:lpstr>
      <vt:lpstr>Cambria Math</vt:lpstr>
      <vt:lpstr>Noto Sans SC</vt:lpstr>
      <vt:lpstr>等线</vt:lpstr>
      <vt:lpstr>Times New Roman</vt:lpstr>
      <vt:lpstr>Helvetica</vt:lpstr>
      <vt:lpstr>Calibri</vt:lpstr>
      <vt:lpstr>Arial Unicode MS</vt:lpstr>
      <vt:lpstr>MiSans Semibold</vt:lpstr>
      <vt:lpstr>Noto Sans SC</vt:lpstr>
      <vt:lpstr>MiSans</vt:lpstr>
      <vt:lpstr>OPPOSans B</vt:lpstr>
      <vt:lpstr>Segoe Print</vt:lpstr>
      <vt:lpstr>黑体</vt:lpstr>
      <vt:lpstr>Hedvig Letters Sans</vt:lpstr>
      <vt:lpstr>Hedvig Letters Sans</vt:lpstr>
      <vt:lpstr>Hedvig Letters Sans</vt:lpstr>
      <vt:lpstr>MingLiU-ExtB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邓邓邓邓</cp:lastModifiedBy>
  <cp:revision>17</cp:revision>
  <dcterms:created xsi:type="dcterms:W3CDTF">2025-02-15T09:33:00Z</dcterms:created>
  <dcterms:modified xsi:type="dcterms:W3CDTF">2026-04-11T08:36:07Z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C84335BEE6724184ADCD389D13407674_12</vt:lpwstr>
  </property>
</Properties>
</file>