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"/>
  </p:notesMasterIdLst>
  <p:sldIdLst>
    <p:sldId id="256" r:id="rId3"/>
    <p:sldId id="281" r:id="rId5"/>
    <p:sldId id="344" r:id="rId6"/>
    <p:sldId id="362" r:id="rId7"/>
    <p:sldId id="363" r:id="rId8"/>
    <p:sldId id="347" r:id="rId9"/>
    <p:sldId id="364" r:id="rId10"/>
    <p:sldId id="365" r:id="rId11"/>
    <p:sldId id="366" r:id="rId12"/>
    <p:sldId id="367" r:id="rId13"/>
    <p:sldId id="369" r:id="rId14"/>
    <p:sldId id="368" r:id="rId15"/>
    <p:sldId id="370" r:id="rId16"/>
    <p:sldId id="371" r:id="rId17"/>
    <p:sldId id="372" r:id="rId18"/>
    <p:sldId id="352" r:id="rId19"/>
    <p:sldId id="373" r:id="rId20"/>
    <p:sldId id="321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45" userDrawn="1">
          <p15:clr>
            <a:srgbClr val="A4A3A4"/>
          </p15:clr>
        </p15:guide>
        <p15:guide id="2" pos="7206" userDrawn="1">
          <p15:clr>
            <a:srgbClr val="A4A3A4"/>
          </p15:clr>
        </p15:guide>
        <p15:guide id="4" orient="horz" pos="674" userDrawn="1">
          <p15:clr>
            <a:srgbClr val="A4A3A4"/>
          </p15:clr>
        </p15:guide>
        <p15:guide id="6" orient="horz" pos="390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6243"/>
    <a:srgbClr val="963A89"/>
    <a:srgbClr val="BA75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08" autoAdjust="0"/>
    <p:restoredTop sz="87267" autoAdjust="0"/>
  </p:normalViewPr>
  <p:slideViewPr>
    <p:cSldViewPr snapToGrid="0" showGuides="1">
      <p:cViewPr varScale="1">
        <p:scale>
          <a:sx n="99" d="100"/>
          <a:sy n="99" d="100"/>
        </p:scale>
        <p:origin x="462" y="468"/>
      </p:cViewPr>
      <p:guideLst>
        <p:guide pos="445"/>
        <p:guide pos="7206"/>
        <p:guide orient="horz" pos="674"/>
        <p:guide orient="horz" pos="39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8D346C-DBD4-4BA1-8637-CDB6350037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40000"/>
              </a:lnSpc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40000"/>
              </a:lnSpc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40000"/>
              </a:lnSpc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dirty="0"/>
              <a:t>它让正在运行的线程"感知"到刚刚安装的 </a:t>
            </a:r>
            <a:r>
              <a:rPr lang="en-US" altLang="zh-CN" dirty="0"/>
              <a:t>Hook，</a:t>
            </a:r>
            <a:r>
              <a:rPr lang="zh-CN" altLang="en-US" dirty="0"/>
              <a:t>避免线程因为已经进入了旧函数体而跳过 </a:t>
            </a:r>
            <a:r>
              <a:rPr lang="en-US" altLang="zh-CN" dirty="0"/>
              <a:t>Hook。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dirty="0"/>
              <a:t>它让正在运行的线程"感知"到刚刚安装的 </a:t>
            </a:r>
            <a:r>
              <a:rPr lang="en-US" altLang="zh-CN" dirty="0"/>
              <a:t>Hook，</a:t>
            </a:r>
            <a:r>
              <a:rPr lang="zh-CN" altLang="en-US" dirty="0"/>
              <a:t>避免线程因为已经进入了旧函数体而跳过 </a:t>
            </a:r>
            <a:r>
              <a:rPr lang="en-US" altLang="zh-CN" dirty="0"/>
              <a:t>Hook。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dirty="0"/>
              <a:t>它让正在运行的线程"感知"到刚刚安装的 </a:t>
            </a:r>
            <a:r>
              <a:rPr lang="en-US" altLang="zh-CN" dirty="0"/>
              <a:t>Hook，</a:t>
            </a:r>
            <a:r>
              <a:rPr lang="zh-CN" altLang="en-US" dirty="0"/>
              <a:t>避免线程因为已经进入了旧函数体而跳过 </a:t>
            </a:r>
            <a:r>
              <a:rPr lang="en-US" altLang="zh-CN" dirty="0"/>
              <a:t>Hook。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8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8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80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B303E-9509-43EB-82BC-E8081B9B319F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2644281" y="-127000"/>
            <a:ext cx="6863362" cy="6858000"/>
          </a:xfrm>
          <a:custGeom>
            <a:avLst/>
            <a:gdLst>
              <a:gd name="connsiteX0" fmla="*/ 0 w 6863362"/>
              <a:gd name="connsiteY0" fmla="*/ 0 h 6858000"/>
              <a:gd name="connsiteX1" fmla="*/ 6863362 w 6863362"/>
              <a:gd name="connsiteY1" fmla="*/ 0 h 6858000"/>
              <a:gd name="connsiteX2" fmla="*/ 6863362 w 6863362"/>
              <a:gd name="connsiteY2" fmla="*/ 6858000 h 6858000"/>
              <a:gd name="connsiteX3" fmla="*/ 2644281 w 6863362"/>
              <a:gd name="connsiteY3" fmla="*/ 6858000 h 6858000"/>
              <a:gd name="connsiteX4" fmla="*/ 2644281 w 6863362"/>
              <a:gd name="connsiteY4" fmla="*/ 127000 h 6858000"/>
              <a:gd name="connsiteX5" fmla="*/ 0 w 6863362"/>
              <a:gd name="connsiteY5" fmla="*/ 127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3362" h="6858000">
                <a:moveTo>
                  <a:pt x="0" y="0"/>
                </a:moveTo>
                <a:lnTo>
                  <a:pt x="6863362" y="0"/>
                </a:lnTo>
                <a:lnTo>
                  <a:pt x="6863362" y="6858000"/>
                </a:lnTo>
                <a:lnTo>
                  <a:pt x="2644281" y="6858000"/>
                </a:lnTo>
                <a:lnTo>
                  <a:pt x="2644281" y="127000"/>
                </a:lnTo>
                <a:lnTo>
                  <a:pt x="0" y="127000"/>
                </a:lnTo>
                <a:close/>
              </a:path>
            </a:pathLst>
          </a:custGeom>
        </p:spPr>
      </p:pic>
      <p:sp>
        <p:nvSpPr>
          <p:cNvPr id="22" name="任意多边形: 形状 21"/>
          <p:cNvSpPr/>
          <p:nvPr userDrawn="1"/>
        </p:nvSpPr>
        <p:spPr>
          <a:xfrm>
            <a:off x="0" y="0"/>
            <a:ext cx="4203700" cy="6858000"/>
          </a:xfrm>
          <a:custGeom>
            <a:avLst/>
            <a:gdLst>
              <a:gd name="connsiteX0" fmla="*/ 0 w 4255840"/>
              <a:gd name="connsiteY0" fmla="*/ 0 h 6858000"/>
              <a:gd name="connsiteX1" fmla="*/ 4255840 w 4255840"/>
              <a:gd name="connsiteY1" fmla="*/ 0 h 6858000"/>
              <a:gd name="connsiteX2" fmla="*/ 4255840 w 4255840"/>
              <a:gd name="connsiteY2" fmla="*/ 6858000 h 6858000"/>
              <a:gd name="connsiteX3" fmla="*/ 0 w 425584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5840" h="6858000">
                <a:moveTo>
                  <a:pt x="0" y="0"/>
                </a:moveTo>
                <a:lnTo>
                  <a:pt x="4255840" y="0"/>
                </a:lnTo>
                <a:lnTo>
                  <a:pt x="425584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7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rcRect l="16120" r="9557"/>
          <a:stretch>
            <a:fillRect/>
          </a:stretch>
        </p:blipFill>
        <p:spPr>
          <a:xfrm>
            <a:off x="0" y="2051499"/>
            <a:ext cx="12192000" cy="4304851"/>
          </a:xfrm>
          <a:custGeom>
            <a:avLst/>
            <a:gdLst>
              <a:gd name="connsiteX0" fmla="*/ 0 w 12192000"/>
              <a:gd name="connsiteY0" fmla="*/ 0 h 4304851"/>
              <a:gd name="connsiteX1" fmla="*/ 12192000 w 12192000"/>
              <a:gd name="connsiteY1" fmla="*/ 0 h 4304851"/>
              <a:gd name="connsiteX2" fmla="*/ 12192000 w 12192000"/>
              <a:gd name="connsiteY2" fmla="*/ 4304851 h 4304851"/>
              <a:gd name="connsiteX3" fmla="*/ 0 w 12192000"/>
              <a:gd name="connsiteY3" fmla="*/ 4304851 h 4304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04851">
                <a:moveTo>
                  <a:pt x="0" y="0"/>
                </a:moveTo>
                <a:lnTo>
                  <a:pt x="12192000" y="0"/>
                </a:lnTo>
                <a:lnTo>
                  <a:pt x="12192000" y="4304851"/>
                </a:lnTo>
                <a:lnTo>
                  <a:pt x="0" y="4304851"/>
                </a:lnTo>
                <a:close/>
              </a:path>
            </a:pathLst>
          </a:cu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4" name="椭圆 13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0B164-2FFE-4AE3-99C1-50E603FC7A8B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/>
          <p:nvPr userDrawn="1"/>
        </p:nvSpPr>
        <p:spPr>
          <a:xfrm>
            <a:off x="0" y="1949450"/>
            <a:ext cx="12192000" cy="2959100"/>
          </a:xfrm>
          <a:custGeom>
            <a:avLst/>
            <a:gdLst>
              <a:gd name="connsiteX0" fmla="*/ 11512367 w 12192000"/>
              <a:gd name="connsiteY0" fmla="*/ 0 h 2959100"/>
              <a:gd name="connsiteX1" fmla="*/ 12192000 w 12192000"/>
              <a:gd name="connsiteY1" fmla="*/ 0 h 2959100"/>
              <a:gd name="connsiteX2" fmla="*/ 12192000 w 12192000"/>
              <a:gd name="connsiteY2" fmla="*/ 2959100 h 2959100"/>
              <a:gd name="connsiteX3" fmla="*/ 10694916 w 12192000"/>
              <a:gd name="connsiteY3" fmla="*/ 2959100 h 2959100"/>
              <a:gd name="connsiteX4" fmla="*/ 0 w 12192000"/>
              <a:gd name="connsiteY4" fmla="*/ 0 h 2959100"/>
              <a:gd name="connsiteX5" fmla="*/ 4632159 w 12192000"/>
              <a:gd name="connsiteY5" fmla="*/ 0 h 2959100"/>
              <a:gd name="connsiteX6" fmla="*/ 3814707 w 12192000"/>
              <a:gd name="connsiteY6" fmla="*/ 2959100 h 2959100"/>
              <a:gd name="connsiteX7" fmla="*/ 0 w 12192000"/>
              <a:gd name="connsiteY7" fmla="*/ 2959100 h 295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959100">
                <a:moveTo>
                  <a:pt x="11512367" y="0"/>
                </a:moveTo>
                <a:lnTo>
                  <a:pt x="12192000" y="0"/>
                </a:lnTo>
                <a:lnTo>
                  <a:pt x="12192000" y="2959100"/>
                </a:lnTo>
                <a:lnTo>
                  <a:pt x="10694916" y="2959100"/>
                </a:lnTo>
                <a:close/>
                <a:moveTo>
                  <a:pt x="0" y="0"/>
                </a:moveTo>
                <a:lnTo>
                  <a:pt x="4632159" y="0"/>
                </a:lnTo>
                <a:lnTo>
                  <a:pt x="3814707" y="2959100"/>
                </a:lnTo>
                <a:lnTo>
                  <a:pt x="0" y="2959100"/>
                </a:lnTo>
                <a:close/>
              </a:path>
            </a:pathLst>
          </a:custGeom>
          <a:solidFill>
            <a:schemeClr val="accent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78" y="2335819"/>
            <a:ext cx="2186361" cy="21863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/>
          <p:cNvSpPr/>
          <p:nvPr userDrawn="1"/>
        </p:nvSpPr>
        <p:spPr>
          <a:xfrm>
            <a:off x="0" y="2514600"/>
            <a:ext cx="12192000" cy="1905000"/>
          </a:xfrm>
          <a:prstGeom prst="rightArrow">
            <a:avLst/>
          </a:prstGeom>
          <a:gradFill>
            <a:gsLst>
              <a:gs pos="1000">
                <a:schemeClr val="bg1">
                  <a:alpha val="59000"/>
                </a:schemeClr>
              </a:gs>
              <a:gs pos="100000">
                <a:schemeClr val="accent1">
                  <a:alpha val="44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1295400" y="1524000"/>
            <a:ext cx="2819400" cy="4114800"/>
            <a:chOff x="1282700" y="1536700"/>
            <a:chExt cx="3429000" cy="4305300"/>
          </a:xfrm>
        </p:grpSpPr>
        <p:sp>
          <p:nvSpPr>
            <p:cNvPr id="18" name="任意多边形: 形状 17"/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 userDrawn="1"/>
        </p:nvGrpSpPr>
        <p:grpSpPr>
          <a:xfrm>
            <a:off x="4699000" y="1524000"/>
            <a:ext cx="2819400" cy="4114800"/>
            <a:chOff x="1282700" y="1536700"/>
            <a:chExt cx="3429000" cy="4305300"/>
          </a:xfrm>
        </p:grpSpPr>
        <p:sp>
          <p:nvSpPr>
            <p:cNvPr id="21" name="任意多边形: 形状 20"/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 userDrawn="1"/>
        </p:nvGrpSpPr>
        <p:grpSpPr>
          <a:xfrm>
            <a:off x="8102600" y="1524000"/>
            <a:ext cx="2819400" cy="4114800"/>
            <a:chOff x="1282700" y="1536700"/>
            <a:chExt cx="3429000" cy="4305300"/>
          </a:xfrm>
        </p:grpSpPr>
        <p:sp>
          <p:nvSpPr>
            <p:cNvPr id="24" name="任意多边形: 形状 23"/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: 形状 24"/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图片占位符 29"/>
          <p:cNvSpPr>
            <a:spLocks noGrp="1"/>
          </p:cNvSpPr>
          <p:nvPr>
            <p:ph type="pic" sz="quarter" idx="10"/>
          </p:nvPr>
        </p:nvSpPr>
        <p:spPr>
          <a:xfrm>
            <a:off x="1612900" y="2641600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1" name="图片占位符 29"/>
          <p:cNvSpPr>
            <a:spLocks noGrp="1"/>
          </p:cNvSpPr>
          <p:nvPr>
            <p:ph type="pic" sz="quarter" idx="11"/>
          </p:nvPr>
        </p:nvSpPr>
        <p:spPr>
          <a:xfrm>
            <a:off x="5043862" y="2666547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2" name="图片占位符 29"/>
          <p:cNvSpPr>
            <a:spLocks noGrp="1"/>
          </p:cNvSpPr>
          <p:nvPr>
            <p:ph type="pic" sz="quarter" idx="12"/>
          </p:nvPr>
        </p:nvSpPr>
        <p:spPr>
          <a:xfrm>
            <a:off x="8427959" y="2666547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5" name="图片占位符 14"/>
          <p:cNvSpPr>
            <a:spLocks noGrp="1"/>
          </p:cNvSpPr>
          <p:nvPr>
            <p:ph type="pic" sz="quarter" idx="10"/>
          </p:nvPr>
        </p:nvSpPr>
        <p:spPr>
          <a:xfrm>
            <a:off x="1758492" y="1542215"/>
            <a:ext cx="3961348" cy="4373767"/>
          </a:xfrm>
          <a:custGeom>
            <a:avLst/>
            <a:gdLst>
              <a:gd name="connsiteX0" fmla="*/ 639544 w 3961348"/>
              <a:gd name="connsiteY0" fmla="*/ 130 h 4373767"/>
              <a:gd name="connsiteX1" fmla="*/ 975085 w 3961348"/>
              <a:gd name="connsiteY1" fmla="*/ 87187 h 4373767"/>
              <a:gd name="connsiteX2" fmla="*/ 3634977 w 3961348"/>
              <a:gd name="connsiteY2" fmla="*/ 1621488 h 4373767"/>
              <a:gd name="connsiteX3" fmla="*/ 3637187 w 3961348"/>
              <a:gd name="connsiteY3" fmla="*/ 2748680 h 4373767"/>
              <a:gd name="connsiteX4" fmla="*/ 988209 w 3961348"/>
              <a:gd name="connsiteY4" fmla="*/ 4285044 h 4373767"/>
              <a:gd name="connsiteX5" fmla="*/ 10915 w 3961348"/>
              <a:gd name="connsiteY5" fmla="*/ 3723385 h 4373767"/>
              <a:gd name="connsiteX6" fmla="*/ 1 w 3961348"/>
              <a:gd name="connsiteY6" fmla="*/ 652720 h 4373767"/>
              <a:gd name="connsiteX7" fmla="*/ 639544 w 3961348"/>
              <a:gd name="connsiteY7" fmla="*/ 130 h 437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61348" h="4373767">
                <a:moveTo>
                  <a:pt x="639544" y="130"/>
                </a:moveTo>
                <a:cubicBezTo>
                  <a:pt x="751351" y="-2124"/>
                  <a:pt x="866584" y="24931"/>
                  <a:pt x="975085" y="87187"/>
                </a:cubicBezTo>
                <a:cubicBezTo>
                  <a:pt x="975085" y="87187"/>
                  <a:pt x="975085" y="87187"/>
                  <a:pt x="3634977" y="1621488"/>
                </a:cubicBezTo>
                <a:cubicBezTo>
                  <a:pt x="4068980" y="1870511"/>
                  <a:pt x="4070558" y="2497332"/>
                  <a:pt x="3637187" y="2748680"/>
                </a:cubicBezTo>
                <a:cubicBezTo>
                  <a:pt x="3637187" y="2748680"/>
                  <a:pt x="3637187" y="2748680"/>
                  <a:pt x="988209" y="4285044"/>
                </a:cubicBezTo>
                <a:cubicBezTo>
                  <a:pt x="554839" y="4536392"/>
                  <a:pt x="11547" y="4223756"/>
                  <a:pt x="10915" y="3723385"/>
                </a:cubicBezTo>
                <a:cubicBezTo>
                  <a:pt x="10915" y="3723385"/>
                  <a:pt x="10915" y="3723385"/>
                  <a:pt x="1" y="652720"/>
                </a:cubicBezTo>
                <a:cubicBezTo>
                  <a:pt x="-473" y="277442"/>
                  <a:pt x="304122" y="6893"/>
                  <a:pt x="639544" y="13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660400" y="1495641"/>
            <a:ext cx="3771900" cy="4343400"/>
          </a:xfrm>
          <a:custGeom>
            <a:avLst/>
            <a:gdLst>
              <a:gd name="connsiteX0" fmla="*/ 942975 w 3771900"/>
              <a:gd name="connsiteY0" fmla="*/ 0 h 4343400"/>
              <a:gd name="connsiteX1" fmla="*/ 3771900 w 3771900"/>
              <a:gd name="connsiteY1" fmla="*/ 0 h 4343400"/>
              <a:gd name="connsiteX2" fmla="*/ 2828925 w 3771900"/>
              <a:gd name="connsiteY2" fmla="*/ 4343400 h 4343400"/>
              <a:gd name="connsiteX3" fmla="*/ 0 w 37719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4343400">
                <a:moveTo>
                  <a:pt x="942975" y="0"/>
                </a:moveTo>
                <a:lnTo>
                  <a:pt x="3771900" y="0"/>
                </a:lnTo>
                <a:lnTo>
                  <a:pt x="2828925" y="4343400"/>
                </a:lnTo>
                <a:lnTo>
                  <a:pt x="0" y="4343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6426200" y="1495641"/>
            <a:ext cx="3771900" cy="4343400"/>
          </a:xfrm>
          <a:custGeom>
            <a:avLst/>
            <a:gdLst>
              <a:gd name="connsiteX0" fmla="*/ 942975 w 3771900"/>
              <a:gd name="connsiteY0" fmla="*/ 0 h 4343400"/>
              <a:gd name="connsiteX1" fmla="*/ 3771900 w 3771900"/>
              <a:gd name="connsiteY1" fmla="*/ 0 h 4343400"/>
              <a:gd name="connsiteX2" fmla="*/ 2828925 w 3771900"/>
              <a:gd name="connsiteY2" fmla="*/ 4343400 h 4343400"/>
              <a:gd name="connsiteX3" fmla="*/ 0 w 37719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4343400">
                <a:moveTo>
                  <a:pt x="942975" y="0"/>
                </a:moveTo>
                <a:lnTo>
                  <a:pt x="3771900" y="0"/>
                </a:lnTo>
                <a:lnTo>
                  <a:pt x="2828925" y="4343400"/>
                </a:lnTo>
                <a:lnTo>
                  <a:pt x="0" y="4343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1403040" y="1445435"/>
            <a:ext cx="2163775" cy="2396907"/>
          </a:xfrm>
          <a:ln w="38100">
            <a:solidFill>
              <a:srgbClr val="963A89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6" name="图片占位符 2"/>
          <p:cNvSpPr>
            <a:spLocks noGrp="1"/>
          </p:cNvSpPr>
          <p:nvPr>
            <p:ph type="pic" sz="quarter" idx="12"/>
          </p:nvPr>
        </p:nvSpPr>
        <p:spPr>
          <a:xfrm>
            <a:off x="3854186" y="1445435"/>
            <a:ext cx="2163775" cy="2396907"/>
          </a:xfrm>
          <a:ln w="38100" cap="flat" cmpd="sng" algn="ctr">
            <a:solidFill>
              <a:srgbClr val="963A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7" name="图片占位符 2"/>
          <p:cNvSpPr>
            <a:spLocks noGrp="1"/>
          </p:cNvSpPr>
          <p:nvPr>
            <p:ph type="pic" sz="quarter" idx="13"/>
          </p:nvPr>
        </p:nvSpPr>
        <p:spPr>
          <a:xfrm>
            <a:off x="6305333" y="1445435"/>
            <a:ext cx="2163775" cy="2396907"/>
          </a:xfrm>
          <a:ln w="38100" cap="flat" cmpd="sng" algn="ctr">
            <a:solidFill>
              <a:srgbClr val="963A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5" name="图片占位符 2"/>
          <p:cNvSpPr>
            <a:spLocks noGrp="1"/>
          </p:cNvSpPr>
          <p:nvPr>
            <p:ph type="pic" sz="quarter" idx="11"/>
          </p:nvPr>
        </p:nvSpPr>
        <p:spPr>
          <a:xfrm>
            <a:off x="8756479" y="1445435"/>
            <a:ext cx="2163775" cy="2396907"/>
          </a:xfrm>
          <a:ln w="38100">
            <a:solidFill>
              <a:srgbClr val="963A89"/>
            </a:solidFill>
          </a:ln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4" name="Freeform 17"/>
          <p:cNvSpPr/>
          <p:nvPr userDrawn="1"/>
        </p:nvSpPr>
        <p:spPr bwMode="auto">
          <a:xfrm>
            <a:off x="946150" y="1315711"/>
            <a:ext cx="4819650" cy="4703259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1413230" y="1519576"/>
            <a:ext cx="4352570" cy="4295531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17"/>
          <p:cNvSpPr/>
          <p:nvPr userDrawn="1"/>
        </p:nvSpPr>
        <p:spPr bwMode="auto">
          <a:xfrm>
            <a:off x="3216200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5" name="Freeform 17"/>
          <p:cNvSpPr/>
          <p:nvPr userDrawn="1"/>
        </p:nvSpPr>
        <p:spPr bwMode="auto">
          <a:xfrm>
            <a:off x="6378832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6" name="Freeform 17"/>
          <p:cNvSpPr/>
          <p:nvPr userDrawn="1"/>
        </p:nvSpPr>
        <p:spPr bwMode="auto">
          <a:xfrm>
            <a:off x="9541465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4" name="Freeform 17"/>
          <p:cNvSpPr/>
          <p:nvPr userDrawn="1"/>
        </p:nvSpPr>
        <p:spPr bwMode="auto">
          <a:xfrm>
            <a:off x="53568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-6333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1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3120904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6248140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3" name="图片占位符 12"/>
          <p:cNvSpPr>
            <a:spLocks noGrp="1"/>
          </p:cNvSpPr>
          <p:nvPr>
            <p:ph type="pic" sz="quarter" idx="13"/>
          </p:nvPr>
        </p:nvSpPr>
        <p:spPr>
          <a:xfrm>
            <a:off x="9375377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包含 监视器, 电子产品, 室内, 就坐&#10;&#10;自动生成的说明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322" y="449217"/>
            <a:ext cx="2871578" cy="5959565"/>
          </a:xfrm>
          <a:prstGeom prst="rect">
            <a:avLst/>
          </a:prstGeom>
        </p:spPr>
      </p:pic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5003800" y="1130300"/>
            <a:ext cx="2578100" cy="4597400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195459" y="351347"/>
            <a:ext cx="6155304" cy="6155304"/>
            <a:chOff x="3195459" y="351347"/>
            <a:chExt cx="6155304" cy="6155304"/>
          </a:xfrm>
        </p:grpSpPr>
        <p:sp>
          <p:nvSpPr>
            <p:cNvPr id="4" name="椭圆 3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 userDrawn="1"/>
        </p:nvGrpSpPr>
        <p:grpSpPr>
          <a:xfrm>
            <a:off x="1245243" y="-1417133"/>
            <a:ext cx="9613257" cy="9613257"/>
            <a:chOff x="3195459" y="351347"/>
            <a:chExt cx="6155304" cy="6155304"/>
          </a:xfrm>
        </p:grpSpPr>
        <p:sp>
          <p:nvSpPr>
            <p:cNvPr id="16" name="椭圆 15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grpSp>
        <p:nvGrpSpPr>
          <p:cNvPr id="12" name="组合 11"/>
          <p:cNvGrpSpPr/>
          <p:nvPr userDrawn="1"/>
        </p:nvGrpSpPr>
        <p:grpSpPr>
          <a:xfrm>
            <a:off x="3195459" y="351347"/>
            <a:ext cx="6155304" cy="6155304"/>
            <a:chOff x="3195459" y="351347"/>
            <a:chExt cx="6155304" cy="6155304"/>
          </a:xfrm>
        </p:grpSpPr>
        <p:sp>
          <p:nvSpPr>
            <p:cNvPr id="13" name="椭圆 12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1245243" y="-1417133"/>
            <a:ext cx="9613257" cy="9613257"/>
            <a:chOff x="3195459" y="351347"/>
            <a:chExt cx="6155304" cy="6155304"/>
          </a:xfrm>
        </p:grpSpPr>
        <p:sp>
          <p:nvSpPr>
            <p:cNvPr id="17" name="椭圆 16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944" y="747146"/>
            <a:ext cx="6544112" cy="6134100"/>
          </a:xfrm>
          <a:prstGeom prst="rect">
            <a:avLst/>
          </a:prstGeom>
        </p:spPr>
      </p:pic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3454400" y="1485900"/>
            <a:ext cx="5422900" cy="30480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170A4-4E3B-4F56-8FDD-F1EB4BDF678E}" type="datetime2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5DDA-53DD-4495-A1F6-B439BDA050E0}" type="datetime2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C606B-CFB8-465D-A34A-AC76AB192DCE}" type="datetime2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39A2B-D617-4E97-B74E-572C8892BBDF}" type="datetime2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71933-39CF-414B-8F3E-1FA80C540CBD}" type="datetime2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B35B4-13DE-41D0-989F-92F8B73463C4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EA381-2652-4789-B703-8168BBF1FDD9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9D340-5E09-4D59-97A7-00D321553642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0.wmf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3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4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内容占位符 14"/>
          <p:cNvSpPr txBox="1"/>
          <p:nvPr/>
        </p:nvSpPr>
        <p:spPr>
          <a:xfrm>
            <a:off x="1517650" y="1464945"/>
            <a:ext cx="9157335" cy="27228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基于</a:t>
            </a:r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Detours</a:t>
            </a:r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技术的</a:t>
            </a:r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Windows</a:t>
            </a:r>
            <a:endParaRPr lang="en-US" altLang="zh-C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系统行为监控实验</a:t>
            </a:r>
            <a:endParaRPr lang="zh-CN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22" name="内容占位符 14"/>
          <p:cNvSpPr txBox="1"/>
          <p:nvPr/>
        </p:nvSpPr>
        <p:spPr>
          <a:xfrm>
            <a:off x="2897718" y="4116665"/>
            <a:ext cx="6472255" cy="10433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000" dirty="0">
                <a:ea typeface="微软雅黑" panose="020B0503020204020204" pitchFamily="34" charset="-122"/>
              </a:rPr>
              <a:t>2026</a:t>
            </a:r>
            <a:r>
              <a:rPr lang="zh-CN" altLang="en-US" sz="2000" dirty="0">
                <a:ea typeface="微软雅黑" panose="020B0503020204020204" pitchFamily="34" charset="-122"/>
              </a:rPr>
              <a:t>年</a:t>
            </a:r>
            <a:r>
              <a:rPr lang="en-US" altLang="zh-CN" sz="2000" dirty="0"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ea typeface="微软雅黑" panose="020B0503020204020204" pitchFamily="34" charset="-122"/>
              </a:rPr>
              <a:t>月</a:t>
            </a:r>
            <a:endParaRPr lang="zh-CN" altLang="en-US" sz="2000" dirty="0"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210295" y="3395010"/>
            <a:ext cx="1661328" cy="324811"/>
            <a:chOff x="7670799" y="3233111"/>
            <a:chExt cx="1661328" cy="324811"/>
          </a:xfrm>
        </p:grpSpPr>
        <p:cxnSp>
          <p:nvCxnSpPr>
            <p:cNvPr id="28" name="直接连接符 27"/>
            <p:cNvCxnSpPr/>
            <p:nvPr/>
          </p:nvCxnSpPr>
          <p:spPr>
            <a:xfrm>
              <a:off x="8199455" y="3410911"/>
              <a:ext cx="1003300" cy="0"/>
            </a:xfrm>
            <a:prstGeom prst="line">
              <a:avLst/>
            </a:prstGeom>
            <a:ln w="762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8328827" y="3557922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7670799" y="3233111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156" y="586122"/>
            <a:ext cx="863600" cy="86360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1338244" y="1287316"/>
            <a:ext cx="1661328" cy="324811"/>
            <a:chOff x="2201844" y="1429711"/>
            <a:chExt cx="1661328" cy="324811"/>
          </a:xfrm>
        </p:grpSpPr>
        <p:cxnSp>
          <p:nvCxnSpPr>
            <p:cNvPr id="24" name="直接连接符 23"/>
            <p:cNvCxnSpPr/>
            <p:nvPr/>
          </p:nvCxnSpPr>
          <p:spPr>
            <a:xfrm>
              <a:off x="2730500" y="1607511"/>
              <a:ext cx="1003300" cy="0"/>
            </a:xfrm>
            <a:prstGeom prst="line">
              <a:avLst/>
            </a:prstGeom>
            <a:ln w="762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2859872" y="1754522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2201844" y="1429711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实验目标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83210" y="1064260"/>
            <a:ext cx="11665585" cy="55422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80000"/>
              </a:lnSpc>
              <a:buClrTx/>
              <a:buSzTx/>
              <a:buFontTx/>
              <a:buNone/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en-US" altLang="zh-CN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Detours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技术掌握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80000"/>
              </a:lnSpc>
              <a:buClrTx/>
              <a:buSzTx/>
              <a:buFontTx/>
              <a:buNone/>
            </a:pPr>
            <a:r>
              <a:rPr lang="en-US" sz="2200" dirty="0">
                <a:solidFill>
                  <a:schemeClr val="tx1"/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</a:t>
            </a:r>
            <a:r>
              <a:rPr lang="zh-CN" altLang="en-US" sz="2200" dirty="0">
                <a:solidFill>
                  <a:schemeClr val="tx1"/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熟悉微软</a:t>
            </a:r>
            <a:r>
              <a:rPr lang="en-US" altLang="zh-CN" sz="2200" dirty="0">
                <a:solidFill>
                  <a:schemeClr val="tx1"/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Detours（</a:t>
            </a:r>
            <a:r>
              <a:rPr lang="zh-CN" altLang="en-US" sz="2200" dirty="0">
                <a:solidFill>
                  <a:schemeClr val="tx1"/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绕行道）技术 ，理解</a:t>
            </a:r>
            <a:r>
              <a:rPr lang="en-US" altLang="zh-CN" sz="2200" dirty="0">
                <a:solidFill>
                  <a:schemeClr val="tx1"/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Detours</a:t>
            </a:r>
            <a:r>
              <a:rPr lang="zh-CN" altLang="en-US" sz="2200" dirty="0">
                <a:solidFill>
                  <a:schemeClr val="tx1"/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挂钩系统</a:t>
            </a:r>
            <a:r>
              <a:rPr lang="en-US" altLang="zh-CN" sz="2200" dirty="0">
                <a:solidFill>
                  <a:schemeClr val="tx1"/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API</a:t>
            </a:r>
            <a:r>
              <a:rPr lang="zh-CN" altLang="en-US" sz="2200" dirty="0">
                <a:solidFill>
                  <a:schemeClr val="tx1"/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调用的核心原理与实现机制</a:t>
            </a:r>
            <a:endParaRPr lang="zh-CN" altLang="en-US" sz="2200" dirty="0">
              <a:solidFill>
                <a:schemeClr val="tx1"/>
              </a:soli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80000"/>
              </a:lnSpc>
              <a:buClrTx/>
              <a:buSzTx/>
              <a:buFontTx/>
              <a:buNone/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R77Rootkit应用</a:t>
            </a:r>
            <a:endParaRPr lang="en-US" sz="2800" b="1" dirty="0">
              <a:solidFill>
                <a:schemeClr val="bg2">
                  <a:lumMod val="25000"/>
                </a:schemeClr>
              </a:soli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>
              <a:lnSpc>
                <a:spcPct val="180000"/>
              </a:lnSpc>
              <a:buClrTx/>
              <a:buSzTx/>
              <a:buFontTx/>
              <a:buNone/>
            </a:pPr>
            <a:r>
              <a:rPr lang="en-US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——</a:t>
            </a:r>
            <a:r>
              <a:rPr lang="zh-CN" altLang="en-US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了解基于</a:t>
            </a:r>
            <a:r>
              <a:rPr lang="en-US" altLang="zh-CN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Detours</a:t>
            </a:r>
            <a:r>
              <a:rPr lang="zh-CN" altLang="en-US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的无文件</a:t>
            </a:r>
            <a:r>
              <a:rPr lang="en-US" altLang="zh-CN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Ring3 Rootkit</a:t>
            </a:r>
            <a:r>
              <a:rPr lang="zh-CN" altLang="en-US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工具</a:t>
            </a:r>
            <a:r>
              <a:rPr lang="en-US" altLang="zh-CN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R77 ，</a:t>
            </a:r>
            <a:r>
              <a:rPr lang="zh-CN" altLang="en-US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能够安装并使用</a:t>
            </a:r>
            <a:r>
              <a:rPr lang="en-US" altLang="zh-CN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R77</a:t>
            </a:r>
            <a:r>
              <a:rPr lang="zh-CN" altLang="en-US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隐藏系统进程、文件、注册表项</a:t>
            </a:r>
            <a:endParaRPr lang="zh-CN" altLang="en-US" sz="2200" dirty="0"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80000"/>
              </a:lnSpc>
              <a:buClrTx/>
              <a:buSzTx/>
              <a:buFontTx/>
              <a:buNone/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 </a:t>
            </a: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监控工具开发</a:t>
            </a:r>
            <a:endParaRPr lang="en-US" sz="2800" b="1" dirty="0">
              <a:solidFill>
                <a:schemeClr val="bg2">
                  <a:lumMod val="25000"/>
                </a:schemeClr>
              </a:soli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algn="l">
              <a:lnSpc>
                <a:spcPct val="180000"/>
              </a:lnSpc>
              <a:buClrTx/>
              <a:buSzTx/>
              <a:buFontTx/>
              <a:buNone/>
            </a:pPr>
            <a:r>
              <a:rPr lang="en-US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——</a:t>
            </a:r>
            <a:r>
              <a:rPr lang="zh-CN" altLang="en-US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基于</a:t>
            </a:r>
            <a:r>
              <a:rPr lang="en-US" altLang="zh-CN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Detours</a:t>
            </a:r>
            <a:r>
              <a:rPr lang="zh-CN" altLang="en-US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R77</a:t>
            </a:r>
            <a:r>
              <a:rPr lang="zh-CN" altLang="en-US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</a:t>
            </a:r>
            <a:r>
              <a:rPr lang="en-US" altLang="zh-CN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Windows</a:t>
            </a:r>
            <a:r>
              <a:rPr lang="zh-CN" altLang="en-US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系统行为监控工具 ，能够记录文件操作、进程创建、注册表操作等</a:t>
            </a:r>
            <a:endParaRPr lang="zh-CN" altLang="en-US" sz="2200" dirty="0"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80000"/>
              </a:lnSpc>
              <a:buClrTx/>
              <a:buSzTx/>
              <a:buFontTx/>
              <a:buNone/>
            </a:pPr>
            <a:endParaRPr lang="zh-CN" altLang="en-US" sz="2200" dirty="0"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实验原理</a:t>
            </a:r>
            <a:endParaRPr lang="en-US" altLang="zh-CN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04495" y="883920"/>
            <a:ext cx="10761345" cy="27844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>
              <a:lnSpc>
                <a:spcPct val="17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Detours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（绕行道）技术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>
              <a:lnSpc>
                <a:spcPct val="18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Detours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是微软发布的一个函数库，提供了简单、高效、稳定的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API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挂钩功能。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Detours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可以用于在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ARM, ARM64, X86, X64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IA64 CPU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平台上，拦截应用程序中的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Win32 API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调用，比如添加调试功能、拦截特定的系统信息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lnSpc>
                <a:spcPct val="170000"/>
              </a:lnSpc>
              <a:buClrTx/>
              <a:buSzTx/>
              <a:buFont typeface="Arial" panose="020B0604020202020204" pitchFamily="34" charset="0"/>
              <a:buNone/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4170" y="4080510"/>
            <a:ext cx="11374120" cy="11988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spAutoFit/>
          </a:bodyPr>
          <a:p>
            <a:pPr indent="0" fontAlgn="auto" latinLnBrk="1">
              <a:lnSpc>
                <a:spcPct val="150000"/>
              </a:lnSpc>
            </a:pPr>
            <a:r>
              <a:rPr lang="zh-CN" altLang="en-US" sz="2400" dirty="0"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官方代码及文档：</a:t>
            </a:r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</a:rPr>
              <a:t>https://www.microsoft.com/en-us/research/project/detours/Detours</a:t>
            </a:r>
            <a:endParaRPr lang="en-US" altLang="zh-CN" sz="2400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实验原理</a:t>
            </a:r>
            <a:endParaRPr lang="en-US" altLang="zh-CN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62585" y="1016635"/>
            <a:ext cx="10909935" cy="21583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40000"/>
              </a:lnSpc>
            </a:pPr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Detours</a:t>
            </a: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提供的函数可以重写内存中的代码，将目标函数的前几个指令替换为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无条件跳转指令</a:t>
            </a: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，将</a:t>
            </a:r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CPU</a:t>
            </a: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控制权转移到指定的</a:t>
            </a:r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Detour</a:t>
            </a: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函数。</a:t>
            </a:r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Detours</a:t>
            </a: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还可以编辑二进制</a:t>
            </a:r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DLL</a:t>
            </a: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文件的导入表，将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任意数据段</a:t>
            </a: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附加到现有二进制文件以及将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DLL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加载到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新进程内存空间</a:t>
            </a: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中。</a:t>
            </a:r>
            <a:endParaRPr lang="zh-CN" altLang="en-US" sz="2400" dirty="0">
              <a:solidFill>
                <a:schemeClr val="bg2">
                  <a:lumMod val="25000"/>
                </a:schemeClr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7165" y="2792095"/>
            <a:ext cx="7542530" cy="3934460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实验原理</a:t>
            </a:r>
            <a:endParaRPr lang="en-US" altLang="zh-CN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1785" y="890905"/>
            <a:ext cx="11464290" cy="3529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Trampoline Function</a:t>
            </a:r>
            <a:r>
              <a:rPr lang="zh-CN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（跳板函数）</a:t>
            </a:r>
            <a:endParaRPr lang="zh-CN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2800" dirty="0">
                <a:solidFill>
                  <a:schemeClr val="bg2">
                    <a:lumMod val="2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Detours拦截目标函数时，会用一条跳转指令覆盖目标函数开头的5个字节，将控制流重定向到Detour函数。这就产生了一个问题：如果Detour函数想调用原始的目标函数，直接调用Target函数会再次触发拦截，导致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无限循环</a:t>
            </a:r>
            <a:r>
              <a:rPr lang="zh-CN" altLang="en-US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2800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lnSpc>
                <a:spcPct val="130000"/>
              </a:lnSpc>
            </a:pPr>
            <a:endParaRPr lang="zh-CN" altLang="en-US" sz="2800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8630" y="4081780"/>
            <a:ext cx="11140440" cy="204279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noAutofit/>
          </a:bodyPr>
          <a:p>
            <a:pPr marL="342900" indent="-342900" algn="just" fontAlgn="base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400" b="1" i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复制原指令：</a:t>
            </a:r>
            <a:r>
              <a:rPr lang="zh-CN" altLang="en-US" sz="2400" b="0" i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</a:t>
            </a:r>
            <a:r>
              <a:rPr lang="en-US" altLang="zh-CN" sz="2400" b="0" i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Target Function</a:t>
            </a:r>
            <a:r>
              <a:rPr lang="zh-CN" altLang="en-US" sz="2400" b="0" i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被覆盖的前几条指令（通常是</a:t>
            </a:r>
            <a:r>
              <a:rPr lang="en-US" altLang="zh-CN" sz="2400" b="0" i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en-US" sz="2400" b="0" i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字节以上的完整指令）复制到</a:t>
            </a:r>
            <a:r>
              <a:rPr lang="en-US" altLang="zh-CN" sz="2400" b="0" i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Trampoline Function</a:t>
            </a:r>
            <a:r>
              <a:rPr lang="zh-CN" altLang="en-US" sz="2400" b="0" i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</a:t>
            </a:r>
            <a:endParaRPr lang="zh-CN" altLang="en-US" sz="2400" b="0" i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 algn="just" fontAlgn="base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400" b="1" i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衔接跳转：</a:t>
            </a:r>
            <a:r>
              <a:rPr lang="zh-CN" altLang="en-US" sz="2400" b="0" i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在复制的指令后添加一条跳转指令，跳转到</a:t>
            </a:r>
            <a:r>
              <a:rPr lang="en-US" altLang="zh-CN" sz="2400" b="0" i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Target Function剩余未覆盖的</a:t>
            </a:r>
            <a:r>
              <a:rPr lang="zh-CN" altLang="en-US" sz="2400" b="0" i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代码</a:t>
            </a:r>
            <a:endParaRPr lang="zh-CN" altLang="en-US" sz="2400" b="0" i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实验原理</a:t>
            </a:r>
            <a:endParaRPr lang="en-US" altLang="zh-CN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14325" y="100330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C++调用Detours</a:t>
            </a:r>
            <a:endParaRPr lang="en-US" altLang="zh-CN" sz="2800" b="1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4325" y="1525270"/>
            <a:ext cx="12013565" cy="4182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90000"/>
              </a:lnSpc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从代码仓库中下载源码，解压后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src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文件夹中即为需要编译的源码文件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90000"/>
              </a:lnSpc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VS2019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环境为例，打开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VS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开发人员命令行窗口，进入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Detours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源码文件目录中的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src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目录，输入命令“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nmake”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进行编译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90000"/>
              </a:lnSpc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将形成的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detours.h、detver.h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detours.lib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文件放入对应程序目录下，导入即可调用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实验原理</a:t>
            </a:r>
            <a:endParaRPr lang="en-US" altLang="zh-CN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768600" y="25082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Detours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中的重要函数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4325" y="1040765"/>
            <a:ext cx="12013565" cy="17278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90000"/>
              </a:lnSpc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DetourAttach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截获目标函数</a:t>
            </a:r>
            <a:endParaRPr lang="en-US" altLang="zh-CN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90000"/>
              </a:lnSpc>
            </a:pP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610" y="2058035"/>
            <a:ext cx="6380480" cy="19342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35610" y="4065905"/>
            <a:ext cx="9126220" cy="1124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ppPointer : 指向将要被截获函数地址的函数指针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pDetour : 指向实际运行的函数的指针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实验原理</a:t>
            </a:r>
            <a:endParaRPr lang="en-US" altLang="zh-CN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768600" y="25082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Detours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中的重要函数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4325" y="1040765"/>
            <a:ext cx="12013565" cy="17278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90000"/>
              </a:lnSpc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DetourDetach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解除截获目标函数</a:t>
            </a:r>
            <a:endParaRPr lang="en-US" altLang="zh-CN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90000"/>
              </a:lnSpc>
            </a:pP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5832" b="5832"/>
          <a:stretch>
            <a:fillRect/>
          </a:stretch>
        </p:blipFill>
        <p:spPr>
          <a:xfrm>
            <a:off x="435610" y="2058035"/>
            <a:ext cx="6380480" cy="19342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35610" y="4065905"/>
            <a:ext cx="9126220" cy="1124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ppPointer : 指向将要被截获函数地址的函数指针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pDetour : 指向实际运行的函数的指针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实验原理</a:t>
            </a:r>
            <a:endParaRPr lang="en-US" altLang="zh-CN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768600" y="25082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Detours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中的重要函数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4325" y="831215"/>
            <a:ext cx="12013565" cy="17278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90000"/>
              </a:lnSpc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DetourTransactionBegin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开始一次截获/解除截获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90000"/>
              </a:lnSpc>
            </a:pP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120" y="1851660"/>
            <a:ext cx="5636260" cy="8134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14325" y="2868295"/>
            <a:ext cx="12013565" cy="20288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DetourUpdateThread: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列入一个在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Detour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事务过程中要更新的线程，用于确保目标进程中的线程状态在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Hook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安装过程中保持一致性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90000"/>
              </a:lnSpc>
            </a:pP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44830" y="5691505"/>
            <a:ext cx="8449310" cy="607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hThread：要用挂起的事务更新的线程句柄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715" y="4086225"/>
            <a:ext cx="5574665" cy="16262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实验原理</a:t>
            </a:r>
            <a:endParaRPr lang="en-US" altLang="zh-CN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768600" y="25082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Detours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中的重要函数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4325" y="1701165"/>
            <a:ext cx="12013565" cy="17278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90000"/>
              </a:lnSpc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5.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DetourTransactionCommit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执行当前的捕获/解除捕获事务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90000"/>
              </a:lnSpc>
            </a:pP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690" y="2715895"/>
            <a:ext cx="5565140" cy="7131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实验原理</a:t>
            </a:r>
            <a:endParaRPr lang="en-US" altLang="zh-CN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768600" y="25082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Hook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标准流程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33705" y="1557020"/>
            <a:ext cx="11182985" cy="3942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安装</a:t>
            </a:r>
            <a:r>
              <a:rPr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Hook</a:t>
            </a: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Attach</a:t>
            </a: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en-US" altLang="zh-CN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24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DetourTransactionBegin() 		// 1. </a:t>
            </a:r>
            <a:r>
              <a:rPr lang="zh-CN" altLang="en-US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开启事务</a:t>
            </a:r>
            <a:endParaRPr lang="zh-CN" altLang="en-US" sz="24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↓</a:t>
            </a:r>
            <a:endParaRPr lang="en-US" altLang="zh-CN" sz="24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DetourUpdateThread() 		// 2. </a:t>
            </a:r>
            <a:r>
              <a:rPr lang="zh-CN" altLang="en-US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登记需要同步的线程（可多次调用）</a:t>
            </a:r>
            <a:endParaRPr lang="zh-CN" altLang="en-US" sz="24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↓</a:t>
            </a:r>
            <a:endParaRPr lang="en-US" altLang="zh-CN" sz="24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DetourAttach()   </a:t>
            </a:r>
            <a:r>
              <a:rPr lang="en-US" altLang="zh-CN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	// 3. </a:t>
            </a:r>
            <a:r>
              <a:rPr lang="zh-CN" altLang="en-US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声明要附加的 </a:t>
            </a:r>
            <a:r>
              <a:rPr lang="en-US" altLang="zh-CN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Hook（</a:t>
            </a:r>
            <a:r>
              <a:rPr lang="zh-CN" altLang="en-US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可多次调用）</a:t>
            </a:r>
            <a:endParaRPr lang="zh-CN" altLang="en-US" sz="24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           ↓</a:t>
            </a:r>
            <a:endParaRPr lang="en-US" altLang="zh-CN" sz="24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DetourTransactionCommit()    	// 4. </a:t>
            </a:r>
            <a:r>
              <a:rPr lang="zh-CN" altLang="en-US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提交事务，正式生效</a:t>
            </a:r>
            <a:endParaRPr lang="zh-CN" altLang="en-US" sz="24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33705" y="1557020"/>
            <a:ext cx="11182985" cy="3942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卸载</a:t>
            </a:r>
            <a:r>
              <a:rPr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Hook</a:t>
            </a: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Detach</a:t>
            </a: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en-US" altLang="zh-CN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24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DetourTransactionBegin() 		// 1. </a:t>
            </a:r>
            <a:r>
              <a:rPr lang="zh-CN" altLang="en-US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开启事务</a:t>
            </a:r>
            <a:endParaRPr lang="zh-CN" altLang="en-US" sz="24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↓</a:t>
            </a:r>
            <a:endParaRPr lang="en-US" altLang="zh-CN" sz="24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DetourUpdateThread() 		// 2. </a:t>
            </a:r>
            <a:r>
              <a:rPr lang="zh-CN" altLang="en-US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登记需要同步的线程</a:t>
            </a:r>
            <a:r>
              <a:rPr lang="en-US" altLang="zh-CN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zh-CN" altLang="en-US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可多次调用）</a:t>
            </a:r>
            <a:endParaRPr lang="zh-CN" altLang="en-US" sz="24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↓</a:t>
            </a:r>
            <a:endParaRPr lang="en-US" altLang="zh-CN" sz="24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DetourDetach()   </a:t>
            </a:r>
            <a:r>
              <a:rPr lang="en-US" altLang="zh-CN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	// 3. </a:t>
            </a:r>
            <a:r>
              <a:rPr lang="zh-CN" altLang="en-US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声明要卸载的 </a:t>
            </a:r>
            <a:r>
              <a:rPr lang="en-US" altLang="zh-CN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Hook（</a:t>
            </a:r>
            <a:r>
              <a:rPr lang="zh-CN" altLang="en-US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可多次调用）</a:t>
            </a:r>
            <a:endParaRPr lang="zh-CN" altLang="en-US" sz="24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           ↓</a:t>
            </a:r>
            <a:endParaRPr lang="en-US" altLang="zh-CN" sz="24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DetourTransactionCommit()    	// 4. </a:t>
            </a:r>
            <a:r>
              <a:rPr lang="zh-CN" altLang="en-US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提交事务，正式恢复</a:t>
            </a:r>
            <a:endParaRPr lang="zh-CN" altLang="en-US" sz="24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5" grpId="0"/>
      <p:bldP spid="5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实验原理</a:t>
            </a:r>
            <a:endParaRPr lang="en-US" altLang="zh-CN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24485" y="106934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R77Rootkit</a:t>
            </a:r>
            <a:endParaRPr lang="en-US" sz="2800" b="1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3545" y="1795145"/>
            <a:ext cx="11374755" cy="24892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3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R77-Rootkit 是基于Detours技术开发的一款开源的、功能强大的无文件Ring3 Rootkit，带有完整的安全工具和持久化机制。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R77 Rootkit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将所有以“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$77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”为前缀命名的实体都将被隐藏，动态配置系统允许广大研究人员通过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PID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来隐藏进程，通过完整路径来隐藏文件系统，或通过指定端口隐藏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TCP&amp;UDP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连接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23545" y="4878070"/>
            <a:ext cx="11374120" cy="6451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spAutoFit/>
          </a:bodyPr>
          <a:p>
            <a:pPr indent="0" fontAlgn="auto" latinLnBrk="1">
              <a:lnSpc>
                <a:spcPct val="150000"/>
              </a:lnSpc>
            </a:pPr>
            <a:r>
              <a:rPr lang="zh-CN" altLang="en-US" sz="2400" dirty="0"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源代码：</a:t>
            </a:r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-122"/>
                <a:ea typeface="MiSans" pitchFamily="34" charset="-122"/>
                <a:cs typeface="MiSans" pitchFamily="34" charset="-120"/>
              </a:rPr>
              <a:t>https://github.com/bytecode77/r77-rootkit</a:t>
            </a:r>
            <a:endParaRPr lang="en-US" altLang="zh-CN" sz="2400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625" y="79375"/>
            <a:ext cx="109581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502920" y="102235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R77 Rootkit的安装</a:t>
            </a:r>
            <a:endParaRPr lang="en-US" altLang="zh-CN" sz="2800" b="1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实验原理</a:t>
            </a:r>
            <a:endParaRPr lang="en-US" altLang="zh-CN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02920" y="1544320"/>
            <a:ext cx="10974705" cy="4892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sz="2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lang="zh-CN" altLang="en-US" sz="2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下载</a:t>
            </a:r>
            <a:r>
              <a:rPr lang="en-US" altLang="zh-CN" sz="2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R77</a:t>
            </a:r>
            <a:r>
              <a:rPr lang="zh-CN" altLang="en-US" sz="2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工具</a:t>
            </a:r>
            <a:endParaRPr lang="zh-CN" altLang="en-US" sz="26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</a:t>
            </a:r>
            <a:r>
              <a:rPr lang="en-US" altLang="zh-CN" sz="260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GitHub</a:t>
            </a:r>
            <a:r>
              <a:rPr lang="zh-CN" altLang="en-US" sz="260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或</a:t>
            </a:r>
            <a:r>
              <a:rPr lang="en-US" altLang="zh-CN" sz="260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R77</a:t>
            </a:r>
            <a:r>
              <a:rPr lang="zh-CN" altLang="en-US" sz="260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官网上下载</a:t>
            </a:r>
            <a:r>
              <a:rPr lang="en-US" altLang="zh-CN" sz="260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R77 Rootkit</a:t>
            </a:r>
            <a:r>
              <a:rPr lang="zh-CN" altLang="en-US" sz="260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源码</a:t>
            </a:r>
            <a:endParaRPr lang="zh-CN" altLang="en-US" sz="260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lang="zh-CN" altLang="en-US" sz="2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运行</a:t>
            </a:r>
            <a:r>
              <a:rPr lang="en-US" altLang="zh-CN" sz="2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Install.exe</a:t>
            </a:r>
            <a:r>
              <a:rPr lang="zh-CN" altLang="en-US" sz="2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安装</a:t>
            </a:r>
            <a:endParaRPr lang="en-US" altLang="zh-CN" sz="26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安装工具将</a:t>
            </a:r>
            <a:r>
              <a:rPr lang="en-US" altLang="zh-CN" sz="260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R77</a:t>
            </a:r>
            <a:r>
              <a:rPr lang="zh-CN" altLang="en-US" sz="260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服务在用户登录前开启</a:t>
            </a:r>
            <a:endParaRPr lang="zh-CN" altLang="en-US" sz="260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lang="zh-CN" altLang="en-US" sz="2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后台进程注入</a:t>
            </a:r>
            <a:endParaRPr lang="zh-CN" altLang="en-US" sz="26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向所有当前运行及后续生成的进程注入（双进程</a:t>
            </a:r>
            <a:r>
              <a:rPr lang="zh-CN" altLang="en-US" sz="260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分别注入32位和64位进程）</a:t>
            </a:r>
            <a:endParaRPr lang="zh-CN" altLang="en-US" sz="260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2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运行Uninsatall.exe卸载</a:t>
            </a:r>
            <a:endParaRPr lang="en-US" altLang="zh-CN" sz="26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卸载</a:t>
            </a:r>
            <a:r>
              <a:rPr lang="en-US" altLang="zh-CN" sz="260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R77</a:t>
            </a:r>
            <a:r>
              <a:rPr lang="zh-CN" altLang="en-US" sz="260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并解除</a:t>
            </a:r>
            <a:r>
              <a:rPr lang="en-US" altLang="zh-CN" sz="260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Rootkit</a:t>
            </a:r>
            <a:r>
              <a:rPr lang="zh-CN" altLang="en-US" sz="260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跟所有进程的绑定关系</a:t>
            </a:r>
            <a:endParaRPr lang="zh-CN" altLang="en-US" sz="260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502920" y="925195"/>
            <a:ext cx="11408410" cy="1124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R77 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无文件持久化：</a:t>
            </a:r>
            <a:r>
              <a:rPr lang="en-US" altLang="zh-CN" sz="280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Rootkit</a:t>
            </a:r>
            <a:r>
              <a:rPr lang="zh-CN" altLang="en-US" sz="280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将驻留在系统内存中，不会将任何文件写入磁盘。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实验原理</a:t>
            </a:r>
            <a:endParaRPr lang="en-US" altLang="zh-CN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02920" y="2049780"/>
            <a:ext cx="11095990" cy="55194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50000"/>
              </a:lnSpc>
            </a:pPr>
            <a:r>
              <a:rPr 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阶段一：计划任务</a:t>
            </a:r>
            <a:endParaRPr lang="en-US" sz="2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安装程序为32位和64位R77服务创建两个计划任务（$77svc32.job和$77svc64.job），任务通过前缀隐藏。计划任务使用PowerShell命令从注册表加载C#可执行文件并在内存中执行。</a:t>
            </a:r>
            <a:endParaRPr lang="en-US" sz="2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阶段二：Process Hollowing</a:t>
            </a:r>
            <a:endParaRPr lang="en-US" sz="2400" b="1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执行的C#代码（stager）使用Process Hollowing技术创建R77服务进程。父进程设置为winlogon.exe增加欺骗性，进程被ID隐藏，磁盘上从未存储可执行文件。</a:t>
            </a:r>
            <a:endParaRPr lang="en-US" sz="2400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en-US" sz="28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zh-CN" altLang="en-US" sz="280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zh-CN" altLang="en-US" sz="280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502920" y="925195"/>
            <a:ext cx="11408410" cy="607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R77 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控制台：</a:t>
            </a:r>
            <a:r>
              <a:rPr lang="zh-CN" altLang="en-US" sz="280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向单独进程注入</a:t>
            </a:r>
            <a:r>
              <a:rPr lang="en-US" altLang="zh-CN" sz="280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lang="zh-CN" altLang="en-US" sz="2800">
                <a:solidFill>
                  <a:schemeClr val="bg2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77，或解除进程跟Rootkit的绑定关系。</a:t>
            </a:r>
            <a:endParaRPr lang="zh-CN" altLang="en-US" sz="280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实验原理</a:t>
            </a:r>
            <a:endParaRPr lang="en-US" altLang="zh-CN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7905" y="1532890"/>
            <a:ext cx="6891020" cy="53936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实验要求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19" name="AutoShape 13"/>
          <p:cNvSpPr/>
          <p:nvPr>
            <p:custDataLst>
              <p:tags r:id="rId1"/>
            </p:custDataLst>
          </p:nvPr>
        </p:nvSpPr>
        <p:spPr>
          <a:xfrm>
            <a:off x="837565" y="1970238"/>
            <a:ext cx="8131175" cy="62017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15"/>
          <p:cNvSpPr/>
          <p:nvPr>
            <p:custDataLst>
              <p:tags r:id="rId2"/>
            </p:custDataLst>
          </p:nvPr>
        </p:nvSpPr>
        <p:spPr>
          <a:xfrm>
            <a:off x="521335" y="250825"/>
            <a:ext cx="11243945" cy="67360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45000"/>
              </a:lnSpc>
              <a:defRPr/>
            </a:pPr>
            <a:r>
              <a:rPr lang="zh-CN" altLang="en-US" sz="2800" b="1" i="0" u="none" strike="noStrike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实验环境</a:t>
            </a:r>
            <a:endParaRPr lang="zh-CN" altLang="en-US" sz="2800" b="1" i="0" u="none" strike="noStrike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  <a:p>
            <a:pPr marL="342900" indent="-342900" algn="l">
              <a:lnSpc>
                <a:spcPct val="185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8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Windows操作系统</a:t>
            </a:r>
            <a:endParaRPr lang="zh-CN" altLang="en-US" sz="2800" i="0" u="none" strike="noStrike" dirty="0">
              <a:solidFill>
                <a:schemeClr val="bg2">
                  <a:lumMod val="25000"/>
                </a:schemeClr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  <a:p>
            <a:pPr marL="342900" indent="-342900" algn="l">
              <a:lnSpc>
                <a:spcPct val="185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8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Detours函数库</a:t>
            </a:r>
            <a:endParaRPr lang="zh-CN" altLang="en-US" sz="2800" i="0" u="none" strike="noStrike" dirty="0">
              <a:solidFill>
                <a:schemeClr val="bg2">
                  <a:lumMod val="25000"/>
                </a:schemeClr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  <a:p>
            <a:pPr marL="342900" indent="-342900" algn="l">
              <a:lnSpc>
                <a:spcPct val="185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8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R77 Rootkit工具</a:t>
            </a:r>
            <a:endParaRPr lang="zh-CN" altLang="en-US" sz="2800" i="0" u="none" strike="noStrike" dirty="0">
              <a:solidFill>
                <a:schemeClr val="bg2">
                  <a:lumMod val="25000"/>
                </a:schemeClr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  <a:p>
            <a:pPr indent="0" algn="l" fontAlgn="auto" latinLnBrk="1">
              <a:lnSpc>
                <a:spcPct val="145000"/>
              </a:lnSpc>
              <a:buClrTx/>
              <a:buSzTx/>
              <a:buFontTx/>
              <a:defRPr/>
            </a:pPr>
            <a:r>
              <a:rPr lang="en-US" altLang="zh-CN" sz="2400" i="0" u="none" strike="noStrike" dirty="0">
                <a:solidFill>
                  <a:schemeClr val="bg2">
                    <a:lumMod val="50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——</a:t>
            </a:r>
            <a:r>
              <a:rPr lang="zh-CN" altLang="en-US" sz="2400" i="0" u="none" strike="noStrike" dirty="0">
                <a:solidFill>
                  <a:schemeClr val="bg2">
                    <a:lumMod val="50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R77工具下载地址：</a:t>
            </a:r>
            <a:r>
              <a:rPr lang="en-US" altLang="zh-CN" sz="2400" i="0" u="none" strike="noStrike" dirty="0">
                <a:solidFill>
                  <a:schemeClr val="bg2">
                    <a:lumMod val="50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https://bytecode77.com/r77-rootkit</a:t>
            </a:r>
            <a:endParaRPr lang="en-US" altLang="zh-CN" sz="2400" i="0" u="none" strike="noStrike" dirty="0">
              <a:solidFill>
                <a:schemeClr val="bg2">
                  <a:lumMod val="50000"/>
                </a:schemeClr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  <a:p>
            <a:pPr indent="0" algn="l" fontAlgn="auto" latinLnBrk="1">
              <a:lnSpc>
                <a:spcPct val="145000"/>
              </a:lnSpc>
              <a:buClrTx/>
              <a:buSzTx/>
              <a:buFontTx/>
              <a:defRPr/>
            </a:pPr>
            <a:r>
              <a:rPr lang="en-US" altLang="zh-CN" sz="2400" i="0" u="none" strike="noStrike" dirty="0">
                <a:solidFill>
                  <a:schemeClr val="bg2">
                    <a:lumMod val="50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——</a:t>
            </a:r>
            <a:r>
              <a:rPr lang="zh-CN" altLang="en-US" sz="2400" i="0" u="none" strike="noStrike" dirty="0">
                <a:solidFill>
                  <a:schemeClr val="bg2">
                    <a:lumMod val="50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R77的技术文档下载地址：</a:t>
            </a:r>
            <a:r>
              <a:rPr lang="en-US" altLang="zh-CN" sz="2400" i="0" u="none" strike="noStrike" dirty="0">
                <a:solidFill>
                  <a:schemeClr val="bg2">
                    <a:lumMod val="50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https://docs.bytecode77.com/r77-rootkit/Technical%20Documentation.pdf</a:t>
            </a:r>
            <a:endParaRPr lang="en-US" altLang="zh-CN" sz="2400" i="0" u="none" strike="noStrike" dirty="0">
              <a:solidFill>
                <a:schemeClr val="bg2">
                  <a:lumMod val="50000"/>
                </a:schemeClr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  <a:p>
            <a:pPr marL="342900" indent="-342900" algn="l">
              <a:lnSpc>
                <a:spcPct val="175000"/>
              </a:lnSpc>
              <a:buFont typeface="Arial" panose="020B0604020202020204" pitchFamily="34" charset="0"/>
              <a:buChar char="•"/>
              <a:defRPr/>
            </a:pPr>
            <a:endParaRPr lang="en-US" altLang="zh-CN" sz="2400" b="0" i="0" u="none" strike="noStrike" dirty="0">
              <a:solidFill>
                <a:schemeClr val="bg2">
                  <a:lumMod val="50000"/>
                </a:schemeClr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实验要求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19" name="AutoShape 13"/>
          <p:cNvSpPr/>
          <p:nvPr>
            <p:custDataLst>
              <p:tags r:id="rId1"/>
            </p:custDataLst>
          </p:nvPr>
        </p:nvSpPr>
        <p:spPr>
          <a:xfrm>
            <a:off x="837565" y="1970238"/>
            <a:ext cx="8131175" cy="620174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15"/>
          <p:cNvSpPr/>
          <p:nvPr>
            <p:custDataLst>
              <p:tags r:id="rId2"/>
            </p:custDataLst>
          </p:nvPr>
        </p:nvSpPr>
        <p:spPr>
          <a:xfrm>
            <a:off x="521335" y="0"/>
            <a:ext cx="11243945" cy="67360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45000"/>
              </a:lnSpc>
              <a:defRPr/>
            </a:pPr>
            <a:r>
              <a:rPr lang="zh-CN" altLang="en-US" sz="2800" b="1" i="0" u="none" strike="noStrike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实验内容</a:t>
            </a:r>
            <a:endParaRPr lang="zh-CN" altLang="en-US" sz="2800" b="1" i="0" u="none" strike="noStrike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  <a:p>
            <a:pPr indent="0" algn="l">
              <a:lnSpc>
                <a:spcPct val="185000"/>
              </a:lnSpc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400" b="0" i="0" u="none" strike="noStrike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（1）使用</a:t>
            </a:r>
            <a:r>
              <a:rPr lang="en-US" altLang="zh-CN" sz="2400" b="0" i="0" u="none" strike="noStrike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Detours</a:t>
            </a:r>
            <a:r>
              <a:rPr lang="zh-CN" altLang="en-US" sz="2400" b="0" i="0" u="none" strike="noStrike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库，实现对</a:t>
            </a:r>
            <a:r>
              <a:rPr lang="en-US" altLang="zh-CN" sz="2400" b="0" i="0" u="none" strike="noStrike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Windows API</a:t>
            </a:r>
            <a:r>
              <a:rPr lang="zh-CN" altLang="en-US" sz="2400" b="0" i="0" u="none" strike="noStrike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函数进行挂钩</a:t>
            </a:r>
            <a:r>
              <a:rPr lang="en-US" altLang="zh-CN" sz="2400" b="0" i="0" u="none" strike="noStrike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Hook，</a:t>
            </a:r>
            <a:r>
              <a:rPr lang="zh-CN" altLang="en-US" sz="2400" b="0" i="0" u="none" strike="noStrike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不影响函数的正常执行，将</a:t>
            </a:r>
            <a:r>
              <a:rPr lang="en-US" altLang="zh-CN" sz="2400" b="0" i="0" u="none" strike="noStrike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API</a:t>
            </a:r>
            <a:r>
              <a:rPr lang="zh-CN" altLang="en-US" sz="2400" b="0" i="0" u="none" strike="noStrike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函数调用的参数输出到文件中；</a:t>
            </a:r>
            <a:endParaRPr lang="zh-CN" altLang="en-US" sz="2400" b="0" i="0" u="none" strike="noStrike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  <a:p>
            <a:pPr indent="0" algn="l">
              <a:lnSpc>
                <a:spcPct val="185000"/>
              </a:lnSpc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400" b="0" i="0" u="none" strike="noStrike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（2）安装并使用</a:t>
            </a:r>
            <a:r>
              <a:rPr lang="en-US" altLang="zh-CN" sz="2400" b="0" i="0" u="none" strike="noStrike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R77 Rootkit</a:t>
            </a:r>
            <a:r>
              <a:rPr lang="zh-CN" altLang="en-US" sz="2400" b="0" i="0" u="none" strike="noStrike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工具，隐藏系统的文件、进程、注册表项、网络链接；</a:t>
            </a:r>
            <a:endParaRPr lang="zh-CN" altLang="en-US" sz="2400" b="0" i="0" u="none" strike="noStrike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  <a:p>
            <a:pPr indent="0" algn="l">
              <a:lnSpc>
                <a:spcPct val="185000"/>
              </a:lnSpc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400" b="0" i="0" u="none" strike="noStrike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（3）基于</a:t>
            </a:r>
            <a:r>
              <a:rPr lang="en-US" altLang="zh-CN" sz="2400" b="0" i="0" u="none" strike="noStrike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Detours</a:t>
            </a:r>
            <a:r>
              <a:rPr lang="zh-CN" altLang="en-US" sz="2400" b="0" i="0" u="none" strike="noStrike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和</a:t>
            </a:r>
            <a:r>
              <a:rPr lang="en-US" altLang="zh-CN" sz="2400" b="0" i="0" u="none" strike="noStrike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R77</a:t>
            </a:r>
            <a:r>
              <a:rPr lang="zh-CN" altLang="en-US" sz="2400" b="0" i="0" u="none" strike="noStrike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开发一套</a:t>
            </a:r>
            <a:r>
              <a:rPr lang="en-US" altLang="zh-CN" sz="2400" b="0" i="0" u="none" strike="noStrike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Windows</a:t>
            </a:r>
            <a:r>
              <a:rPr lang="zh-CN" altLang="en-US" sz="2400" b="0" i="0" u="none" strike="noStrike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系统的行为监控工具，能够至少记录当前系统的一类操作行为，例如文件操作监控工具、进程创建监控工具、注册表操作监控工具、网络连接监控工具等等。</a:t>
            </a:r>
            <a:endParaRPr lang="zh-CN" altLang="en-US" sz="2400" b="0" i="0" u="none" strike="noStrike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实验要求</a:t>
            </a:r>
            <a:endParaRPr lang="en-US" altLang="zh-CN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57383" y="784945"/>
            <a:ext cx="9721031" cy="5262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  <a:buClrTx/>
              <a:buSzTx/>
              <a:buNone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+mn-ea"/>
                <a:cs typeface="Helvetica" panose="020B0604020202020204" pitchFamily="34" charset="0"/>
              </a:rPr>
              <a:t>实验时间：</a:t>
            </a:r>
            <a:r>
              <a:rPr lang="zh-CN" altLang="en-US" sz="2800" dirty="0">
                <a:solidFill>
                  <a:schemeClr val="bg2">
                    <a:lumMod val="2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2周</a:t>
            </a:r>
            <a:endParaRPr lang="zh-CN" altLang="en-US" sz="2800" dirty="0"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+mn-ea"/>
                <a:cs typeface="Helvetica" panose="020B0604020202020204" pitchFamily="34" charset="0"/>
              </a:rPr>
              <a:t>报告内容：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+mn-ea"/>
              <a:cs typeface="Helvetica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zh-CN" altLang="en-US" sz="2800" dirty="0">
                <a:solidFill>
                  <a:schemeClr val="bg2">
                    <a:lumMod val="2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（1）完整的实验流程（截图）；</a:t>
            </a:r>
            <a:endParaRPr lang="zh-CN" altLang="en-US" sz="2800" dirty="0">
              <a:solidFill>
                <a:schemeClr val="bg2">
                  <a:lumMod val="25000"/>
                </a:schemeClr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dirty="0">
                <a:solidFill>
                  <a:schemeClr val="bg2">
                    <a:lumMod val="2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（2）实验关键步骤解析；</a:t>
            </a:r>
            <a:endParaRPr lang="zh-CN" altLang="en-US" sz="2800" dirty="0">
              <a:solidFill>
                <a:schemeClr val="bg2">
                  <a:lumMod val="25000"/>
                </a:schemeClr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dirty="0">
                <a:solidFill>
                  <a:schemeClr val="bg2">
                    <a:lumMod val="2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（3）实验心得体会。</a:t>
            </a:r>
            <a:endParaRPr lang="zh-CN" altLang="en-US" sz="2800" dirty="0">
              <a:solidFill>
                <a:schemeClr val="bg2">
                  <a:lumMod val="25000"/>
                </a:schemeClr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200000"/>
              </a:lnSpc>
              <a:buClrTx/>
              <a:buSzTx/>
              <a:buFontTx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+mn-ea"/>
                <a:cs typeface="Helvetica" panose="020B0604020202020204" pitchFamily="34" charset="0"/>
              </a:rPr>
              <a:t>提交</a:t>
            </a:r>
            <a:r>
              <a:rPr lang="zh-CN" altLang="en-US" sz="2800" b="1">
                <a:solidFill>
                  <a:schemeClr val="bg2">
                    <a:lumMod val="25000"/>
                  </a:schemeClr>
                </a:solidFill>
                <a:latin typeface="+mn-ea"/>
                <a:cs typeface="Helvetica" panose="020B0604020202020204" pitchFamily="34" charset="0"/>
              </a:rPr>
              <a:t>方式：</a:t>
            </a:r>
            <a:r>
              <a:rPr lang="zh-CN" altLang="en-US" sz="2800" dirty="0">
                <a:solidFill>
                  <a:schemeClr val="bg2">
                    <a:lumMod val="2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智慧课堂</a:t>
            </a:r>
            <a:endParaRPr lang="zh-CN" altLang="en-US" sz="2800" dirty="0">
              <a:solidFill>
                <a:schemeClr val="bg2">
                  <a:lumMod val="25000"/>
                </a:schemeClr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27.41313559322035,&quot;left&quot;:22.55,&quot;top&quot;:210.58686440677965,&quot;width&quot;:641}"/>
</p:tagLst>
</file>

<file path=ppt/tags/tag2.xml><?xml version="1.0" encoding="utf-8"?>
<p:tagLst xmlns:p="http://schemas.openxmlformats.org/presentationml/2006/main">
  <p:tag name="KSO_WM_DIAGRAM_VIRTUALLY_FRAME" val="{&quot;height&quot;:227.41313559322035,&quot;left&quot;:22.55,&quot;top&quot;:210.58686440677965,&quot;width&quot;:641}"/>
</p:tagLst>
</file>

<file path=ppt/tags/tag3.xml><?xml version="1.0" encoding="utf-8"?>
<p:tagLst xmlns:p="http://schemas.openxmlformats.org/presentationml/2006/main">
  <p:tag name="KSO_WM_DIAGRAM_VIRTUALLY_FRAME" val="{&quot;height&quot;:227.41313559322035,&quot;left&quot;:22.55,&quot;top&quot;:210.58686440677965,&quot;width&quot;:641}"/>
</p:tagLst>
</file>

<file path=ppt/tags/tag4.xml><?xml version="1.0" encoding="utf-8"?>
<p:tagLst xmlns:p="http://schemas.openxmlformats.org/presentationml/2006/main">
  <p:tag name="KSO_WM_DIAGRAM_VIRTUALLY_FRAME" val="{&quot;height&quot;:227.41313559322035,&quot;left&quot;:22.55,&quot;top&quot;:210.58686440677965,&quot;width&quot;:641}"/>
</p:tagLst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E0C6E"/>
      </a:accent1>
      <a:accent2>
        <a:srgbClr val="983D8B"/>
      </a:accent2>
      <a:accent3>
        <a:srgbClr val="B26DA8"/>
      </a:accent3>
      <a:accent4>
        <a:srgbClr val="CB9EC5"/>
      </a:accent4>
      <a:accent5>
        <a:srgbClr val="7E0C6E"/>
      </a:accent5>
      <a:accent6>
        <a:srgbClr val="983D8B"/>
      </a:accent6>
      <a:hlink>
        <a:srgbClr val="B26DA8"/>
      </a:hlink>
      <a:folHlink>
        <a:srgbClr val="CB9EC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3114</Words>
  <Application>WPS 演示</Application>
  <PresentationFormat>宽屏</PresentationFormat>
  <Paragraphs>171</Paragraphs>
  <Slides>18</Slides>
  <Notes>48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45" baseType="lpstr">
      <vt:lpstr>Arial</vt:lpstr>
      <vt:lpstr>宋体</vt:lpstr>
      <vt:lpstr>Wingdings</vt:lpstr>
      <vt:lpstr>方正姚体</vt:lpstr>
      <vt:lpstr>微软雅黑</vt:lpstr>
      <vt:lpstr>OPPOSans B</vt:lpstr>
      <vt:lpstr>黑体</vt:lpstr>
      <vt:lpstr>MiSans</vt:lpstr>
      <vt:lpstr>MiSans</vt:lpstr>
      <vt:lpstr>Calibri</vt:lpstr>
      <vt:lpstr>Noto Sans SC</vt:lpstr>
      <vt:lpstr>Noto Sans SC</vt:lpstr>
      <vt:lpstr>Times New Roman</vt:lpstr>
      <vt:lpstr>等线</vt:lpstr>
      <vt:lpstr>Helvetica</vt:lpstr>
      <vt:lpstr>Arial Unicode MS</vt:lpstr>
      <vt:lpstr>MiSans Semibold</vt:lpstr>
      <vt:lpstr>MiSans</vt:lpstr>
      <vt:lpstr>OPPOSans B</vt:lpstr>
      <vt:lpstr>The best part</vt:lpstr>
      <vt:lpstr>Helvetica LT Pro</vt:lpstr>
      <vt:lpstr>-apple-system</vt:lpstr>
      <vt:lpstr>-apple-system</vt:lpstr>
      <vt:lpstr>Liter</vt:lpstr>
      <vt:lpstr>Liter</vt:lpstr>
      <vt:lpstr>Liter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邓邓邓邓</cp:lastModifiedBy>
  <cp:revision>20</cp:revision>
  <dcterms:created xsi:type="dcterms:W3CDTF">2025-02-15T09:33:00Z</dcterms:created>
  <dcterms:modified xsi:type="dcterms:W3CDTF">2026-04-20T03:33:02Z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C84335BEE6724184ADCD389D13407674_12</vt:lpwstr>
  </property>
</Properties>
</file>