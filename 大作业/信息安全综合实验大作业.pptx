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sldIdLst>
    <p:sldId id="256" r:id="rId3"/>
    <p:sldId id="281" r:id="rId5"/>
    <p:sldId id="369" r:id="rId6"/>
    <p:sldId id="370" r:id="rId7"/>
    <p:sldId id="372" r:id="rId8"/>
    <p:sldId id="373" r:id="rId9"/>
    <p:sldId id="371" r:id="rId10"/>
    <p:sldId id="37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45" userDrawn="1">
          <p15:clr>
            <a:srgbClr val="A4A3A4"/>
          </p15:clr>
        </p15:guide>
        <p15:guide id="2" pos="7210" userDrawn="1">
          <p15:clr>
            <a:srgbClr val="A4A3A4"/>
          </p15:clr>
        </p15:guide>
        <p15:guide id="4" orient="horz" pos="740" userDrawn="1">
          <p15:clr>
            <a:srgbClr val="A4A3A4"/>
          </p15:clr>
        </p15:guide>
        <p15:guide id="6" orient="horz" pos="394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1960"/>
    <a:srgbClr val="E0ECEC"/>
    <a:srgbClr val="AF6243"/>
    <a:srgbClr val="963A89"/>
    <a:srgbClr val="BA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08" autoAdjust="0"/>
    <p:restoredTop sz="87267" autoAdjust="0"/>
  </p:normalViewPr>
  <p:slideViewPr>
    <p:cSldViewPr snapToGrid="0" showGuides="1">
      <p:cViewPr varScale="1">
        <p:scale>
          <a:sx n="99" d="100"/>
          <a:sy n="99" d="100"/>
        </p:scale>
        <p:origin x="462" y="468"/>
      </p:cViewPr>
      <p:guideLst>
        <p:guide pos="445"/>
        <p:guide pos="7210"/>
        <p:guide orient="horz" pos="740"/>
        <p:guide orient="horz" pos="39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346C-DBD4-4BA1-8637-CDB6350037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B303E-9509-43EB-82BC-E8081B9B319F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644281" y="-127000"/>
            <a:ext cx="6863362" cy="6858000"/>
          </a:xfrm>
          <a:custGeom>
            <a:avLst/>
            <a:gdLst>
              <a:gd name="connsiteX0" fmla="*/ 0 w 6863362"/>
              <a:gd name="connsiteY0" fmla="*/ 0 h 6858000"/>
              <a:gd name="connsiteX1" fmla="*/ 6863362 w 6863362"/>
              <a:gd name="connsiteY1" fmla="*/ 0 h 6858000"/>
              <a:gd name="connsiteX2" fmla="*/ 6863362 w 6863362"/>
              <a:gd name="connsiteY2" fmla="*/ 6858000 h 6858000"/>
              <a:gd name="connsiteX3" fmla="*/ 2644281 w 6863362"/>
              <a:gd name="connsiteY3" fmla="*/ 6858000 h 6858000"/>
              <a:gd name="connsiteX4" fmla="*/ 2644281 w 6863362"/>
              <a:gd name="connsiteY4" fmla="*/ 127000 h 6858000"/>
              <a:gd name="connsiteX5" fmla="*/ 0 w 6863362"/>
              <a:gd name="connsiteY5" fmla="*/ 127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3362" h="6858000">
                <a:moveTo>
                  <a:pt x="0" y="0"/>
                </a:moveTo>
                <a:lnTo>
                  <a:pt x="6863362" y="0"/>
                </a:lnTo>
                <a:lnTo>
                  <a:pt x="6863362" y="6858000"/>
                </a:lnTo>
                <a:lnTo>
                  <a:pt x="2644281" y="6858000"/>
                </a:lnTo>
                <a:lnTo>
                  <a:pt x="2644281" y="127000"/>
                </a:lnTo>
                <a:lnTo>
                  <a:pt x="0" y="127000"/>
                </a:lnTo>
                <a:close/>
              </a:path>
            </a:pathLst>
          </a:custGeom>
        </p:spPr>
      </p:pic>
      <p:sp>
        <p:nvSpPr>
          <p:cNvPr id="22" name="任意多边形: 形状 21"/>
          <p:cNvSpPr/>
          <p:nvPr userDrawn="1"/>
        </p:nvSpPr>
        <p:spPr>
          <a:xfrm>
            <a:off x="0" y="0"/>
            <a:ext cx="4203700" cy="6858000"/>
          </a:xfrm>
          <a:custGeom>
            <a:avLst/>
            <a:gdLst>
              <a:gd name="connsiteX0" fmla="*/ 0 w 4255840"/>
              <a:gd name="connsiteY0" fmla="*/ 0 h 6858000"/>
              <a:gd name="connsiteX1" fmla="*/ 4255840 w 4255840"/>
              <a:gd name="connsiteY1" fmla="*/ 0 h 6858000"/>
              <a:gd name="connsiteX2" fmla="*/ 4255840 w 4255840"/>
              <a:gd name="connsiteY2" fmla="*/ 6858000 h 6858000"/>
              <a:gd name="connsiteX3" fmla="*/ 0 w 4255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5840" h="6858000">
                <a:moveTo>
                  <a:pt x="0" y="0"/>
                </a:moveTo>
                <a:lnTo>
                  <a:pt x="4255840" y="0"/>
                </a:lnTo>
                <a:lnTo>
                  <a:pt x="42558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rcRect l="16120" r="9557"/>
          <a:stretch>
            <a:fillRect/>
          </a:stretch>
        </p:blipFill>
        <p:spPr>
          <a:xfrm>
            <a:off x="0" y="2051499"/>
            <a:ext cx="12192000" cy="4304851"/>
          </a:xfrm>
          <a:custGeom>
            <a:avLst/>
            <a:gdLst>
              <a:gd name="connsiteX0" fmla="*/ 0 w 12192000"/>
              <a:gd name="connsiteY0" fmla="*/ 0 h 4304851"/>
              <a:gd name="connsiteX1" fmla="*/ 12192000 w 12192000"/>
              <a:gd name="connsiteY1" fmla="*/ 0 h 4304851"/>
              <a:gd name="connsiteX2" fmla="*/ 12192000 w 12192000"/>
              <a:gd name="connsiteY2" fmla="*/ 4304851 h 4304851"/>
              <a:gd name="connsiteX3" fmla="*/ 0 w 12192000"/>
              <a:gd name="connsiteY3" fmla="*/ 4304851 h 43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04851">
                <a:moveTo>
                  <a:pt x="0" y="0"/>
                </a:moveTo>
                <a:lnTo>
                  <a:pt x="12192000" y="0"/>
                </a:lnTo>
                <a:lnTo>
                  <a:pt x="12192000" y="4304851"/>
                </a:lnTo>
                <a:lnTo>
                  <a:pt x="0" y="4304851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4" name="椭圆 13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164-2FFE-4AE3-99C1-50E603FC7A8B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/>
        </p:nvSpPr>
        <p:spPr>
          <a:xfrm>
            <a:off x="0" y="1949450"/>
            <a:ext cx="12192000" cy="2959100"/>
          </a:xfrm>
          <a:custGeom>
            <a:avLst/>
            <a:gdLst>
              <a:gd name="connsiteX0" fmla="*/ 11512367 w 12192000"/>
              <a:gd name="connsiteY0" fmla="*/ 0 h 2959100"/>
              <a:gd name="connsiteX1" fmla="*/ 12192000 w 12192000"/>
              <a:gd name="connsiteY1" fmla="*/ 0 h 2959100"/>
              <a:gd name="connsiteX2" fmla="*/ 12192000 w 12192000"/>
              <a:gd name="connsiteY2" fmla="*/ 2959100 h 2959100"/>
              <a:gd name="connsiteX3" fmla="*/ 10694916 w 12192000"/>
              <a:gd name="connsiteY3" fmla="*/ 2959100 h 2959100"/>
              <a:gd name="connsiteX4" fmla="*/ 0 w 12192000"/>
              <a:gd name="connsiteY4" fmla="*/ 0 h 2959100"/>
              <a:gd name="connsiteX5" fmla="*/ 4632159 w 12192000"/>
              <a:gd name="connsiteY5" fmla="*/ 0 h 2959100"/>
              <a:gd name="connsiteX6" fmla="*/ 3814707 w 12192000"/>
              <a:gd name="connsiteY6" fmla="*/ 2959100 h 2959100"/>
              <a:gd name="connsiteX7" fmla="*/ 0 w 12192000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59100">
                <a:moveTo>
                  <a:pt x="11512367" y="0"/>
                </a:moveTo>
                <a:lnTo>
                  <a:pt x="12192000" y="0"/>
                </a:lnTo>
                <a:lnTo>
                  <a:pt x="12192000" y="2959100"/>
                </a:lnTo>
                <a:lnTo>
                  <a:pt x="10694916" y="2959100"/>
                </a:lnTo>
                <a:close/>
                <a:moveTo>
                  <a:pt x="0" y="0"/>
                </a:moveTo>
                <a:lnTo>
                  <a:pt x="4632159" y="0"/>
                </a:lnTo>
                <a:lnTo>
                  <a:pt x="3814707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8" y="2335819"/>
            <a:ext cx="2186361" cy="21863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/>
          <p:cNvSpPr/>
          <p:nvPr userDrawn="1"/>
        </p:nvSpPr>
        <p:spPr>
          <a:xfrm>
            <a:off x="0" y="2514600"/>
            <a:ext cx="12192000" cy="1905000"/>
          </a:xfrm>
          <a:prstGeom prst="rightArrow">
            <a:avLst/>
          </a:prstGeom>
          <a:gradFill>
            <a:gsLst>
              <a:gs pos="1000">
                <a:schemeClr val="bg1">
                  <a:alpha val="59000"/>
                </a:schemeClr>
              </a:gs>
              <a:gs pos="100000">
                <a:schemeClr val="accent1">
                  <a:alpha val="44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295400" y="1524000"/>
            <a:ext cx="2819400" cy="4114800"/>
            <a:chOff x="1282700" y="1536700"/>
            <a:chExt cx="3429000" cy="4305300"/>
          </a:xfrm>
        </p:grpSpPr>
        <p:sp>
          <p:nvSpPr>
            <p:cNvPr id="18" name="任意多边形: 形状 17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4699000" y="1524000"/>
            <a:ext cx="2819400" cy="4114800"/>
            <a:chOff x="1282700" y="1536700"/>
            <a:chExt cx="3429000" cy="4305300"/>
          </a:xfrm>
        </p:grpSpPr>
        <p:sp>
          <p:nvSpPr>
            <p:cNvPr id="21" name="任意多边形: 形状 20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8102600" y="1524000"/>
            <a:ext cx="2819400" cy="4114800"/>
            <a:chOff x="1282700" y="1536700"/>
            <a:chExt cx="3429000" cy="4305300"/>
          </a:xfrm>
        </p:grpSpPr>
        <p:sp>
          <p:nvSpPr>
            <p:cNvPr id="24" name="任意多边形: 形状 23"/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: 形状 24"/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图片占位符 29"/>
          <p:cNvSpPr>
            <a:spLocks noGrp="1"/>
          </p:cNvSpPr>
          <p:nvPr>
            <p:ph type="pic" sz="quarter" idx="10"/>
          </p:nvPr>
        </p:nvSpPr>
        <p:spPr>
          <a:xfrm>
            <a:off x="1612900" y="2641600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1" name="图片占位符 29"/>
          <p:cNvSpPr>
            <a:spLocks noGrp="1"/>
          </p:cNvSpPr>
          <p:nvPr>
            <p:ph type="pic" sz="quarter" idx="11"/>
          </p:nvPr>
        </p:nvSpPr>
        <p:spPr>
          <a:xfrm>
            <a:off x="5043862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8427959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5" name="图片占位符 14"/>
          <p:cNvSpPr>
            <a:spLocks noGrp="1"/>
          </p:cNvSpPr>
          <p:nvPr>
            <p:ph type="pic" sz="quarter" idx="10"/>
          </p:nvPr>
        </p:nvSpPr>
        <p:spPr>
          <a:xfrm>
            <a:off x="1758492" y="1542215"/>
            <a:ext cx="3961348" cy="4373767"/>
          </a:xfrm>
          <a:custGeom>
            <a:avLst/>
            <a:gdLst>
              <a:gd name="connsiteX0" fmla="*/ 639544 w 3961348"/>
              <a:gd name="connsiteY0" fmla="*/ 130 h 4373767"/>
              <a:gd name="connsiteX1" fmla="*/ 975085 w 3961348"/>
              <a:gd name="connsiteY1" fmla="*/ 87187 h 4373767"/>
              <a:gd name="connsiteX2" fmla="*/ 3634977 w 3961348"/>
              <a:gd name="connsiteY2" fmla="*/ 1621488 h 4373767"/>
              <a:gd name="connsiteX3" fmla="*/ 3637187 w 3961348"/>
              <a:gd name="connsiteY3" fmla="*/ 2748680 h 4373767"/>
              <a:gd name="connsiteX4" fmla="*/ 988209 w 3961348"/>
              <a:gd name="connsiteY4" fmla="*/ 4285044 h 4373767"/>
              <a:gd name="connsiteX5" fmla="*/ 10915 w 3961348"/>
              <a:gd name="connsiteY5" fmla="*/ 3723385 h 4373767"/>
              <a:gd name="connsiteX6" fmla="*/ 1 w 3961348"/>
              <a:gd name="connsiteY6" fmla="*/ 652720 h 4373767"/>
              <a:gd name="connsiteX7" fmla="*/ 639544 w 3961348"/>
              <a:gd name="connsiteY7" fmla="*/ 130 h 437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1348" h="4373767">
                <a:moveTo>
                  <a:pt x="639544" y="130"/>
                </a:moveTo>
                <a:cubicBezTo>
                  <a:pt x="751351" y="-2124"/>
                  <a:pt x="866584" y="24931"/>
                  <a:pt x="975085" y="87187"/>
                </a:cubicBezTo>
                <a:cubicBezTo>
                  <a:pt x="975085" y="87187"/>
                  <a:pt x="975085" y="87187"/>
                  <a:pt x="3634977" y="1621488"/>
                </a:cubicBezTo>
                <a:cubicBezTo>
                  <a:pt x="4068980" y="1870511"/>
                  <a:pt x="4070558" y="2497332"/>
                  <a:pt x="3637187" y="2748680"/>
                </a:cubicBezTo>
                <a:cubicBezTo>
                  <a:pt x="3637187" y="2748680"/>
                  <a:pt x="3637187" y="2748680"/>
                  <a:pt x="988209" y="4285044"/>
                </a:cubicBezTo>
                <a:cubicBezTo>
                  <a:pt x="554839" y="4536392"/>
                  <a:pt x="11547" y="4223756"/>
                  <a:pt x="10915" y="3723385"/>
                </a:cubicBezTo>
                <a:cubicBezTo>
                  <a:pt x="10915" y="3723385"/>
                  <a:pt x="10915" y="3723385"/>
                  <a:pt x="1" y="652720"/>
                </a:cubicBezTo>
                <a:cubicBezTo>
                  <a:pt x="-473" y="277442"/>
                  <a:pt x="304122" y="6893"/>
                  <a:pt x="639544" y="1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6604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64262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403040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图片占位符 2"/>
          <p:cNvSpPr>
            <a:spLocks noGrp="1"/>
          </p:cNvSpPr>
          <p:nvPr>
            <p:ph type="pic" sz="quarter" idx="12"/>
          </p:nvPr>
        </p:nvSpPr>
        <p:spPr>
          <a:xfrm>
            <a:off x="3854186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图片占位符 2"/>
          <p:cNvSpPr>
            <a:spLocks noGrp="1"/>
          </p:cNvSpPr>
          <p:nvPr>
            <p:ph type="pic" sz="quarter" idx="13"/>
          </p:nvPr>
        </p:nvSpPr>
        <p:spPr>
          <a:xfrm>
            <a:off x="6305333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图片占位符 2"/>
          <p:cNvSpPr>
            <a:spLocks noGrp="1"/>
          </p:cNvSpPr>
          <p:nvPr>
            <p:ph type="pic" sz="quarter" idx="11"/>
          </p:nvPr>
        </p:nvSpPr>
        <p:spPr>
          <a:xfrm>
            <a:off x="8756479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946150" y="1315711"/>
            <a:ext cx="4819650" cy="4703259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1413230" y="1519576"/>
            <a:ext cx="4352570" cy="4295531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7"/>
          <p:cNvSpPr/>
          <p:nvPr userDrawn="1"/>
        </p:nvSpPr>
        <p:spPr bwMode="auto">
          <a:xfrm>
            <a:off x="3216200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5" name="Freeform 17"/>
          <p:cNvSpPr/>
          <p:nvPr userDrawn="1"/>
        </p:nvSpPr>
        <p:spPr bwMode="auto">
          <a:xfrm>
            <a:off x="6378832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7"/>
          <p:cNvSpPr/>
          <p:nvPr userDrawn="1"/>
        </p:nvSpPr>
        <p:spPr bwMode="auto">
          <a:xfrm>
            <a:off x="9541465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/>
          <p:cNvSpPr/>
          <p:nvPr userDrawn="1"/>
        </p:nvSpPr>
        <p:spPr bwMode="auto">
          <a:xfrm>
            <a:off x="53568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-6333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3120904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6248140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9375377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监视器, 电子产品, 室内, 就坐&#10;&#10;自动生成的说明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22" y="449217"/>
            <a:ext cx="2871578" cy="5959565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5003800" y="1130300"/>
            <a:ext cx="2578100" cy="45974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4" name="椭圆 3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6" name="椭圆 15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grpSp>
        <p:nvGrpSpPr>
          <p:cNvPr id="12" name="组合 11"/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13" name="椭圆 12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7" name="椭圆 16"/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  <a:endParaRPr lang="zh-CN" altLang="en-US" sz="14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44" y="747146"/>
            <a:ext cx="6544112" cy="6134100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3454400" y="1485900"/>
            <a:ext cx="5422900" cy="30480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70A4-4E3B-4F56-8FDD-F1EB4BDF678E}" type="datetime2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5DDA-53DD-4495-A1F6-B439BDA050E0}" type="datetime2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606B-CFB8-465D-A34A-AC76AB192DCE}" type="datetime2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9A2B-D617-4E97-B74E-572C8892BBDF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1933-39CF-414B-8F3E-1FA80C540CBD}" type="datetime2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B35B4-13DE-41D0-989F-92F8B73463C4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A381-2652-4789-B703-8168BBF1FDD9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D340-5E09-4D59-97A7-00D321553642}" type="datetime2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4"/>
          <p:cNvSpPr txBox="1"/>
          <p:nvPr/>
        </p:nvSpPr>
        <p:spPr>
          <a:xfrm>
            <a:off x="1555115" y="2036445"/>
            <a:ext cx="9157335" cy="109601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信息安全综合实验大作业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22" name="内容占位符 14"/>
          <p:cNvSpPr txBox="1"/>
          <p:nvPr/>
        </p:nvSpPr>
        <p:spPr>
          <a:xfrm>
            <a:off x="2897718" y="4116665"/>
            <a:ext cx="6472255" cy="10433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000" dirty="0">
                <a:solidFill>
                  <a:srgbClr val="771960"/>
                </a:solidFill>
                <a:ea typeface="微软雅黑" panose="020B0503020204020204" pitchFamily="34" charset="-122"/>
              </a:rPr>
              <a:t>2026年</a:t>
            </a:r>
            <a:r>
              <a:rPr lang="zh-CN" altLang="en-US" sz="2000" dirty="0">
                <a:solidFill>
                  <a:srgbClr val="771960"/>
                </a:solidFill>
                <a:ea typeface="微软雅黑" panose="020B0503020204020204" pitchFamily="34" charset="-122"/>
              </a:rPr>
              <a:t>5月</a:t>
            </a:r>
            <a:endParaRPr lang="zh-CN" altLang="en-US" sz="2000" dirty="0">
              <a:solidFill>
                <a:srgbClr val="771960"/>
              </a:solidFill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210295" y="3557570"/>
            <a:ext cx="1661328" cy="324811"/>
            <a:chOff x="7670799" y="3233111"/>
            <a:chExt cx="1661328" cy="324811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8199455" y="34109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328827" y="35579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7670799" y="32331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156" y="586122"/>
            <a:ext cx="863600" cy="8636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338244" y="1287316"/>
            <a:ext cx="1661328" cy="324811"/>
            <a:chOff x="2201844" y="1429711"/>
            <a:chExt cx="1661328" cy="324811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2730500" y="16075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2859872" y="17545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2201844" y="14297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实验选题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04495" y="784860"/>
            <a:ext cx="11383010" cy="572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1. Client-Server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的简单安全通信协议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</a:t>
            </a:r>
            <a:r>
              <a:rPr lang="zh-CN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实现简单的</a:t>
            </a:r>
            <a:r>
              <a:rPr lang="en-US" altLang="zh-CN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UDP</a:t>
            </a:r>
            <a:r>
              <a:rPr lang="zh-CN" altLang="en-US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客户端</a:t>
            </a:r>
            <a:r>
              <a:rPr lang="en-US" altLang="zh-CN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服务器应用程序</a:t>
            </a:r>
            <a:endParaRPr lang="zh-CN" altLang="en-US" sz="2200" dirty="0">
              <a:solidFill>
                <a:schemeClr val="tx1"/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2. </a:t>
            </a:r>
            <a:r>
              <a:rPr 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  <a:sym typeface="+mn-ea"/>
              </a:rPr>
              <a:t>差分隐私数据合成基础实验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——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学习并复现</a:t>
            </a:r>
            <a:r>
              <a:rPr lang="en-US" altLang="zh-CN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MWEM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差分隐私算法</a:t>
            </a:r>
            <a:endParaRPr lang="zh-CN" altLang="en-US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3. </a:t>
            </a:r>
            <a:r>
              <a:rPr 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分布式数据库隐私集合交集的</a:t>
            </a:r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SQL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查询系统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——</a:t>
            </a:r>
            <a:r>
              <a:rPr lang="zh-CN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基于安全多方计算框架</a:t>
            </a:r>
            <a:r>
              <a:rPr lang="en-US" altLang="zh-CN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rosetta</a:t>
            </a: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实现分布式数据库隐私集合求交</a:t>
            </a:r>
            <a:endParaRPr lang="zh-CN" altLang="en-US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  <a:sym typeface="+mn-lt"/>
              </a:rPr>
              <a:t>4. 恶意DGA域名检测系统的简单实现</a:t>
            </a:r>
            <a:endParaRPr 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  <a:sym typeface="+mn-lt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——使用传统机器学习算法训练模型完成恶意DGA域名的识别和检测</a:t>
            </a:r>
            <a:endParaRPr lang="en-US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  <a:sym typeface="+mn-lt"/>
              </a:rPr>
              <a:t>4. 其他选题</a:t>
            </a:r>
            <a:endParaRPr lang="zh-CN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  <a:sym typeface="+mn-lt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——自选其他感兴趣方向</a:t>
            </a:r>
            <a:endParaRPr lang="zh-CN" altLang="en-US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实验要求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04495" y="784860"/>
            <a:ext cx="11383010" cy="572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1. 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以小组为单位完成大作业（建议</a:t>
            </a:r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2-3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人）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2. 10mins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中期汇报（两周后）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  <a:p>
            <a:pPr marL="342900" indent="-34290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环境配置、背景知识学习等准备工作</a:t>
            </a:r>
            <a:endParaRPr lang="zh-CN" altLang="en-US" sz="2200" dirty="0">
              <a:solidFill>
                <a:schemeClr val="tx1"/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小组成员分工</a:t>
            </a:r>
            <a:endParaRPr lang="zh-CN" altLang="en-US" sz="2200" dirty="0">
              <a:solidFill>
                <a:schemeClr val="tx1"/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实验进度及后期工作安排</a:t>
            </a:r>
            <a:endParaRPr lang="zh-CN" altLang="en-US" sz="2200" dirty="0">
              <a:solidFill>
                <a:schemeClr val="tx1"/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chemeClr val="tx1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自选题目：额外介绍选题背景（计划用什么方法解决什么问题）</a:t>
            </a:r>
            <a:endParaRPr lang="zh-CN" altLang="en-US" sz="2200" dirty="0">
              <a:solidFill>
                <a:schemeClr val="tx1"/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3. 10mins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结题汇报（四周后）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  <a:p>
            <a:pPr marL="342900" indent="-34290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实验过程总结</a:t>
            </a:r>
            <a:endParaRPr lang="zh-CN" altLang="en-US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marL="342900" indent="-34290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结果展示</a:t>
            </a:r>
            <a:endParaRPr lang="zh-CN" altLang="en-US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marL="342900" indent="-34290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2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持续改进</a:t>
            </a:r>
            <a:endParaRPr lang="zh-CN" altLang="en-US" sz="22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实验要求</a:t>
            </a:r>
            <a:endParaRPr lang="en-US" alt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49250" y="1042035"/>
            <a:ext cx="11383010" cy="572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实验时间：四周</a:t>
            </a:r>
            <a:endParaRPr lang="zh-CN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提交内容：</a:t>
            </a:r>
            <a:br>
              <a:rPr 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</a:br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中期汇报</a:t>
            </a:r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PPT+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结题汇报</a:t>
            </a:r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PPT+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完整代码文件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（小组任一人上传）</a:t>
            </a:r>
            <a:endParaRPr lang="en-US" altLang="zh-CN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2. </a:t>
            </a: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实验报告（每人上传）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——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重点撰写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本人分工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部分，控制页数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不要超过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30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页</a:t>
            </a:r>
            <a:endParaRPr lang="zh-CN" altLang="en-US" sz="2400" b="1" dirty="0">
              <a:solidFill>
                <a:srgbClr val="FF0000"/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zh-CN" sz="2800" b="1" dirty="0">
                <a:solidFill>
                  <a:schemeClr val="bg2">
                    <a:lumMod val="25000"/>
                  </a:schemeClr>
                </a:soli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  <a:sym typeface="+mn-lt"/>
              </a:rPr>
              <a:t>提交方式：智慧课堂</a:t>
            </a:r>
            <a:endParaRPr lang="zh-CN" sz="2800" b="1" dirty="0">
              <a:solidFill>
                <a:schemeClr val="bg2">
                  <a:lumMod val="25000"/>
                </a:schemeClr>
              </a:soli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选题一：</a:t>
            </a: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Client-Server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的简单安全通信协议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40360" y="784860"/>
            <a:ext cx="11383010" cy="572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zh-CN" sz="2400" b="1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lt"/>
              </a:rPr>
              <a:t>目的：</a:t>
            </a:r>
            <a:r>
              <a:rPr 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实现简单的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UDP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客户端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-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服务器应用程序，在客户端使用口令成功登录后，服务器将文件传输到客户端。</a:t>
            </a:r>
            <a:endParaRPr lang="zh-CN" altLang="en-US" sz="24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zh-CN" sz="2400" b="1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lt"/>
              </a:rPr>
              <a:t>要求：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分别编写客户端、服务器代码，遵循协议规范完成通信。通信过程中数据包格式已给出。即使客户端和服务器运行在不同字节序的计算机上，程序代码也必须保证数据能被正确解析。</a:t>
            </a:r>
            <a:endParaRPr lang="zh-CN" altLang="en-US" sz="24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zh-CN" sz="2400" b="1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lt"/>
              </a:rPr>
              <a:t>进阶要求：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使用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Web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前端或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Qt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完成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GUI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开发，界面通过本地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HTTP/WebSocket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与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C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后端交互；后端须实现异常处理（网络超时、认证失败、字节序错误）及结构化日志记录（含时间戳、事件类型、对端地址等信息），前端可查看日志。</a:t>
            </a:r>
            <a:endParaRPr lang="zh-CN" altLang="en-US" sz="24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选题二：差分隐私数据合成基础实验</a:t>
            </a:r>
            <a:endParaRPr lang="zh-CN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40360" y="959485"/>
            <a:ext cx="11383010" cy="572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zh-CN" sz="2400" b="1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lt"/>
              </a:rPr>
              <a:t>目的：</a:t>
            </a:r>
            <a:r>
              <a:rPr 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学习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MWEM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算法并完成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P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ython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代码实现</a:t>
            </a:r>
            <a:endParaRPr lang="zh-CN" altLang="en-US" sz="24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>
              <a:lnSpc>
                <a:spcPct val="220000"/>
              </a:lnSpc>
              <a:buClrTx/>
              <a:buSzTx/>
              <a:buFontTx/>
              <a:buNone/>
            </a:pPr>
            <a:r>
              <a:rPr lang="zh-CN" sz="2400" b="1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lt"/>
              </a:rPr>
              <a:t>要求：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阅读经典的差分隐私数据合成算法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MWEM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参考论文，在给出的代码框架内，补全算法的各个函数，完成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MWEM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算法复现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。最终提交的代码可运行在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Ubuntu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系统，利用给定的实验数据集生成符合算法要求的数据。</a:t>
            </a:r>
            <a:endParaRPr lang="zh-CN" altLang="en-US" sz="24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zh-CN" sz="2400" b="1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lt"/>
              </a:rPr>
              <a:t>进阶要求：</a:t>
            </a:r>
            <a:r>
              <a:rPr 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在一维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MWEM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算法的基础上进一步实现二维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MWEM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。</a:t>
            </a:r>
            <a:endParaRPr lang="zh-CN" altLang="en-US" sz="24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选题三：分布式数据库隐私集合交集的</a:t>
            </a: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SQL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查询系统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40360" y="959485"/>
            <a:ext cx="11383010" cy="572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zh-CN" sz="2400" b="1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lt"/>
              </a:rPr>
              <a:t>目的：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基于矩阵元开源安全多方计算框架rosetta，使用多线程模拟实现分布式数据库隐私集合交集的SQL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查询系统</a:t>
            </a:r>
            <a:endParaRPr lang="zh-CN" altLang="en-US" sz="24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>
              <a:lnSpc>
                <a:spcPct val="220000"/>
              </a:lnSpc>
              <a:buClrTx/>
              <a:buSzTx/>
              <a:buFontTx/>
              <a:buNone/>
            </a:pPr>
            <a:r>
              <a:rPr lang="zh-CN" sz="2400" b="1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lt"/>
              </a:rPr>
              <a:t>要求：</a:t>
            </a:r>
            <a:endParaRPr lang="zh-CN" sz="2400" b="1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lt"/>
            </a:endParaRPr>
          </a:p>
          <a:p>
            <a:pPr algn="l">
              <a:lnSpc>
                <a:spcPct val="170000"/>
              </a:lnSpc>
              <a:buClrTx/>
              <a:buSzTx/>
              <a:buFontTx/>
              <a:buNone/>
            </a:pP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（1）在rosetta安全多方计算框架上，利用框架提供的安全算子接口，根据代码框架和注释完成相应开发任务；</a:t>
            </a:r>
            <a:endParaRPr lang="zh-CN" altLang="en-US" sz="24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>
              <a:lnSpc>
                <a:spcPct val="170000"/>
              </a:lnSpc>
              <a:buClrTx/>
              <a:buSzTx/>
              <a:buFontTx/>
              <a:buNone/>
            </a:pP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（2）完成隐私集合求交的开发、简单SQL查询语句解析与MPC计算两个模块的开发和整合；</a:t>
            </a:r>
            <a:endParaRPr lang="zh-CN" altLang="en-US" sz="24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>
              <a:lnSpc>
                <a:spcPct val="170000"/>
              </a:lnSpc>
              <a:buClrTx/>
              <a:buSzTx/>
              <a:buFontTx/>
              <a:buNone/>
            </a:pP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（3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）使用多进程模拟参与方通信交互。</a:t>
            </a:r>
            <a:endParaRPr lang="zh-CN" altLang="en-US" sz="24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" name="文本框 64"/>
          <p:cNvSpPr txBox="1"/>
          <p:nvPr/>
        </p:nvSpPr>
        <p:spPr>
          <a:xfrm>
            <a:off x="706120" y="251106"/>
            <a:ext cx="9664564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</a:rPr>
              <a:t>选题四：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恶意</a:t>
            </a: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DGA</a:t>
            </a: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ea typeface="微软雅黑" panose="020B0503020204020204" pitchFamily="34" charset="-122"/>
                <a:cs typeface="OPPOSans B" panose="00020600040101010101" pitchFamily="18" charset="-122"/>
              </a:rPr>
              <a:t>域名检测系统的简单实现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ea typeface="微软雅黑" panose="020B0503020204020204" pitchFamily="34" charset="-122"/>
              <a:cs typeface="OPPOSans B" panose="00020600040101010101" pitchFamily="18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40360" y="959485"/>
            <a:ext cx="11383010" cy="572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zh-CN" sz="2400" b="1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lt"/>
              </a:rPr>
              <a:t>目的：</a:t>
            </a:r>
            <a:r>
              <a:rPr 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使用传统机器学习算法训练模型完成恶意DGA域名的识别和检测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。</a:t>
            </a:r>
            <a:endParaRPr lang="en-US" sz="24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zh-CN" sz="2400" b="1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lt"/>
              </a:rPr>
              <a:t>要求：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（1）理解代码结构，配置环境；（2）补充恶意代码特征提取文件、模型的构造及检测文件，实现基于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KNN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、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SVM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分类器的恶意域名检测；（3）使用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Python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自带的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GUI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库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Tkinter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、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PyQt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编写可视化界面或使用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Flask、Vue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等框架搭建简单的</a:t>
            </a:r>
            <a:r>
              <a:rPr lang="en-US" altLang="zh-CN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Web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应用程序，提供恶意域名检测服务，要求对给出的恶意域名给出检测结果及恶意概率。</a:t>
            </a:r>
            <a:endParaRPr lang="zh-CN" altLang="en-US" sz="24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l">
              <a:lnSpc>
                <a:spcPct val="180000"/>
              </a:lnSpc>
              <a:buClrTx/>
              <a:buSzTx/>
              <a:buFontTx/>
              <a:buNone/>
            </a:pPr>
            <a:r>
              <a:rPr lang="zh-CN" sz="2400" b="1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lt"/>
              </a:rPr>
              <a:t>进阶要求：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（1）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提取更多有区分度的恶意恶意域名特征；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（2）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使用不同算法训练分类器并比较效果及优缺点；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（3）</a:t>
            </a:r>
            <a:r>
              <a:rPr lang="zh-CN" altLang="en-US" sz="2400" dirty="0"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多模型检测结果集成策略的设计与实现。</a:t>
            </a:r>
            <a:endParaRPr lang="zh-CN" altLang="en-US" sz="2400" dirty="0"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1384</Words>
  <Application>WPS 演示</Application>
  <PresentationFormat>宽屏</PresentationFormat>
  <Paragraphs>64</Paragraphs>
  <Slides>8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方正姚体</vt:lpstr>
      <vt:lpstr>微软雅黑</vt:lpstr>
      <vt:lpstr>OPPOSans B</vt:lpstr>
      <vt:lpstr>Calibri</vt:lpstr>
      <vt:lpstr>Arial Unicode MS</vt:lpstr>
      <vt:lpstr>等线</vt:lpstr>
      <vt:lpstr>OPPOSans B</vt:lpstr>
      <vt:lpstr>Segoe Print</vt:lpstr>
      <vt:lpstr>The best part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邓邓邓邓</cp:lastModifiedBy>
  <cp:revision>32</cp:revision>
  <dcterms:created xsi:type="dcterms:W3CDTF">2025-02-15T09:33:00Z</dcterms:created>
  <dcterms:modified xsi:type="dcterms:W3CDTF">2026-05-27T01:36:31Z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C84335BEE6724184ADCD389D13407674_12</vt:lpwstr>
  </property>
</Properties>
</file>