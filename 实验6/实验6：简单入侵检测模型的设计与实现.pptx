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374" r:id="rId6"/>
    <p:sldId id="375" r:id="rId7"/>
    <p:sldId id="376" r:id="rId8"/>
    <p:sldId id="344" r:id="rId9"/>
    <p:sldId id="377" r:id="rId10"/>
    <p:sldId id="378" r:id="rId11"/>
    <p:sldId id="362" r:id="rId12"/>
    <p:sldId id="379" r:id="rId13"/>
    <p:sldId id="321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40" userDrawn="1">
          <p15:clr>
            <a:srgbClr val="A4A3A4"/>
          </p15:clr>
        </p15:guide>
        <p15:guide id="4" orient="horz" pos="632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CC0E6DB-0FA4-4AF2-B390-45F55B966FDF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893F094-1F8A-4E5E-97CB-9E055A52595F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8" autoAdjust="0"/>
    <p:restoredTop sz="87267" autoAdjust="0"/>
  </p:normalViewPr>
  <p:slideViewPr>
    <p:cSldViewPr snapToGrid="0" showGuides="1">
      <p:cViewPr varScale="1">
        <p:scale>
          <a:sx n="99" d="100"/>
          <a:sy n="99" d="100"/>
        </p:scale>
        <p:origin x="462" y="468"/>
      </p:cViewPr>
      <p:guideLst>
        <p:guide pos="445"/>
        <p:guide pos="7240"/>
        <p:guide orient="horz" pos="632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5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8.xml"/><Relationship Id="rId13" Type="http://schemas.openxmlformats.org/officeDocument/2006/relationships/image" Target="../media/image11.png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650" y="1759585"/>
            <a:ext cx="9157335" cy="27228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简单入侵检测模型的设计与实现</a:t>
            </a:r>
            <a:endParaRPr 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97718" y="4116665"/>
            <a:ext cx="6472255" cy="10433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000" dirty="0">
                <a:ea typeface="微软雅黑" panose="020B0503020204020204" pitchFamily="34" charset="-122"/>
              </a:rPr>
              <a:t>2026</a:t>
            </a:r>
            <a:r>
              <a:rPr lang="zh-CN" altLang="en-US" sz="2000" dirty="0"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ea typeface="微软雅黑" panose="020B0503020204020204" pitchFamily="34" charset="-122"/>
              </a:rPr>
              <a:t>月</a:t>
            </a:r>
            <a:endParaRPr lang="zh-CN" altLang="en-US" sz="20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入侵检测系统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3210" y="1064260"/>
            <a:ext cx="11665585" cy="5542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入侵检测系统（</a:t>
            </a: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Intrusion Detection System, IDS）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是对网络传输进行实时监视，并在发现可疑传输时发出警报或采取主动防御措施的网络安全设备。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QuattrocentoSans" pitchFamily="34" charset="0"/>
              <a:ea typeface="QuattrocentoSans" pitchFamily="34" charset="-122"/>
              <a:cs typeface="QuattrocentoSans" pitchFamily="34" charset="-12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2800" b="1" dirty="0">
                <a:solidFill>
                  <a:srgbClr val="0070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sym typeface="+mn-ea"/>
              </a:rPr>
              <a:t>特征检测</a:t>
            </a:r>
            <a:r>
              <a:rPr lang="en-US" sz="2800" dirty="0">
                <a:solidFill>
                  <a:srgbClr val="0070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sym typeface="+mn-ea"/>
              </a:rPr>
              <a:t>：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sym typeface="+mn-ea"/>
              </a:rPr>
              <a:t>假设入侵行为之间存在相似特征，通过提取已有入侵行为的共同特征来预测新入侵行为。</a:t>
            </a:r>
            <a:endParaRPr lang="en-US" sz="28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2800" b="1" dirty="0">
                <a:solidFill>
                  <a:srgbClr val="0070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sym typeface="+mn-ea"/>
              </a:rPr>
              <a:t>异常检测</a:t>
            </a:r>
            <a:r>
              <a:rPr lang="en-US" sz="2800" dirty="0">
                <a:solidFill>
                  <a:srgbClr val="0070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sym typeface="+mn-ea"/>
              </a:rPr>
              <a:t>：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sym typeface="+mn-ea"/>
              </a:rPr>
              <a:t>建立正常行为的模型，将偏离正常模式的行为识别为异常。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实验目标与要求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3210" y="1064260"/>
            <a:ext cx="11665585" cy="5542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实验目标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① 深入理解特征检测的基本思想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② 掌握 K-Means 算法的计算过程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③ 掌握数据挖掘的基本概念与方法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Quattrocento Sans" panose="020B0502050000020003" pitchFamily="34" charset="-122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实验要求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① 使用 K-Means 算法对 KDD Cup 1999 数据集进行聚类分析，建立简单的入侵检测模型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Quattrocento Sans" panose="020B05020500000200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② 利用入侵检测模型对测试数据进行预测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Quattrocento Sans" panose="020B05020500000200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US" sz="2800" dirty="0">
              <a:solidFill>
                <a:schemeClr val="bg2">
                  <a:lumMod val="25000"/>
                </a:schemeClr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KDD Cup 1999 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数据集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3210" y="650240"/>
            <a:ext cx="11665585" cy="410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70000"/>
              </a:lnSpc>
            </a:pPr>
            <a:r>
              <a:rPr lang="zh-CN" altLang="en-US" sz="2200" b="1" dirty="0">
                <a:solidFill>
                  <a:srgbClr val="0070C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KDD Cup 1999数据集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来源于模拟美国空军军事网络的局域网流量，记录连续 9 周原始 TCP dump 数据，约700万条连接记录。每条记录包含41项属性，本实验使用其中</a:t>
            </a:r>
            <a:r>
              <a:rPr lang="zh-CN" altLang="en-US" sz="2200" b="1" dirty="0">
                <a:solidFill>
                  <a:srgbClr val="0070C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18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项。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所有记录分为正常（normal）与攻击（attack）大两类。其中攻击行为又分为以下 4 类：</a:t>
            </a:r>
            <a:endParaRPr lang="zh-CN" altLang="en-US" sz="2200" dirty="0">
              <a:solidFill>
                <a:schemeClr val="bg2">
                  <a:lumMod val="25000"/>
                </a:schemeClr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  <a:p>
            <a:pPr>
              <a:lnSpc>
                <a:spcPct val="170000"/>
              </a:lnSpc>
            </a:pP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(1) DOS：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拒绝服务，例如，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SYN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洪泛攻击。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(2) R2L：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来自于远程主机的非法入侵，例如，猜测密码。</a:t>
            </a:r>
            <a:endParaRPr lang="en-US" altLang="zh-CN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(3) U2R：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非法获得本地主机的超级用户权限，例如，各种“缓冲区溢出”攻击。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(4) Probing：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监视与探测，例如，端口扫描。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70000"/>
              </a:lnSpc>
            </a:pP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9260" y="4758690"/>
            <a:ext cx="11518900" cy="14427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indent="0" fontAlgn="auto" latinLnBrk="1">
              <a:lnSpc>
                <a:spcPct val="150000"/>
              </a:lnSpc>
            </a:pP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数据集下载地址</a:t>
            </a:r>
            <a:r>
              <a:rPr lang="en-US" altLang="zh-CN" sz="20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https://www.kaggle.com/datasets/galaxyh/kdd-cup-1999-data?resource=download</a:t>
            </a:r>
            <a:endParaRPr lang="en-US" altLang="zh-CN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ct val="150000"/>
              </a:lnSpc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kddcup.data_10_percent.gz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作为训练数据集，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用于提取数据特征，生成数据挖掘模型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 latinLnBrk="1">
              <a:lnSpc>
                <a:spcPct val="150000"/>
              </a:lnSpc>
            </a:pPr>
            <a:r>
              <a:rPr lang="en-US" altLang="zh-CN" sz="2000" b="1" dirty="0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corrected.gz</a:t>
            </a:r>
            <a:r>
              <a:rPr lang="en-US" sz="2000" dirty="0">
                <a:solidFill>
                  <a:srgbClr val="E6EDF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作为测试数据集，用于验证模型的效率与正确性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ct val="150000"/>
              </a:lnSpc>
            </a:pPr>
            <a:endParaRPr lang="zh-CN" altLang="en-US" sz="20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KDD Cup 1999 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数据集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63955" y="825500"/>
          <a:ext cx="9863455" cy="5867400"/>
        </p:xfrm>
        <a:graphic>
          <a:graphicData uri="http://schemas.openxmlformats.org/drawingml/2006/table">
            <a:tbl>
              <a:tblPr firstRow="1" bandRow="1">
                <a:tableStyleId>{7CC0E6DB-0FA4-4AF2-B390-45F55B966FDF}</a:tableStyleId>
              </a:tblPr>
              <a:tblGrid>
                <a:gridCol w="2756535"/>
                <a:gridCol w="1574165"/>
                <a:gridCol w="5532755"/>
              </a:tblGrid>
              <a:tr h="306705"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/>
                        <a:t>属性名称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/>
                        <a:t>类型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/>
                        <a:t>说明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670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protocol_type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symbolic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协议类型（icmp / tcp / udp）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service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symbolic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服务类型（66 类网络服务）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flag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symbolic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状态标志（11 类连接状态）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src_bytes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源到目的字节数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dst_bytes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目的到源字节数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num_failed_logins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登录失败次数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670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num_root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root 用户权限存取次数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count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2 秒内连接相同主机数目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srv_count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2 秒内连接相同端口数目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serror_rate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REJ 错误的连接数比率（0~100）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same_srv_rate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连接到相同端口数比率（0~100）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670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diff_srv_rate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连接到不同端口数比率（0~100）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dst_host_srv_count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相同目的地相同端口连接数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dst_host_same_srv_rate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相同目的地相同端口连接数比率（0~100）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073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dst_host_diff_srv_rate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相同目的地不同端口连接数比率（0~100）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39497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dst_host_same_src_port_rate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相同目的地相同源端口连接比率（0~100）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29273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dst_host_srv_diff_host_rate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不同主机连接相同端口比率（0~100）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  <a:tr h="2647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dst_host_srv_serror_rate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continuous</a:t>
                      </a:r>
                      <a:endParaRPr lang="en-US" sz="1400" u="none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/>
                        <a:t>连接当前主机有 S0 错误的比率（0~100）</a:t>
                      </a:r>
                      <a:endParaRPr lang="en-US" sz="1400" u="none" dirty="0"/>
                    </a:p>
                  </a:txBody>
                  <a:tcPr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883920"/>
            <a:ext cx="10761345" cy="2784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K-Means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K-Means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算法是一种聚类分析方法。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同聚类对象尽可能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接近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，不同聚类对象尽可能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远离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。每个聚类至少包含一个对象，每个对象只属一个聚类。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578485" y="3429000"/>
                <a:ext cx="80518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40000"/>
                  </a:lnSpc>
                </a:pPr>
                <a:r>
                  <a:rPr lang="en-US" sz="3200" dirty="0">
                    <a:solidFill>
                      <a:srgbClr val="0070C0"/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欧氏距离</a:t>
                </a:r>
                <a:r>
                  <a:rPr lang="en-US" sz="3200" dirty="0">
                    <a:solidFill>
                      <a:schemeClr val="tx1"/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charset="0"/>
                      </a:rPr>
                      <m:t>𝑑</m:t>
                    </m:r>
                    <m:r>
                      <a:rPr lang="en-US" sz="3200" dirty="0">
                        <a:latin typeface="Cambria Math" panose="02040503050406030204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charset="0"/>
                      </a:rPr>
                      <m:t>𝑖</m:t>
                    </m:r>
                    <m:r>
                      <a:rPr lang="en-US" sz="3200" dirty="0">
                        <a:latin typeface="Cambria Math" panose="02040503050406030204" charset="0"/>
                      </a:rPr>
                      <m:t>,</m:t>
                    </m:r>
                    <m:r>
                      <a:rPr lang="en-US" sz="3200" i="1" dirty="0">
                        <a:latin typeface="Cambria Math" panose="02040503050406030204" charset="0"/>
                      </a:rPr>
                      <m:t>𝑗</m:t>
                    </m:r>
                    <m:r>
                      <a:rPr lang="en-US" sz="3200" dirty="0">
                        <a:latin typeface="Cambria Math" panose="02040503050406030204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en-US" sz="3200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3200" dirty="0"/>
                            </m:ctrlPr>
                          </m:sSubSupPr>
                          <m:e>
                            <m:r>
                              <a:rPr lang="en-US" sz="3200" dirty="0">
                                <a:latin typeface="Cambria Math" panose="02040503050406030204" charset="0"/>
                              </a:rPr>
                              <m:t>∑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charset="0"/>
                              </a:rPr>
                              <m:t>𝑓</m:t>
                            </m:r>
                            <m:r>
                              <a:rPr lang="en-US" sz="3200" dirty="0">
                                <a:latin typeface="Cambria Math" panose="02040503050406030204" charset="0"/>
                              </a:rPr>
                              <m:t>=</m:t>
                            </m:r>
                            <m:r>
                              <a:rPr lang="en-US" sz="3200" dirty="0"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3200" i="1" dirty="0">
                                <a:latin typeface="Cambria Math" panose="02040503050406030204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sz="3200" dirty="0">
                            <a:latin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dirty="0"/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charset="0"/>
                              </a:rPr>
                              <m:t>𝑖𝑓</m:t>
                            </m:r>
                          </m:sub>
                        </m:sSub>
                        <m:r>
                          <a:rPr lang="en-US" sz="3200" dirty="0">
                            <a:latin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200" dirty="0"/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charset="0"/>
                              </a:rPr>
                              <m:t>𝑗𝑓</m:t>
                            </m:r>
                          </m:sub>
                        </m:sSub>
                        <m:sSup>
                          <m:sSupPr>
                            <m:ctrlPr>
                              <a:rPr lang="en-US" sz="3200" dirty="0"/>
                            </m:ctrlPr>
                          </m:sSupPr>
                          <m:e>
                            <m:r>
                              <a:rPr lang="en-US" sz="3200" dirty="0">
                                <a:latin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dirty="0">
                                <a:latin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800" i="1" dirty="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85" y="3429000"/>
                <a:ext cx="8051800" cy="508000"/>
              </a:xfrm>
              <a:prstGeom prst="rect">
                <a:avLst/>
              </a:prstGeom>
              <a:blipFill rotWithShape="1">
                <a:blip r:embed="rId1"/>
                <a:stretch>
                  <a:fillRect t="-85625" b="-85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568325" y="4613275"/>
                <a:ext cx="8617585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40000"/>
                  </a:lnSpc>
                </a:pPr>
                <a:r>
                  <a:rPr lang="en-US" sz="3200" dirty="0">
                    <a:solidFill>
                      <a:srgbClr val="0070C0"/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  <a:sym typeface="+mn-ea"/>
                  </a:rPr>
                  <a:t>Manhattan 距离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charset="0"/>
                      </a:rPr>
                      <m:t>：</m:t>
                    </m:r>
                    <m:r>
                      <a:rPr lang="en-US" sz="3200" i="1" dirty="0">
                        <a:latin typeface="Cambria Math" panose="02040503050406030204" charset="0"/>
                      </a:rPr>
                      <m:t>𝑑</m:t>
                    </m:r>
                    <m:r>
                      <a:rPr lang="en-US" sz="3200" dirty="0">
                        <a:latin typeface="Cambria Math" panose="02040503050406030204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charset="0"/>
                      </a:rPr>
                      <m:t>𝑖</m:t>
                    </m:r>
                    <m:r>
                      <a:rPr lang="en-US" sz="3200" dirty="0">
                        <a:latin typeface="Cambria Math" panose="02040503050406030204" charset="0"/>
                      </a:rPr>
                      <m:t>,</m:t>
                    </m:r>
                    <m:r>
                      <a:rPr lang="en-US" sz="3200" i="1" dirty="0">
                        <a:latin typeface="Cambria Math" panose="02040503050406030204" charset="0"/>
                      </a:rPr>
                      <m:t>𝑗</m:t>
                    </m:r>
                    <m:r>
                      <a:rPr lang="en-US" sz="3200" dirty="0">
                        <a:latin typeface="Cambria Math" panose="02040503050406030204" charset="0"/>
                      </a:rPr>
                      <m:t>)=</m:t>
                    </m:r>
                    <m:sSubSup>
                      <m:sSubSupPr>
                        <m:ctrlPr>
                          <a:rPr lang="en-US" sz="2000" dirty="0"/>
                        </m:ctrlPr>
                      </m:sSubSupPr>
                      <m:e>
                        <m:r>
                          <a:rPr lang="en-US" sz="2000" dirty="0">
                            <a:latin typeface="Cambria Math" panose="02040503050406030204" charset="0"/>
                          </a:rPr>
                          <m:t>∑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charset="0"/>
                          </a:rPr>
                          <m:t>𝑓</m:t>
                        </m:r>
                        <m:r>
                          <a:rPr lang="en-US" sz="2000" dirty="0">
                            <a:latin typeface="Cambria Math" panose="02040503050406030204" charset="0"/>
                          </a:rPr>
                          <m:t>=</m:t>
                        </m:r>
                        <m:r>
                          <a:rPr lang="en-US" sz="2000" dirty="0">
                            <a:latin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charset="0"/>
                          </a:rPr>
                          <m:t>𝑝</m:t>
                        </m:r>
                      </m:sup>
                    </m:sSubSup>
                    <m:r>
                      <a:rPr lang="en-US" sz="3200" dirty="0">
                        <a:latin typeface="Cambria Math" panose="02040503050406030204" charset="0"/>
                      </a:rPr>
                      <m:t>∣</m:t>
                    </m:r>
                    <m:sSub>
                      <m:sSubPr>
                        <m:ctrlPr>
                          <a:rPr lang="en-US" sz="2000" dirty="0"/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charset="0"/>
                          </a:rPr>
                          <m:t>𝑖𝑓</m:t>
                        </m:r>
                      </m:sub>
                    </m:sSub>
                    <m:r>
                      <a:rPr lang="en-US" sz="3200" dirty="0">
                        <a:latin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sz="2000" dirty="0"/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charset="0"/>
                          </a:rPr>
                          <m:t>𝑗𝑓</m:t>
                        </m:r>
                      </m:sub>
                    </m:sSub>
                    <m:r>
                      <a:rPr lang="en-US" sz="3200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∣</m:t>
                    </m:r>
                  </m:oMath>
                </a14:m>
                <a:endParaRPr lang="en-US" sz="3200" dirty="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25" y="4613275"/>
                <a:ext cx="8617585" cy="508000"/>
              </a:xfrm>
              <a:prstGeom prst="rect">
                <a:avLst/>
              </a:prstGeom>
              <a:blipFill rotWithShape="1">
                <a:blip r:embed="rId2"/>
                <a:stretch>
                  <a:fillRect t="-2725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568325" y="5395595"/>
                <a:ext cx="792099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dirty="0">
                          <a:solidFill>
                            <a:srgbClr val="0070C0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  <a:sym typeface="+mn-ea"/>
                        </a:rPr>
                        <m:t>𝑀𝑖𝑛𝑘𝑜𝑤𝑠𝑘𝑖</m:t>
                      </m:r>
                      <m:r>
                        <a:rPr lang="en-US" sz="3200" b="1" dirty="0">
                          <a:solidFill>
                            <a:srgbClr val="0070C0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  <a:sym typeface="+mn-ea"/>
                        </a:rPr>
                        <m:t> 距离</m:t>
                      </m:r>
                      <m:r>
                        <a:rPr lang="en-US" sz="3200" i="1" dirty="0">
                          <a:latin typeface="Cambria Math" panose="02040503050406030204" charset="0"/>
                          <a:sym typeface="+mn-ea"/>
                        </a:rPr>
                        <m:t>：</m:t>
                      </m:r>
                      <m:r>
                        <a:rPr lang="en-US" sz="3200" i="1" dirty="0">
                          <a:latin typeface="Cambria Math" panose="02040503050406030204" charset="0"/>
                        </a:rPr>
                        <m:t>𝑑</m:t>
                      </m:r>
                      <m:r>
                        <a:rPr lang="en-US" sz="3200" dirty="0">
                          <a:latin typeface="Cambria Math" panose="02040503050406030204" charset="0"/>
                        </a:rPr>
                        <m:t>(</m:t>
                      </m:r>
                      <m:r>
                        <a:rPr lang="en-US" sz="3200" i="1" dirty="0">
                          <a:latin typeface="Cambria Math" panose="02040503050406030204" charset="0"/>
                        </a:rPr>
                        <m:t>𝑖</m:t>
                      </m:r>
                      <m:r>
                        <a:rPr lang="en-US" sz="3200" dirty="0">
                          <a:latin typeface="Cambria Math" panose="02040503050406030204" charset="0"/>
                        </a:rPr>
                        <m:t>,</m:t>
                      </m:r>
                      <m:r>
                        <a:rPr lang="en-US" sz="3200" i="1" dirty="0">
                          <a:latin typeface="Cambria Math" panose="02040503050406030204" charset="0"/>
                        </a:rPr>
                        <m:t>𝑗</m:t>
                      </m:r>
                      <m:r>
                        <a:rPr lang="en-US" sz="3200" dirty="0">
                          <a:latin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lang="en-US" sz="2000" dirty="0"/>
                          </m:ctrlPr>
                        </m:sSupPr>
                        <m:e>
                          <m:r>
                            <a:rPr lang="en-US" sz="2000" dirty="0">
                              <a:latin typeface="Cambria Math" panose="02040503050406030204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1600" dirty="0"/>
                              </m:ctrlPr>
                            </m:sSubSupPr>
                            <m:e>
                              <m:r>
                                <a:rPr lang="en-US" sz="1600" dirty="0">
                                  <a:latin typeface="Cambria Math" panose="02040503050406030204" charset="0"/>
                                </a:rPr>
                                <m:t>∑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charset="0"/>
                                </a:rPr>
                                <m:t>𝑓</m:t>
                              </m:r>
                              <m:r>
                                <a:rPr lang="en-US" sz="1600" dirty="0">
                                  <a:latin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sz="1600" dirty="0">
                                  <a:latin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 dirty="0">
                                  <a:latin typeface="Cambria Math" panose="02040503050406030204" charset="0"/>
                                </a:rPr>
                                <m:t>𝑝</m:t>
                              </m:r>
                            </m:sup>
                          </m:sSubSup>
                          <m:r>
                            <a:rPr lang="en-US" sz="2000" dirty="0">
                              <a:latin typeface="Cambria Math" panose="02040503050406030204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sz="1600" dirty="0"/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charset="0"/>
                                </a:rPr>
                                <m:t>𝑖𝑓</m:t>
                              </m:r>
                            </m:sub>
                          </m:sSub>
                          <m:r>
                            <a:rPr lang="en-US" sz="2000" dirty="0">
                              <a:latin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dirty="0"/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charset="0"/>
                                </a:rPr>
                                <m:t>𝑗𝑓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dirty="0"/>
                              </m:ctrlPr>
                            </m:sSupPr>
                            <m:e>
                              <m:r>
                                <a:rPr lang="en-US" sz="1600" dirty="0">
                                  <a:latin typeface="Cambria Math" panose="02040503050406030204" charset="0"/>
                                </a:rPr>
                                <m:t>∣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charset="0"/>
                                </a:rPr>
                                <m:t>𝑞</m:t>
                              </m:r>
                            </m:sup>
                          </m:sSup>
                          <m:r>
                            <a:rPr lang="en-US" sz="2000" dirty="0">
                              <a:latin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dirty="0">
                              <a:latin typeface="Cambria Math" panose="02040503050406030204" charset="0"/>
                            </a:rPr>
                            <m:t>1</m:t>
                          </m:r>
                          <m:r>
                            <a:rPr lang="en-US" sz="2000" dirty="0">
                              <a:latin typeface="Cambria Math" panose="02040503050406030204" charset="0"/>
                            </a:rPr>
                            <m:t>/</m:t>
                          </m:r>
                          <m:r>
                            <a:rPr lang="en-US" sz="2000" i="1" dirty="0">
                              <a:latin typeface="Cambria Math" panose="02040503050406030204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en-US" sz="3200" i="1" dirty="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25" y="5395595"/>
                <a:ext cx="7920990" cy="508000"/>
              </a:xfrm>
              <a:prstGeom prst="rect">
                <a:avLst/>
              </a:prstGeom>
              <a:blipFill rotWithShape="1">
                <a:blip r:embed="rId3"/>
                <a:stretch>
                  <a:fillRect t="-18625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588645"/>
            <a:ext cx="2519045" cy="826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K-Means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254000" y="1525905"/>
            <a:ext cx="2244090" cy="1651000"/>
          </a:xfrm>
          <a:prstGeom prst="roundRect">
            <a:avLst>
              <a:gd name="adj" fmla="val 8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444500" y="1627505"/>
            <a:ext cx="440055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85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2000" b="1" dirty="0">
              <a:solidFill>
                <a:srgbClr val="D4A854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444500" y="1983105"/>
            <a:ext cx="1980565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初始化聚类中心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从 n 个对象中随机选取 k 个作为初始中心</a:t>
            </a:r>
            <a:endParaRPr lang="en-US" sz="16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2923540" y="1525905"/>
            <a:ext cx="2244090" cy="1651000"/>
          </a:xfrm>
          <a:prstGeom prst="roundRect">
            <a:avLst>
              <a:gd name="adj" fmla="val 8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3114040" y="1627505"/>
            <a:ext cx="440055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85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2000" b="1" dirty="0">
              <a:solidFill>
                <a:srgbClr val="D4A854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3114040" y="1983105"/>
            <a:ext cx="1980565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分配样本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计算各对象到中心的距离，分配到最近聚类</a:t>
            </a:r>
            <a:endParaRPr lang="en-US" sz="1600" dirty="0"/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5689600" y="1525905"/>
            <a:ext cx="2244090" cy="1651000"/>
          </a:xfrm>
          <a:prstGeom prst="roundRect">
            <a:avLst>
              <a:gd name="adj" fmla="val 8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5880100" y="1627505"/>
            <a:ext cx="440055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85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2000" b="1" dirty="0">
              <a:solidFill>
                <a:srgbClr val="D4A854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" name="Text 15"/>
          <p:cNvSpPr/>
          <p:nvPr>
            <p:custDataLst>
              <p:tags r:id="rId9"/>
            </p:custDataLst>
          </p:nvPr>
        </p:nvSpPr>
        <p:spPr>
          <a:xfrm>
            <a:off x="5880100" y="1983105"/>
            <a:ext cx="1980565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重新计算中心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根据聚类成员重新计算各聚类中心</a:t>
            </a:r>
            <a:endParaRPr lang="en-US" sz="1600" dirty="0"/>
          </a:p>
        </p:txBody>
      </p:sp>
      <p:sp>
        <p:nvSpPr>
          <p:cNvPr id="3" name="Shape 17"/>
          <p:cNvSpPr/>
          <p:nvPr>
            <p:custDataLst>
              <p:tags r:id="rId10"/>
            </p:custDataLst>
          </p:nvPr>
        </p:nvSpPr>
        <p:spPr>
          <a:xfrm>
            <a:off x="8481060" y="1525905"/>
            <a:ext cx="2464435" cy="1651000"/>
          </a:xfrm>
          <a:prstGeom prst="roundRect">
            <a:avLst>
              <a:gd name="adj" fmla="val 8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8671560" y="1627505"/>
            <a:ext cx="440055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0883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2000" b="1" dirty="0">
              <a:solidFill>
                <a:srgbClr val="F0883E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4" name="Text 19"/>
          <p:cNvSpPr/>
          <p:nvPr>
            <p:custDataLst>
              <p:tags r:id="rId12"/>
            </p:custDataLst>
          </p:nvPr>
        </p:nvSpPr>
        <p:spPr>
          <a:xfrm>
            <a:off x="8671560" y="1983105"/>
            <a:ext cx="2200275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判断收敛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中心未变化则结束，否则返回步骤 02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23"/>
              <p:cNvSpPr/>
              <p:nvPr/>
            </p:nvSpPr>
            <p:spPr>
              <a:xfrm>
                <a:off x="254000" y="3287395"/>
                <a:ext cx="11759565" cy="3035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indent="0" algn="l" fontAlgn="auto">
                  <a:lnSpc>
                    <a:spcPct val="14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lang="en-US" b="1" dirty="0">
                    <a:solidFill>
                      <a:srgbClr val="D4A854"/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Step 1 — 初始化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：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</a:rPr>
                  <a:t>给定大小为</a:t>
                </a:r>
                <a:r>
                  <a:rPr lang="en-US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</a:rPr>
                  <a:t>的数据集，选取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</a:rPr>
                  <a:t>个数据对象作为初始聚类中心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𝑗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 =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1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,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2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, ...,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</a:rPr>
                  <a:t>个聚类用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𝐶𝑙𝑢𝑠𝑡𝑒𝑟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𝑗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</a:rPr>
                  <a:t> 表示。</a:t>
                </a:r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Quattrocento Sans" panose="020B0502050000020003" pitchFamily="34" charset="0"/>
                  <a:ea typeface="Quattrocento Sans" panose="020B0502050000020003" pitchFamily="34" charset="-122"/>
                  <a:cs typeface="Quattrocento Sans" panose="020B0502050000020003" pitchFamily="34" charset="-120"/>
                </a:endParaRPr>
              </a:p>
              <a:p>
                <a:pPr indent="0" algn="l" fontAlgn="auto">
                  <a:lnSpc>
                    <a:spcPct val="14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lang="en-US" b="1" dirty="0">
                    <a:solidFill>
                      <a:srgbClr val="D4A854"/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Step 2 — 分配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：计算每个数据对象与各聚类中心的距离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))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。若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𝑚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)) =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𝑚𝑖𝑛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{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, 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)) }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  <a:sym typeface="+mn-ea"/>
                      </a:rPr>
                      <m:t>∈</m:t>
                    </m:r>
                    <m:r>
                      <a:rPr 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  <a:sym typeface="+mn-ea"/>
                      </a:rPr>
                      <m:t>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  <a:sym typeface="+mn-ea"/>
                      </a:rPr>
                      <m:t>𝐶𝑙𝑢𝑠𝑡𝑒𝑟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  <a:sym typeface="+mn-ea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  <a:sym typeface="+mn-ea"/>
                      </a:rPr>
                      <m:t>𝑚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Quattrocento Sans" panose="020B0502050000020003" pitchFamily="34" charset="0"/>
                        <a:ea typeface="Quattrocento Sans" panose="020B0502050000020003" pitchFamily="34" charset="-122"/>
                        <a:cs typeface="Quattrocento Sans" panose="020B0502050000020003" pitchFamily="34" charset="-120"/>
                        <a:sym typeface="+mn-ea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。</a:t>
                </a:r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Quattrocento Sans" panose="020B0502050000020003" pitchFamily="34" charset="0"/>
                  <a:ea typeface="Quattrocento Sans" panose="020B0502050000020003" pitchFamily="34" charset="-122"/>
                  <a:cs typeface="Quattrocento Sans" panose="020B0502050000020003" pitchFamily="34" charset="-120"/>
                </a:endParaRPr>
              </a:p>
              <a:p>
                <a:pPr indent="0" algn="l" fontAlgn="auto">
                  <a:lnSpc>
                    <a:spcPct val="140000"/>
                  </a:lnSpc>
                  <a:spcBef>
                    <a:spcPts val="0"/>
                  </a:spcBef>
                  <a:buClrTx/>
                  <a:buSzTx/>
                  <a:buFontTx/>
                </a:pPr>
                <a:r>
                  <a:rPr lang="en-US" b="1" dirty="0">
                    <a:solidFill>
                      <a:srgbClr val="D4A854"/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Step 3 — 更新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：重新计算聚类中心：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+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1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 = 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𝑗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，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Quattrocento Sans" panose="020B0502050000020003" pitchFamily="34" charset="-122"/>
                    <a:cs typeface="Times New Roman" panose="02020603050405020304" pitchFamily="18" charset="0"/>
                    <a:sym typeface="+mn-ea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𝑗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 =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1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,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2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, ..., 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charset="0"/>
                    <a:ea typeface="Quattrocento Sans" panose="020B0502050000020003" pitchFamily="34" charset="-122"/>
                    <a:cs typeface="Cambria Math" panose="02040503050406030204" charset="0"/>
                  </a:rPr>
                  <a:t>，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即取聚类中所有对象的均值。</a:t>
                </a:r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Quattrocento Sans" panose="020B0502050000020003" pitchFamily="34" charset="0"/>
                  <a:ea typeface="Quattrocento Sans" panose="020B0502050000020003" pitchFamily="34" charset="-122"/>
                  <a:cs typeface="Quattrocento Sans" panose="020B0502050000020003" pitchFamily="34" charset="-120"/>
                </a:endParaRPr>
              </a:p>
              <a:p>
                <a:pPr indent="0" fontAlgn="auto">
                  <a:lnSpc>
                    <a:spcPct val="140000"/>
                  </a:lnSpc>
                  <a:spcBef>
                    <a:spcPts val="0"/>
                  </a:spcBef>
                </a:pPr>
                <a:r>
                  <a:rPr lang="en-US" b="1" dirty="0">
                    <a:solidFill>
                      <a:srgbClr val="D4A854"/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Step 4 — 收敛判断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：若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+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Quattrocento Sans" panose="020B0502050000020003" pitchFamily="34" charset="-122"/>
                        <a:cs typeface="Cambria Math" panose="02040503050406030204" charset="0"/>
                      </a:rPr>
                      <m:t>1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 ≠ 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charset="0"/>
                            <a:ea typeface="Quattrocento Sans" panose="020B0502050000020003" pitchFamily="34" charset="-122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，则 </a:t>
                </a:r>
                <a:r>
                  <a:rPr lang="en-US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charset="0"/>
                    <a:ea typeface="Quattrocento Sans" panose="020B0502050000020003" pitchFamily="34" charset="-122"/>
                    <a:cs typeface="Cambria Math" panose="02040503050406030204" charset="0"/>
                  </a:rPr>
                  <a:t>I=I+1 </a:t>
                </a:r>
                <a:r>
                  <a:rPr lang="zh-CN" altLang="en-US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charset="0"/>
                    <a:ea typeface="Quattrocento Sans" panose="020B0502050000020003" pitchFamily="34" charset="-122"/>
                    <a:cs typeface="Cambria Math" panose="02040503050406030204" charset="0"/>
                  </a:rPr>
                  <a:t>，</a:t>
                </a:r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attrocento Sans" panose="020B0502050000020003" pitchFamily="34" charset="0"/>
                    <a:ea typeface="Quattrocento Sans" panose="020B0502050000020003" pitchFamily="34" charset="-122"/>
                    <a:cs typeface="Quattrocento Sans" panose="020B0502050000020003" pitchFamily="34" charset="-120"/>
                  </a:rPr>
                  <a:t>返回 Step 2；否则算法结束，聚类完成。</a:t>
                </a:r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Quattrocento Sans" panose="020B0502050000020003" pitchFamily="34" charset="0"/>
                  <a:ea typeface="Quattrocento Sans" panose="020B0502050000020003" pitchFamily="34" charset="-122"/>
                  <a:cs typeface="Quattrocento Sans" panose="020B0502050000020003" pitchFamily="34" charset="-120"/>
                </a:endParaRPr>
              </a:p>
            </p:txBody>
          </p:sp>
        </mc:Choice>
        <mc:Fallback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3287395"/>
                <a:ext cx="11759565" cy="303593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883920"/>
            <a:ext cx="10761345" cy="4412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K-Means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算法的缺陷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① 复杂度低但大规模数据聚类效果欠佳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② 不同 k 值导致聚类结果差异巨大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③ KDD Cup 1999 数据集中正常数据与攻击数据</a:t>
            </a:r>
            <a:r>
              <a:rPr lang="en-US" sz="2800" b="1" dirty="0">
                <a:solidFill>
                  <a:srgbClr val="0070C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多种多样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2400" dirty="0">
                <a:solidFill>
                  <a:srgbClr val="8B949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以 DOS 为例：包含 smurf、neptune、back、teardrop、pod、land 共 6 种攻击方式，不同种类攻击在数值特性上差异很大。</a:t>
            </a:r>
            <a:endParaRPr lang="en-US" sz="2400" dirty="0"/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Text 8"/>
          <p:cNvSpPr/>
          <p:nvPr/>
        </p:nvSpPr>
        <p:spPr>
          <a:xfrm>
            <a:off x="1022350" y="3767455"/>
            <a:ext cx="64770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实验代码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2585" y="1016635"/>
            <a:ext cx="1090993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40000"/>
              </a:lnSpc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DataPretreat 程序—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数据预处理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725" y="1942465"/>
            <a:ext cx="8565515" cy="3402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D4A854"/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</a:rPr>
              <a:t>1. 删除不需要的属性变量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</a:rPr>
              <a:t>从 41 项属性中筛选出本实验需要的 18 项</a:t>
            </a:r>
            <a:endParaRPr lang="en-US" sz="2400" dirty="0">
              <a:solidFill>
                <a:srgbClr val="E6EDF3"/>
              </a:solidFill>
              <a:latin typeface="Times New Roman" panose="02020603050405020304" pitchFamily="18" charset="0"/>
              <a:ea typeface="Quattrocento Sans" panose="020B05020500000200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D4A854"/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2. 符号类型变量数值化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如 icmp/tcp/udp → 0/1/2，适配 K-Means 算法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Quattrocento Sans" panose="020B0502050000020003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D4A854"/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3. 百分比变量转换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Quattrocento Sans" panose="020B0502050000020003" pitchFamily="34" charset="-122"/>
                <a:cs typeface="Times New Roman" panose="02020603050405020304" pitchFamily="18" charset="0"/>
                <a:sym typeface="+mn-ea"/>
              </a:rPr>
              <a:t>将百分比表示的变量转为 0~100 的正整数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Quattrocento Sans" panose="020B0502050000020003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2450" y="3279775"/>
            <a:ext cx="60325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实验代码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2585" y="1016635"/>
            <a:ext cx="10909935" cy="694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40000"/>
              </a:lnSpc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KMeans 程序—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聚类核心实现程序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2450" y="3279775"/>
            <a:ext cx="60325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5300" y="1942465"/>
          <a:ext cx="11113770" cy="2778760"/>
        </p:xfrm>
        <a:graphic>
          <a:graphicData uri="http://schemas.openxmlformats.org/drawingml/2006/table">
            <a:tbl>
              <a:tblPr firstRow="1">
                <a:tableStyleId>{B893F094-1F8A-4E5E-97CB-9E055A52595F}</a:tableStyleId>
              </a:tblPr>
              <a:tblGrid>
                <a:gridCol w="3496310"/>
                <a:gridCol w="7617460"/>
              </a:tblGrid>
              <a:tr h="63055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800" u="none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文件</a:t>
                      </a:r>
                      <a:endParaRPr 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800" u="none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功能说明</a:t>
                      </a:r>
                      <a:endParaRPr 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anchor="ctr"/>
                </a:tc>
              </a:tr>
              <a:tr h="63055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800" u="none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Common.h</a:t>
                      </a:r>
                      <a:endParaRPr 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800" u="none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共用头文件、宏定义、strMyRecord 结构体</a:t>
                      </a:r>
                      <a:endParaRPr 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</a:tr>
              <a:tr h="88709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800" u="none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Kmeans.h/cpp</a:t>
                      </a:r>
                      <a:endParaRPr 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800" u="none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CKMeans 类 — 实现 K-Means 算法核心逻辑</a:t>
                      </a:r>
                      <a:endParaRPr 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包含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程序入口，协调聚类与预测流程</a:t>
                      </a:r>
                      <a:endParaRPr lang="en-US" alt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</a:tr>
              <a:tr h="63055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800" u="none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ClusterTree.h/cpp</a:t>
                      </a:r>
                      <a:endParaRPr 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sz="1800" u="none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ClusterNode 和 ClusterTree 类 — 聚类树操作</a:t>
                      </a:r>
                      <a:endParaRPr lang="en-US" sz="1800" u="none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68630" y="5080635"/>
            <a:ext cx="11140440" cy="8820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p>
            <a:pPr marL="342900" indent="-342900" algn="just" fontAlgn="base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i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需补充：</a:t>
            </a:r>
            <a:r>
              <a:rPr lang="en-US" altLang="zh-CN" sz="2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Kmeans.cpp</a:t>
            </a:r>
            <a:r>
              <a:rPr lang="zh-CN" altLang="en-US" sz="2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</a:t>
            </a:r>
            <a:r>
              <a:rPr lang="en-US" altLang="zh-CN" sz="2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main()</a:t>
            </a:r>
            <a:r>
              <a:rPr lang="zh-CN" altLang="en-US" sz="2400" b="1" i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2400" b="1" i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7383" y="784945"/>
            <a:ext cx="9721031" cy="6381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buClrTx/>
              <a:buSzTx/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实验时间：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2周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60000"/>
              </a:lnSpc>
              <a:buClrTx/>
              <a:buSzTx/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  <a:sym typeface="+mn-ea"/>
              </a:rPr>
              <a:t>提交内容：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  <a:sym typeface="+mn-ea"/>
              </a:rPr>
              <a:t>报告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  <a:sym typeface="+mn-ea"/>
              </a:rPr>
              <a:t>+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  <a:sym typeface="+mn-ea"/>
              </a:rPr>
              <a:t>完整代码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  <a:p>
            <a:pPr algn="l">
              <a:lnSpc>
                <a:spcPct val="160000"/>
              </a:lnSpc>
              <a:buClrTx/>
              <a:buSzTx/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报告内容：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+mn-ea"/>
              <a:cs typeface="Helvetica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（1）关键代码及解析；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（2）实验结果截图；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（3）实验结果分析；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）实验心得体会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6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提交</a:t>
            </a:r>
            <a:r>
              <a:rPr lang="zh-CN" altLang="en-US" sz="2800" b="1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方式：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智慧课堂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  <a:p>
            <a:pPr algn="l">
              <a:lnSpc>
                <a:spcPct val="180000"/>
              </a:lnSpc>
              <a:buClrTx/>
              <a:buSzTx/>
              <a:buFontTx/>
            </a:pP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76*462"/>
  <p:tag name="TABLE_ENDDRAG_RECT" val="55*68*776*462"/>
</p:tagLst>
</file>

<file path=ppt/tags/tag2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3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4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5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6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7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8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9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10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11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12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13.xml><?xml version="1.0" encoding="utf-8"?>
<p:tagLst xmlns:p="http://schemas.openxmlformats.org/presentationml/2006/main">
  <p:tag name="KSO_WM_DIAGRAM_VIRTUALLY_FRAME" val="{&quot;height&quot;:130,&quot;left&quot;:60,&quot;top&quot;:140,&quot;width&quot;:1165}"/>
</p:tagLst>
</file>

<file path=ppt/tags/tag14.xml><?xml version="1.0" encoding="utf-8"?>
<p:tagLst xmlns:p="http://schemas.openxmlformats.org/presentationml/2006/main">
  <p:tag name="TABLE_ENDDRAG_ORIGIN_RECT" val="875*218"/>
  <p:tag name="TABLE_ENDDRAG_RECT" val="39*152*875*218"/>
</p:tagLst>
</file>

<file path=ppt/tags/tag15.xml><?xml version="1.0" encoding="utf-8"?>
<p:tagLst xmlns:p="http://schemas.openxmlformats.org/presentationml/2006/main">
  <p:tag name="resource_record_key" val="{&quot;29&quot;:[50000031,50000049]}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2895</Words>
  <Application>WPS 演示</Application>
  <PresentationFormat>宽屏</PresentationFormat>
  <Paragraphs>250</Paragraphs>
  <Slides>11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3" baseType="lpstr">
      <vt:lpstr>Arial</vt:lpstr>
      <vt:lpstr>宋体</vt:lpstr>
      <vt:lpstr>Wingdings</vt:lpstr>
      <vt:lpstr>方正姚体</vt:lpstr>
      <vt:lpstr>微软雅黑</vt:lpstr>
      <vt:lpstr>OPPOSans B</vt:lpstr>
      <vt:lpstr>QuattrocentoSans</vt:lpstr>
      <vt:lpstr>QuattrocentoSans</vt:lpstr>
      <vt:lpstr>QuattrocentoSans</vt:lpstr>
      <vt:lpstr>Times New Roman</vt:lpstr>
      <vt:lpstr>Quattrocento Sans</vt:lpstr>
      <vt:lpstr>Quattrocento Sans</vt:lpstr>
      <vt:lpstr>Quattrocento Sans</vt:lpstr>
      <vt:lpstr>Cambria Math</vt:lpstr>
      <vt:lpstr>MS Mincho</vt:lpstr>
      <vt:lpstr>Helvetica</vt:lpstr>
      <vt:lpstr>MiSans</vt:lpstr>
      <vt:lpstr>MiSans</vt:lpstr>
      <vt:lpstr>等线</vt:lpstr>
      <vt:lpstr>Calibri</vt:lpstr>
      <vt:lpstr>Arial Unicode MS</vt:lpstr>
      <vt:lpstr>Segoe Print</vt:lpstr>
      <vt:lpstr>Yu Gothic UI</vt:lpstr>
      <vt:lpstr>MingLiU-ExtB</vt:lpstr>
      <vt:lpstr>Microsoft JhengHei UI</vt:lpstr>
      <vt:lpstr>MiSans Semibold</vt:lpstr>
      <vt:lpstr>MiSans</vt:lpstr>
      <vt:lpstr>OPPOSans B</vt:lpstr>
      <vt:lpstr>The best part</vt:lpstr>
      <vt:lpstr>Ms.Luce</vt:lpstr>
      <vt:lpstr>Helvetica LT Pro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邓邓邓邓</cp:lastModifiedBy>
  <cp:revision>22</cp:revision>
  <dcterms:created xsi:type="dcterms:W3CDTF">2025-02-15T09:33:00Z</dcterms:created>
  <dcterms:modified xsi:type="dcterms:W3CDTF">2026-05-12T06:09:16Z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C84335BEE6724184ADCD389D13407674_12</vt:lpwstr>
  </property>
</Properties>
</file>