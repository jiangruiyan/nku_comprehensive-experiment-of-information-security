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8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4"/>
  </p:notesMasterIdLst>
  <p:sldIdLst>
    <p:sldId id="256" r:id="rId3"/>
    <p:sldId id="281" r:id="rId5"/>
    <p:sldId id="344" r:id="rId6"/>
    <p:sldId id="345" r:id="rId7"/>
    <p:sldId id="347" r:id="rId8"/>
    <p:sldId id="346" r:id="rId9"/>
    <p:sldId id="348" r:id="rId10"/>
    <p:sldId id="349" r:id="rId11"/>
    <p:sldId id="350" r:id="rId12"/>
    <p:sldId id="351" r:id="rId13"/>
    <p:sldId id="352" r:id="rId14"/>
    <p:sldId id="353" r:id="rId15"/>
    <p:sldId id="354" r:id="rId16"/>
    <p:sldId id="355" r:id="rId17"/>
    <p:sldId id="356" r:id="rId18"/>
    <p:sldId id="357" r:id="rId19"/>
    <p:sldId id="358" r:id="rId20"/>
    <p:sldId id="359" r:id="rId21"/>
    <p:sldId id="321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45" userDrawn="1">
          <p15:clr>
            <a:srgbClr val="A4A3A4"/>
          </p15:clr>
        </p15:guide>
        <p15:guide id="2" pos="7206" userDrawn="1">
          <p15:clr>
            <a:srgbClr val="A4A3A4"/>
          </p15:clr>
        </p15:guide>
        <p15:guide id="3" orient="horz" pos="641" userDrawn="1">
          <p15:clr>
            <a:srgbClr val="A4A3A4"/>
          </p15:clr>
        </p15:guide>
        <p15:guide id="4" orient="horz" pos="706" userDrawn="1">
          <p15:clr>
            <a:srgbClr val="A4A3A4"/>
          </p15:clr>
        </p15:guide>
        <p15:guide id="6" orient="horz" pos="393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6243"/>
    <a:srgbClr val="963A89"/>
    <a:srgbClr val="BA75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08" autoAdjust="0"/>
    <p:restoredTop sz="87267" autoAdjust="0"/>
  </p:normalViewPr>
  <p:slideViewPr>
    <p:cSldViewPr snapToGrid="0" showGuides="1">
      <p:cViewPr varScale="1">
        <p:scale>
          <a:sx n="99" d="100"/>
          <a:sy n="99" d="100"/>
        </p:scale>
        <p:origin x="462" y="468"/>
      </p:cViewPr>
      <p:guideLst>
        <p:guide pos="445"/>
        <p:guide pos="7206"/>
        <p:guide orient="horz" pos="641"/>
        <p:guide orient="horz" pos="706"/>
        <p:guide orient="horz" pos="39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commentAuthors" Target="commentAuthors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8D346C-DBD4-4BA1-8637-CDB6350037E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40000"/>
              </a:lnSpc>
            </a:pPr>
            <a:r>
              <a:rPr lang="en-US" altLang="zh-CN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WEP</a:t>
            </a:r>
            <a:r>
              <a:rPr lang="zh-CN" altLang="en-US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（</a:t>
            </a:r>
            <a:r>
              <a:rPr lang="en-US" altLang="zh-CN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Wired Equivalent Privacy</a:t>
            </a:r>
            <a:r>
              <a:rPr lang="zh-CN" altLang="en-US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）是</a:t>
            </a:r>
            <a:r>
              <a:rPr lang="en-US" altLang="zh-CN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IEEE 802.11</a:t>
            </a:r>
            <a:r>
              <a:rPr lang="zh-CN" altLang="en-US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标准最初采用的安全协议，但由于设计缺陷，其使用的</a:t>
            </a:r>
            <a:r>
              <a:rPr lang="en-US" altLang="zh-CN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24</a:t>
            </a:r>
            <a:r>
              <a:rPr lang="zh-CN" altLang="en-US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位</a:t>
            </a:r>
            <a:r>
              <a:rPr lang="en-US" altLang="zh-CN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IV</a:t>
            </a:r>
            <a:r>
              <a:rPr lang="zh-CN" altLang="en-US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（初始化向量）空间过小，且</a:t>
            </a:r>
            <a:r>
              <a:rPr lang="en-US" altLang="zh-CN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RC4</a:t>
            </a:r>
            <a:r>
              <a:rPr lang="zh-CN" altLang="en-US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密钥流存在统计偏差，导致攻击者可以在短时间内破解密钥。</a:t>
            </a:r>
            <a:r>
              <a:rPr lang="en-US" altLang="zh-CN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2001</a:t>
            </a:r>
            <a:r>
              <a:rPr lang="zh-CN" altLang="en-US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年，</a:t>
            </a:r>
            <a:r>
              <a:rPr lang="en-US" altLang="zh-CN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WEP</a:t>
            </a:r>
            <a:r>
              <a:rPr lang="zh-CN" altLang="en-US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被正式攻破，促使了</a:t>
            </a:r>
            <a:r>
              <a:rPr lang="en-US" altLang="zh-CN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WPA</a:t>
            </a:r>
            <a:r>
              <a:rPr lang="zh-CN" altLang="en-US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的推出。</a:t>
            </a:r>
            <a:r>
              <a:rPr lang="en-US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WPA采用TKIP作为临时方案,WPA2则完全取代WEP,采用AES-CCMP加密</a:t>
            </a:r>
            <a:r>
              <a:rPr lang="zh-CN" altLang="en-US" dirty="0"/>
              <a:t>成为目前最广泛使用的</a:t>
            </a:r>
            <a:r>
              <a:rPr lang="en-US" altLang="zh-CN" dirty="0"/>
              <a:t>WiFi</a:t>
            </a:r>
            <a:r>
              <a:rPr lang="zh-CN" altLang="en-US" dirty="0"/>
              <a:t>安全标准。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40000"/>
              </a:lnSpc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40000"/>
              </a:lnSpc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</a:pPr>
            <a:r>
              <a:rPr lang="en-US">
                <a:solidFill>
                  <a:srgbClr val="000000"/>
                </a:solidFill>
                <a:sym typeface="+mn-ea"/>
              </a:rPr>
              <a:t>四次握手是WPA/WPA2协议的核心。它涉及两个角色：作为认证者的AP或热点，以及作为请求者的客户端。</a:t>
            </a:r>
            <a:endParaRPr lang="en-US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>
                <a:solidFill>
                  <a:srgbClr val="000000"/>
                </a:solidFill>
                <a:sym typeface="+mn-ea"/>
              </a:rPr>
              <a:t>整个握手过程分为四个步骤，目的是在不直接传输主密钥的情况下，安全地协商出用于本次会话的加密密钥。</a:t>
            </a:r>
            <a:r>
              <a:rPr lang="zh-CN" altLang="en-US" dirty="0">
                <a:sym typeface="+mn-ea"/>
              </a:rPr>
              <a:t>第一次握手由认证者向请求者发送</a:t>
            </a:r>
            <a:r>
              <a:rPr lang="en-US" altLang="zh-CN" dirty="0">
                <a:sym typeface="+mn-ea"/>
              </a:rPr>
              <a:t>ANonce</a:t>
            </a:r>
            <a:r>
              <a:rPr lang="zh-CN" altLang="en-US" dirty="0">
                <a:sym typeface="+mn-ea"/>
              </a:rPr>
              <a:t>，请求者借此计算</a:t>
            </a:r>
            <a:r>
              <a:rPr lang="en-US" altLang="zh-CN" dirty="0">
                <a:sym typeface="+mn-ea"/>
              </a:rPr>
              <a:t>PTK</a:t>
            </a:r>
            <a:r>
              <a:rPr lang="zh-CN" altLang="en-US" dirty="0">
                <a:sym typeface="+mn-ea"/>
              </a:rPr>
              <a:t>，这是密钥协商的开端。</a:t>
            </a:r>
            <a:endParaRPr lang="zh-CN" altLang="en-US" dirty="0">
              <a:sym typeface="+mn-ea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dirty="0">
                <a:sym typeface="+mn-ea"/>
              </a:rPr>
              <a:t>第二次握手，请求者回传</a:t>
            </a:r>
            <a:r>
              <a:rPr lang="en-US" altLang="zh-CN" dirty="0">
                <a:sym typeface="+mn-ea"/>
              </a:rPr>
              <a:t>SNonce</a:t>
            </a:r>
            <a:r>
              <a:rPr lang="zh-CN" altLang="en-US" dirty="0">
                <a:sym typeface="+mn-ea"/>
              </a:rPr>
              <a:t>和</a:t>
            </a:r>
            <a:r>
              <a:rPr lang="en-US" altLang="zh-CN" dirty="0">
                <a:sym typeface="+mn-ea"/>
              </a:rPr>
              <a:t>MIC</a:t>
            </a:r>
            <a:r>
              <a:rPr lang="zh-CN" altLang="en-US" dirty="0">
                <a:sym typeface="+mn-ea"/>
              </a:rPr>
              <a:t>，认证者借此验证请求者是否拥有正确的</a:t>
            </a:r>
            <a:r>
              <a:rPr lang="en-US" altLang="zh-CN" dirty="0">
                <a:sym typeface="+mn-ea"/>
              </a:rPr>
              <a:t>PMK</a:t>
            </a:r>
            <a:r>
              <a:rPr lang="zh-CN" altLang="en-US" dirty="0">
                <a:sym typeface="+mn-ea"/>
              </a:rPr>
              <a:t>，确保身份的合法性。</a:t>
            </a:r>
            <a:r>
              <a:rPr lang="en-US" altLang="zh-CN" dirty="0">
                <a:sym typeface="+mn-ea"/>
              </a:rPr>
              <a:t>
</a:t>
            </a:r>
            <a:r>
              <a:rPr lang="zh-CN" altLang="en-US" dirty="0">
                <a:sym typeface="+mn-ea"/>
              </a:rPr>
              <a:t>第三次握手，认证者向请求者发送用</a:t>
            </a:r>
            <a:r>
              <a:rPr lang="en-US" altLang="zh-CN" dirty="0">
                <a:sym typeface="+mn-ea"/>
              </a:rPr>
              <a:t>PTK</a:t>
            </a:r>
            <a:r>
              <a:rPr lang="zh-CN" altLang="en-US" dirty="0">
                <a:sym typeface="+mn-ea"/>
              </a:rPr>
              <a:t>加密的</a:t>
            </a:r>
            <a:r>
              <a:rPr lang="en-US" altLang="zh-CN" dirty="0">
                <a:sym typeface="+mn-ea"/>
              </a:rPr>
              <a:t>GTK</a:t>
            </a:r>
            <a:r>
              <a:rPr lang="zh-CN" altLang="en-US" dirty="0">
                <a:sym typeface="+mn-ea"/>
              </a:rPr>
              <a:t>和</a:t>
            </a:r>
            <a:r>
              <a:rPr lang="en-US" altLang="zh-CN" dirty="0">
                <a:sym typeface="+mn-ea"/>
              </a:rPr>
              <a:t>MIC</a:t>
            </a:r>
            <a:r>
              <a:rPr lang="zh-CN" altLang="en-US" dirty="0">
                <a:sym typeface="+mn-ea"/>
              </a:rPr>
              <a:t>，实现组密钥的分发，同时请求者也能验证认证者身份。</a:t>
            </a:r>
            <a:endParaRPr lang="zh-CN" altLang="en-US" dirty="0">
              <a:sym typeface="+mn-ea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dirty="0">
                <a:sym typeface="+mn-ea"/>
              </a:rPr>
              <a:t>第四次握手，请求者发送</a:t>
            </a:r>
            <a:r>
              <a:rPr lang="en-US" altLang="zh-CN" dirty="0">
                <a:sym typeface="+mn-ea"/>
              </a:rPr>
              <a:t>MIC</a:t>
            </a:r>
            <a:r>
              <a:rPr lang="zh-CN" altLang="en-US" dirty="0">
                <a:sym typeface="+mn-ea"/>
              </a:rPr>
              <a:t>，确认密钥安装完成，至此整个握手过程结束。</a:t>
            </a:r>
            <a:r>
              <a:rPr lang="en-US" altLang="zh-CN" dirty="0">
                <a:sym typeface="+mn-ea"/>
              </a:rPr>
              <a:t>
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</a:pPr>
            <a:r>
              <a:rPr lang="en-US">
                <a:solidFill>
                  <a:srgbClr val="000000"/>
                </a:solidFill>
                <a:sym typeface="+mn-ea"/>
              </a:rPr>
              <a:t>在四次握手中，最重要的环节之一就是PTK的派生。PTK，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会话密钥</a:t>
            </a:r>
            <a:r>
              <a:rPr lang="en-US">
                <a:solidFill>
                  <a:srgbClr val="000000"/>
                </a:solidFill>
                <a:sym typeface="+mn-ea"/>
              </a:rPr>
              <a:t>，是由PMK、双方的MAC地址以及两次握手交换的随机数Nonce共同生成的。这个复杂的公式确保了即使在握手过程中信息被截获，攻击者也难以推导出PTK。生成的PTK又分为三个部分，分别用于消息确认、密钥加密和数据加密，各司其职，保障通信安全。</a:t>
            </a:r>
            <a:endParaRPr lang="en-US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sz="18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sz="18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sz="18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sz="18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dirty="0">
                <a:sym typeface="+mn-ea"/>
              </a:rPr>
              <a:t>EAPOL-Key</a:t>
            </a:r>
            <a:r>
              <a:rPr lang="zh-CN" altLang="en-US" sz="1800" dirty="0">
                <a:sym typeface="+mn-ea"/>
              </a:rPr>
              <a:t>帧在</a:t>
            </a:r>
            <a:r>
              <a:rPr lang="en-US" altLang="zh-CN" sz="1800" dirty="0">
                <a:sym typeface="+mn-ea"/>
              </a:rPr>
              <a:t>WPA2-PSK</a:t>
            </a:r>
            <a:r>
              <a:rPr lang="zh-CN" altLang="en-US" sz="1800" dirty="0">
                <a:sym typeface="+mn-ea"/>
              </a:rPr>
              <a:t>的四次握手中扮演着载体角色，其结构中的几个关键字段至关重要。</a:t>
            </a:r>
            <a:r>
              <a:rPr lang="en-US" altLang="zh-CN" sz="1800" dirty="0">
                <a:sym typeface="+mn-ea"/>
              </a:rPr>
              <a:t>Nonce</a:t>
            </a:r>
            <a:r>
              <a:rPr lang="zh-CN" altLang="en-US" sz="1800" dirty="0">
                <a:sym typeface="+mn-ea"/>
              </a:rPr>
              <a:t>为</a:t>
            </a:r>
            <a:r>
              <a:rPr lang="en-US" altLang="zh-CN" sz="1800" dirty="0">
                <a:sym typeface="+mn-ea"/>
              </a:rPr>
              <a:t>32</a:t>
            </a:r>
            <a:r>
              <a:rPr lang="zh-CN" altLang="en-US" sz="1800" dirty="0">
                <a:sym typeface="+mn-ea"/>
              </a:rPr>
              <a:t>字节的随机数，由</a:t>
            </a:r>
            <a:r>
              <a:rPr lang="en-US" altLang="zh-CN" sz="1800" dirty="0">
                <a:sym typeface="+mn-ea"/>
              </a:rPr>
              <a:t>Authenticator</a:t>
            </a:r>
            <a:r>
              <a:rPr lang="zh-CN" altLang="en-US" sz="1800" dirty="0">
                <a:sym typeface="+mn-ea"/>
              </a:rPr>
              <a:t>生成</a:t>
            </a:r>
            <a:r>
              <a:rPr lang="en-US" altLang="zh-CN" sz="1800" dirty="0">
                <a:sym typeface="+mn-ea"/>
              </a:rPr>
              <a:t>ANonce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Supplicant</a:t>
            </a:r>
            <a:r>
              <a:rPr lang="zh-CN" altLang="en-US" sz="1800" dirty="0">
                <a:sym typeface="+mn-ea"/>
              </a:rPr>
              <a:t>生成</a:t>
            </a:r>
            <a:r>
              <a:rPr lang="en-US" altLang="zh-CN" sz="1800" dirty="0">
                <a:sym typeface="+mn-ea"/>
              </a:rPr>
              <a:t>SNonce</a:t>
            </a:r>
            <a:r>
              <a:rPr lang="zh-CN" altLang="en-US" sz="1800" dirty="0">
                <a:sym typeface="+mn-ea"/>
              </a:rPr>
              <a:t>，它保证了每次会话的唯一性，就像为每次交流都设置了独特的</a:t>
            </a:r>
            <a:r>
              <a:rPr lang="en-US" altLang="zh-CN" sz="1800" dirty="0">
                <a:sym typeface="+mn-ea"/>
              </a:rPr>
              <a:t>“</a:t>
            </a:r>
            <a:r>
              <a:rPr lang="zh-CN" altLang="en-US" sz="1800" dirty="0">
                <a:sym typeface="+mn-ea"/>
              </a:rPr>
              <a:t>密码锁</a:t>
            </a:r>
            <a:r>
              <a:rPr lang="en-US" altLang="zh-CN" sz="1800" dirty="0">
                <a:sym typeface="+mn-ea"/>
              </a:rPr>
              <a:t>”</a:t>
            </a:r>
            <a:r>
              <a:rPr lang="zh-CN" altLang="en-US" sz="1800" dirty="0">
                <a:sym typeface="+mn-ea"/>
              </a:rPr>
              <a:t>，有效避免会话重复，增强了安全性。</a:t>
            </a:r>
            <a:r>
              <a:rPr lang="en-US" altLang="zh-CN" sz="1800" dirty="0">
                <a:sym typeface="+mn-ea"/>
              </a:rPr>
              <a:t>
Key MIC</a:t>
            </a:r>
            <a:r>
              <a:rPr lang="zh-CN" altLang="en-US" sz="1800" dirty="0">
                <a:sym typeface="+mn-ea"/>
              </a:rPr>
              <a:t>是</a:t>
            </a:r>
            <a:r>
              <a:rPr lang="en-US" altLang="zh-CN" sz="1800" dirty="0">
                <a:sym typeface="+mn-ea"/>
              </a:rPr>
              <a:t>16</a:t>
            </a:r>
            <a:r>
              <a:rPr lang="zh-CN" altLang="en-US" sz="1800" dirty="0">
                <a:sym typeface="+mn-ea"/>
              </a:rPr>
              <a:t>字节的消息完整性校验码，通过</a:t>
            </a:r>
            <a:r>
              <a:rPr lang="en-US" altLang="zh-CN" sz="1800" dirty="0">
                <a:sym typeface="+mn-ea"/>
              </a:rPr>
              <a:t>KCK</a:t>
            </a:r>
            <a:r>
              <a:rPr lang="zh-CN" altLang="en-US" sz="1800" dirty="0">
                <a:sym typeface="+mn-ea"/>
              </a:rPr>
              <a:t>计算得出，用于验证消息的完整性和真实性。这好比是给消息贴上了</a:t>
            </a:r>
            <a:r>
              <a:rPr lang="en-US" altLang="zh-CN" sz="1800" dirty="0">
                <a:sym typeface="+mn-ea"/>
              </a:rPr>
              <a:t>“</a:t>
            </a:r>
            <a:r>
              <a:rPr lang="zh-CN" altLang="en-US" sz="1800" dirty="0">
                <a:sym typeface="+mn-ea"/>
              </a:rPr>
              <a:t>防伪标签</a:t>
            </a:r>
            <a:r>
              <a:rPr lang="en-US" altLang="zh-CN" sz="1800" dirty="0">
                <a:sym typeface="+mn-ea"/>
              </a:rPr>
              <a:t>”</a:t>
            </a:r>
            <a:r>
              <a:rPr lang="zh-CN" altLang="en-US" sz="1800" dirty="0">
                <a:sym typeface="+mn-ea"/>
              </a:rPr>
              <a:t>，让接收方能够确认消息在传输过程中没有被篡改。</a:t>
            </a:r>
            <a:r>
              <a:rPr lang="en-US" altLang="zh-CN" sz="1800" dirty="0">
                <a:sym typeface="+mn-ea"/>
              </a:rPr>
              <a:t>
Replay Counter</a:t>
            </a:r>
            <a:r>
              <a:rPr lang="zh-CN" altLang="en-US" sz="1800" dirty="0">
                <a:sym typeface="+mn-ea"/>
              </a:rPr>
              <a:t>是</a:t>
            </a:r>
            <a:r>
              <a:rPr lang="en-US" altLang="zh-CN" sz="1800" dirty="0">
                <a:sym typeface="+mn-ea"/>
              </a:rPr>
              <a:t>8</a:t>
            </a:r>
            <a:r>
              <a:rPr lang="zh-CN" altLang="en-US" sz="1800" dirty="0">
                <a:sym typeface="+mn-ea"/>
              </a:rPr>
              <a:t>字节的重放计数器，每次握手递增，能防止攻击者重放旧的握手消息。它就像一个</a:t>
            </a:r>
            <a:r>
              <a:rPr lang="en-US" altLang="zh-CN" sz="1800" dirty="0">
                <a:sym typeface="+mn-ea"/>
              </a:rPr>
              <a:t>“</a:t>
            </a:r>
            <a:r>
              <a:rPr lang="zh-CN" altLang="en-US" sz="1800" dirty="0">
                <a:sym typeface="+mn-ea"/>
              </a:rPr>
              <a:t>时间戳</a:t>
            </a:r>
            <a:r>
              <a:rPr lang="en-US" altLang="zh-CN" sz="1800" dirty="0">
                <a:sym typeface="+mn-ea"/>
              </a:rPr>
              <a:t>”</a:t>
            </a:r>
            <a:r>
              <a:rPr lang="zh-CN" altLang="en-US" sz="1800" dirty="0">
                <a:sym typeface="+mn-ea"/>
              </a:rPr>
              <a:t>，确保每次握手都是新的，避免攻击者利用旧消息进行攻击。</a:t>
            </a:r>
            <a:endParaRPr lang="zh-CN" altLang="en-US" sz="1800" dirty="0"/>
          </a:p>
          <a:p>
            <a:pPr marL="0" marR="0" lvl="0" indent="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sz="18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0" marR="0" lvl="0" indent="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sz="18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sz="18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kern="100" dirty="0">
                <a:effectLst/>
                <a:latin typeface="等线" panose="02010600030101010101" charset="-122"/>
                <a:ea typeface="等线" panose="02010600030101010101" charset="-122"/>
                <a:cs typeface="Times New Roman" panose="02020603050405020304" pitchFamily="18" charset="0"/>
              </a:rPr>
              <a:t>明确的漏洞环境：需要未打补丁的旧版本系统</a:t>
            </a:r>
            <a:endParaRPr lang="zh-CN" altLang="en-US" sz="18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0" marR="0" lvl="0" indent="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800" kern="100" dirty="0">
                <a:effectLst/>
                <a:latin typeface="等线" panose="02010600030101010101" charset="-122"/>
                <a:ea typeface="等线" panose="02010600030101010101" charset="-122"/>
                <a:cs typeface="Times New Roman" panose="02020603050405020304" pitchFamily="18" charset="0"/>
              </a:rPr>
              <a:t>Android 6.0+ (2017</a:t>
            </a:r>
            <a:r>
              <a:rPr lang="zh-CN" altLang="en-US" sz="1800" kern="100" dirty="0">
                <a:effectLst/>
                <a:latin typeface="等线" panose="02010600030101010101" charset="-122"/>
                <a:ea typeface="等线" panose="02010600030101010101" charset="-122"/>
                <a:cs typeface="Times New Roman" panose="02020603050405020304" pitchFamily="18" charset="0"/>
              </a:rPr>
              <a:t>年前版本</a:t>
            </a:r>
            <a:r>
              <a:rPr lang="en-US" altLang="zh-CN" sz="1800" kern="100" dirty="0">
                <a:effectLst/>
                <a:latin typeface="等线" panose="02010600030101010101" charset="-122"/>
                <a:ea typeface="等线" panose="02010600030101010101" charset="-122"/>
                <a:cs typeface="Times New Roman" panose="02020603050405020304" pitchFamily="18" charset="0"/>
              </a:rPr>
              <a:t>)</a:t>
            </a:r>
            <a:endParaRPr lang="en-US" altLang="zh-CN" sz="18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0" marR="0" lvl="0" indent="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800" kern="100" dirty="0">
                <a:effectLst/>
                <a:latin typeface="等线" panose="02010600030101010101" charset="-122"/>
                <a:ea typeface="等线" panose="02010600030101010101" charset="-122"/>
                <a:cs typeface="Times New Roman" panose="02020603050405020304" pitchFamily="18" charset="0"/>
              </a:rPr>
              <a:t>Linux (wpa_supplicant v2.3-2.6)</a:t>
            </a:r>
            <a:endParaRPr lang="en-US" altLang="zh-CN" sz="18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0" marR="0" lvl="0" indent="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800" kern="100" dirty="0">
                <a:effectLst/>
                <a:latin typeface="等线" panose="02010600030101010101" charset="-122"/>
                <a:ea typeface="等线" panose="02010600030101010101" charset="-122"/>
                <a:cs typeface="Times New Roman" panose="02020603050405020304" pitchFamily="18" charset="0"/>
              </a:rPr>
              <a:t>Windows (</a:t>
            </a:r>
            <a:r>
              <a:rPr lang="zh-CN" altLang="en-US" sz="1800" kern="100" dirty="0">
                <a:effectLst/>
                <a:latin typeface="等线" panose="02010600030101010101" charset="-122"/>
                <a:ea typeface="等线" panose="02010600030101010101" charset="-122"/>
                <a:cs typeface="Times New Roman" panose="02020603050405020304" pitchFamily="18" charset="0"/>
              </a:rPr>
              <a:t>部分版本</a:t>
            </a:r>
            <a:r>
              <a:rPr lang="en-US" altLang="zh-CN" sz="1800" kern="100" dirty="0">
                <a:effectLst/>
                <a:latin typeface="等线" panose="02010600030101010101" charset="-122"/>
                <a:ea typeface="等线" panose="02010600030101010101" charset="-122"/>
                <a:cs typeface="Times New Roman" panose="02020603050405020304" pitchFamily="18" charset="0"/>
              </a:rPr>
              <a:t>)</a:t>
            </a:r>
            <a:endParaRPr lang="en-US" altLang="zh-CN" sz="18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0" marR="0" lvl="0" indent="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kern="100" dirty="0">
                <a:effectLst/>
                <a:latin typeface="等线" panose="02010600030101010101" charset="-122"/>
                <a:ea typeface="等线" panose="02010600030101010101" charset="-122"/>
                <a:cs typeface="Times New Roman" panose="02020603050405020304" pitchFamily="18" charset="0"/>
              </a:rPr>
              <a:t>旧路由器固件（如</a:t>
            </a:r>
            <a:r>
              <a:rPr lang="en-US" altLang="zh-CN" sz="1800" kern="100" dirty="0">
                <a:effectLst/>
                <a:latin typeface="等线" panose="02010600030101010101" charset="-122"/>
                <a:ea typeface="等线" panose="02010600030101010101" charset="-122"/>
                <a:cs typeface="Times New Roman" panose="02020603050405020304" pitchFamily="18" charset="0"/>
              </a:rPr>
              <a:t>DD-WRT r33607</a:t>
            </a:r>
            <a:r>
              <a:rPr lang="zh-CN" altLang="en-US" sz="1800" kern="100" dirty="0">
                <a:effectLst/>
                <a:latin typeface="等线" panose="02010600030101010101" charset="-122"/>
                <a:ea typeface="等线" panose="02010600030101010101" charset="-122"/>
                <a:cs typeface="Times New Roman" panose="02020603050405020304" pitchFamily="18" charset="0"/>
              </a:rPr>
              <a:t>之前版本）</a:t>
            </a:r>
            <a:endParaRPr lang="zh-CN" altLang="en-US" sz="18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0" marR="0" lvl="0" indent="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0" marR="0" lvl="0" indent="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0" marR="0" lvl="0" indent="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kern="100" dirty="0">
                <a:effectLst/>
                <a:latin typeface="等线" panose="02010600030101010101" charset="-122"/>
                <a:ea typeface="等线" panose="02010600030101010101" charset="-122"/>
                <a:cs typeface="Times New Roman" panose="02020603050405020304" pitchFamily="18" charset="0"/>
              </a:rPr>
              <a:t>需要支持</a:t>
            </a:r>
            <a:r>
              <a:rPr lang="en-US" altLang="zh-CN" sz="1800" kern="100" dirty="0">
                <a:effectLst/>
                <a:latin typeface="等线" panose="02010600030101010101" charset="-122"/>
                <a:ea typeface="等线" panose="02010600030101010101" charset="-122"/>
                <a:cs typeface="Times New Roman" panose="02020603050405020304" pitchFamily="18" charset="0"/>
              </a:rPr>
              <a:t>Monitor</a:t>
            </a:r>
            <a:r>
              <a:rPr lang="zh-CN" altLang="en-US" sz="1800" kern="100" dirty="0">
                <a:effectLst/>
                <a:latin typeface="等线" panose="02010600030101010101" charset="-122"/>
                <a:ea typeface="等线" panose="02010600030101010101" charset="-122"/>
                <a:cs typeface="Times New Roman" panose="02020603050405020304" pitchFamily="18" charset="0"/>
              </a:rPr>
              <a:t>模式的</a:t>
            </a:r>
            <a:r>
              <a:rPr lang="en-US" altLang="zh-CN" sz="1800" kern="100" dirty="0">
                <a:effectLst/>
                <a:latin typeface="等线" panose="02010600030101010101" charset="-122"/>
                <a:ea typeface="等线" panose="02010600030101010101" charset="-122"/>
                <a:cs typeface="Times New Roman" panose="02020603050405020304" pitchFamily="18" charset="0"/>
              </a:rPr>
              <a:t>USB</a:t>
            </a:r>
            <a:r>
              <a:rPr lang="zh-CN" altLang="en-US" sz="1800" kern="100" dirty="0">
                <a:effectLst/>
                <a:latin typeface="等线" panose="02010600030101010101" charset="-122"/>
                <a:ea typeface="等线" panose="02010600030101010101" charset="-122"/>
                <a:cs typeface="Times New Roman" panose="02020603050405020304" pitchFamily="18" charset="0"/>
              </a:rPr>
              <a:t>无线网卡（如</a:t>
            </a:r>
            <a:r>
              <a:rPr lang="en-US" altLang="zh-CN" sz="1800" kern="100" dirty="0">
                <a:effectLst/>
                <a:latin typeface="等线" panose="02010600030101010101" charset="-122"/>
                <a:ea typeface="等线" panose="02010600030101010101" charset="-122"/>
                <a:cs typeface="Times New Roman" panose="02020603050405020304" pitchFamily="18" charset="0"/>
              </a:rPr>
              <a:t>TP-Link TL-WN722N v1</a:t>
            </a:r>
            <a:r>
              <a:rPr lang="zh-CN" altLang="en-US" sz="1800" kern="100" dirty="0">
                <a:effectLst/>
                <a:latin typeface="等线" panose="02010600030101010101" charset="-122"/>
                <a:ea typeface="等线" panose="02010600030101010101" charset="-122"/>
                <a:cs typeface="Times New Roman" panose="02020603050405020304" pitchFamily="18" charset="0"/>
              </a:rPr>
              <a:t>、</a:t>
            </a:r>
            <a:r>
              <a:rPr lang="en-US" altLang="zh-CN" sz="1800" kern="100" dirty="0">
                <a:effectLst/>
                <a:latin typeface="等线" panose="02010600030101010101" charset="-122"/>
                <a:ea typeface="等线" panose="02010600030101010101" charset="-122"/>
                <a:cs typeface="Times New Roman" panose="02020603050405020304" pitchFamily="18" charset="0"/>
              </a:rPr>
              <a:t>Intel AC 7260</a:t>
            </a:r>
            <a:r>
              <a:rPr lang="zh-CN" altLang="en-US" sz="1800" kern="100" dirty="0">
                <a:effectLst/>
                <a:latin typeface="等线" panose="02010600030101010101" charset="-122"/>
                <a:ea typeface="等线" panose="02010600030101010101" charset="-122"/>
                <a:cs typeface="Times New Roman" panose="02020603050405020304" pitchFamily="18" charset="0"/>
              </a:rPr>
              <a:t>）</a:t>
            </a:r>
            <a:endParaRPr lang="zh-CN" altLang="en-US" sz="18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0" marR="0" lvl="0" indent="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kern="100" dirty="0">
                <a:effectLst/>
                <a:latin typeface="等线" panose="02010600030101010101" charset="-122"/>
                <a:ea typeface="等线" panose="02010600030101010101" charset="-122"/>
                <a:cs typeface="Times New Roman" panose="02020603050405020304" pitchFamily="18" charset="0"/>
              </a:rPr>
              <a:t>需要两张网卡：一张用于伪造</a:t>
            </a:r>
            <a:r>
              <a:rPr lang="en-US" altLang="zh-CN" sz="1800" kern="100" dirty="0">
                <a:effectLst/>
                <a:latin typeface="等线" panose="02010600030101010101" charset="-122"/>
                <a:ea typeface="等线" panose="02010600030101010101" charset="-122"/>
                <a:cs typeface="Times New Roman" panose="02020603050405020304" pitchFamily="18" charset="0"/>
              </a:rPr>
              <a:t>AP</a:t>
            </a:r>
            <a:r>
              <a:rPr lang="zh-CN" altLang="en-US" sz="1800" kern="100" dirty="0">
                <a:effectLst/>
                <a:latin typeface="等线" panose="02010600030101010101" charset="-122"/>
                <a:ea typeface="等线" panose="02010600030101010101" charset="-122"/>
                <a:cs typeface="Times New Roman" panose="02020603050405020304" pitchFamily="18" charset="0"/>
              </a:rPr>
              <a:t>，一张用于监听</a:t>
            </a:r>
            <a:endParaRPr lang="zh-CN" altLang="en-US" sz="18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sz="18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B303E-9509-43EB-82BC-E8081B9B319F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-2644281" y="-127000"/>
            <a:ext cx="6863362" cy="6858000"/>
          </a:xfrm>
          <a:custGeom>
            <a:avLst/>
            <a:gdLst>
              <a:gd name="connsiteX0" fmla="*/ 0 w 6863362"/>
              <a:gd name="connsiteY0" fmla="*/ 0 h 6858000"/>
              <a:gd name="connsiteX1" fmla="*/ 6863362 w 6863362"/>
              <a:gd name="connsiteY1" fmla="*/ 0 h 6858000"/>
              <a:gd name="connsiteX2" fmla="*/ 6863362 w 6863362"/>
              <a:gd name="connsiteY2" fmla="*/ 6858000 h 6858000"/>
              <a:gd name="connsiteX3" fmla="*/ 2644281 w 6863362"/>
              <a:gd name="connsiteY3" fmla="*/ 6858000 h 6858000"/>
              <a:gd name="connsiteX4" fmla="*/ 2644281 w 6863362"/>
              <a:gd name="connsiteY4" fmla="*/ 127000 h 6858000"/>
              <a:gd name="connsiteX5" fmla="*/ 0 w 6863362"/>
              <a:gd name="connsiteY5" fmla="*/ 127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3362" h="6858000">
                <a:moveTo>
                  <a:pt x="0" y="0"/>
                </a:moveTo>
                <a:lnTo>
                  <a:pt x="6863362" y="0"/>
                </a:lnTo>
                <a:lnTo>
                  <a:pt x="6863362" y="6858000"/>
                </a:lnTo>
                <a:lnTo>
                  <a:pt x="2644281" y="6858000"/>
                </a:lnTo>
                <a:lnTo>
                  <a:pt x="2644281" y="127000"/>
                </a:lnTo>
                <a:lnTo>
                  <a:pt x="0" y="127000"/>
                </a:lnTo>
                <a:close/>
              </a:path>
            </a:pathLst>
          </a:custGeom>
        </p:spPr>
      </p:pic>
      <p:sp>
        <p:nvSpPr>
          <p:cNvPr id="22" name="任意多边形: 形状 21"/>
          <p:cNvSpPr/>
          <p:nvPr userDrawn="1"/>
        </p:nvSpPr>
        <p:spPr>
          <a:xfrm>
            <a:off x="0" y="0"/>
            <a:ext cx="4203700" cy="6858000"/>
          </a:xfrm>
          <a:custGeom>
            <a:avLst/>
            <a:gdLst>
              <a:gd name="connsiteX0" fmla="*/ 0 w 4255840"/>
              <a:gd name="connsiteY0" fmla="*/ 0 h 6858000"/>
              <a:gd name="connsiteX1" fmla="*/ 4255840 w 4255840"/>
              <a:gd name="connsiteY1" fmla="*/ 0 h 6858000"/>
              <a:gd name="connsiteX2" fmla="*/ 4255840 w 4255840"/>
              <a:gd name="connsiteY2" fmla="*/ 6858000 h 6858000"/>
              <a:gd name="connsiteX3" fmla="*/ 0 w 425584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55840" h="6858000">
                <a:moveTo>
                  <a:pt x="0" y="0"/>
                </a:moveTo>
                <a:lnTo>
                  <a:pt x="4255840" y="0"/>
                </a:lnTo>
                <a:lnTo>
                  <a:pt x="425584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76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rcRect l="16120" r="9557"/>
          <a:stretch>
            <a:fillRect/>
          </a:stretch>
        </p:blipFill>
        <p:spPr>
          <a:xfrm>
            <a:off x="0" y="2051499"/>
            <a:ext cx="12192000" cy="4304851"/>
          </a:xfrm>
          <a:custGeom>
            <a:avLst/>
            <a:gdLst>
              <a:gd name="connsiteX0" fmla="*/ 0 w 12192000"/>
              <a:gd name="connsiteY0" fmla="*/ 0 h 4304851"/>
              <a:gd name="connsiteX1" fmla="*/ 12192000 w 12192000"/>
              <a:gd name="connsiteY1" fmla="*/ 0 h 4304851"/>
              <a:gd name="connsiteX2" fmla="*/ 12192000 w 12192000"/>
              <a:gd name="connsiteY2" fmla="*/ 4304851 h 4304851"/>
              <a:gd name="connsiteX3" fmla="*/ 0 w 12192000"/>
              <a:gd name="connsiteY3" fmla="*/ 4304851 h 4304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04851">
                <a:moveTo>
                  <a:pt x="0" y="0"/>
                </a:moveTo>
                <a:lnTo>
                  <a:pt x="12192000" y="0"/>
                </a:lnTo>
                <a:lnTo>
                  <a:pt x="12192000" y="4304851"/>
                </a:lnTo>
                <a:lnTo>
                  <a:pt x="0" y="4304851"/>
                </a:lnTo>
                <a:close/>
              </a:path>
            </a:pathLst>
          </a:cu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4" name="椭圆 13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0B164-2FFE-4AE3-99C1-50E603FC7A8B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/>
          <p:cNvSpPr/>
          <p:nvPr userDrawn="1"/>
        </p:nvSpPr>
        <p:spPr>
          <a:xfrm>
            <a:off x="0" y="1949450"/>
            <a:ext cx="12192000" cy="2959100"/>
          </a:xfrm>
          <a:custGeom>
            <a:avLst/>
            <a:gdLst>
              <a:gd name="connsiteX0" fmla="*/ 11512367 w 12192000"/>
              <a:gd name="connsiteY0" fmla="*/ 0 h 2959100"/>
              <a:gd name="connsiteX1" fmla="*/ 12192000 w 12192000"/>
              <a:gd name="connsiteY1" fmla="*/ 0 h 2959100"/>
              <a:gd name="connsiteX2" fmla="*/ 12192000 w 12192000"/>
              <a:gd name="connsiteY2" fmla="*/ 2959100 h 2959100"/>
              <a:gd name="connsiteX3" fmla="*/ 10694916 w 12192000"/>
              <a:gd name="connsiteY3" fmla="*/ 2959100 h 2959100"/>
              <a:gd name="connsiteX4" fmla="*/ 0 w 12192000"/>
              <a:gd name="connsiteY4" fmla="*/ 0 h 2959100"/>
              <a:gd name="connsiteX5" fmla="*/ 4632159 w 12192000"/>
              <a:gd name="connsiteY5" fmla="*/ 0 h 2959100"/>
              <a:gd name="connsiteX6" fmla="*/ 3814707 w 12192000"/>
              <a:gd name="connsiteY6" fmla="*/ 2959100 h 2959100"/>
              <a:gd name="connsiteX7" fmla="*/ 0 w 12192000"/>
              <a:gd name="connsiteY7" fmla="*/ 2959100 h 295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959100">
                <a:moveTo>
                  <a:pt x="11512367" y="0"/>
                </a:moveTo>
                <a:lnTo>
                  <a:pt x="12192000" y="0"/>
                </a:lnTo>
                <a:lnTo>
                  <a:pt x="12192000" y="2959100"/>
                </a:lnTo>
                <a:lnTo>
                  <a:pt x="10694916" y="2959100"/>
                </a:lnTo>
                <a:close/>
                <a:moveTo>
                  <a:pt x="0" y="0"/>
                </a:moveTo>
                <a:lnTo>
                  <a:pt x="4632159" y="0"/>
                </a:lnTo>
                <a:lnTo>
                  <a:pt x="3814707" y="2959100"/>
                </a:lnTo>
                <a:lnTo>
                  <a:pt x="0" y="2959100"/>
                </a:lnTo>
                <a:close/>
              </a:path>
            </a:pathLst>
          </a:custGeom>
          <a:solidFill>
            <a:schemeClr val="accent1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78" y="2335819"/>
            <a:ext cx="2186361" cy="21863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右 15"/>
          <p:cNvSpPr/>
          <p:nvPr userDrawn="1"/>
        </p:nvSpPr>
        <p:spPr>
          <a:xfrm>
            <a:off x="0" y="2514600"/>
            <a:ext cx="12192000" cy="1905000"/>
          </a:xfrm>
          <a:prstGeom prst="rightArrow">
            <a:avLst/>
          </a:prstGeom>
          <a:gradFill>
            <a:gsLst>
              <a:gs pos="1000">
                <a:schemeClr val="bg1">
                  <a:alpha val="59000"/>
                </a:schemeClr>
              </a:gs>
              <a:gs pos="100000">
                <a:schemeClr val="accent1">
                  <a:alpha val="44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1295400" y="1524000"/>
            <a:ext cx="2819400" cy="4114800"/>
            <a:chOff x="1282700" y="1536700"/>
            <a:chExt cx="3429000" cy="4305300"/>
          </a:xfrm>
        </p:grpSpPr>
        <p:sp>
          <p:nvSpPr>
            <p:cNvPr id="18" name="任意多边形: 形状 17"/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/>
          <p:cNvGrpSpPr/>
          <p:nvPr userDrawn="1"/>
        </p:nvGrpSpPr>
        <p:grpSpPr>
          <a:xfrm>
            <a:off x="4699000" y="1524000"/>
            <a:ext cx="2819400" cy="4114800"/>
            <a:chOff x="1282700" y="1536700"/>
            <a:chExt cx="3429000" cy="4305300"/>
          </a:xfrm>
        </p:grpSpPr>
        <p:sp>
          <p:nvSpPr>
            <p:cNvPr id="21" name="任意多边形: 形状 20"/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: 形状 21"/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/>
          <p:cNvGrpSpPr/>
          <p:nvPr userDrawn="1"/>
        </p:nvGrpSpPr>
        <p:grpSpPr>
          <a:xfrm>
            <a:off x="8102600" y="1524000"/>
            <a:ext cx="2819400" cy="4114800"/>
            <a:chOff x="1282700" y="1536700"/>
            <a:chExt cx="3429000" cy="4305300"/>
          </a:xfrm>
        </p:grpSpPr>
        <p:sp>
          <p:nvSpPr>
            <p:cNvPr id="24" name="任意多边形: 形状 23"/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: 形状 24"/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图片占位符 29"/>
          <p:cNvSpPr>
            <a:spLocks noGrp="1"/>
          </p:cNvSpPr>
          <p:nvPr>
            <p:ph type="pic" sz="quarter" idx="10"/>
          </p:nvPr>
        </p:nvSpPr>
        <p:spPr>
          <a:xfrm>
            <a:off x="1612900" y="2641600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1" name="图片占位符 29"/>
          <p:cNvSpPr>
            <a:spLocks noGrp="1"/>
          </p:cNvSpPr>
          <p:nvPr>
            <p:ph type="pic" sz="quarter" idx="11"/>
          </p:nvPr>
        </p:nvSpPr>
        <p:spPr>
          <a:xfrm>
            <a:off x="5043862" y="2666547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2" name="图片占位符 29"/>
          <p:cNvSpPr>
            <a:spLocks noGrp="1"/>
          </p:cNvSpPr>
          <p:nvPr>
            <p:ph type="pic" sz="quarter" idx="12"/>
          </p:nvPr>
        </p:nvSpPr>
        <p:spPr>
          <a:xfrm>
            <a:off x="8427959" y="2666547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5" name="图片占位符 14"/>
          <p:cNvSpPr>
            <a:spLocks noGrp="1"/>
          </p:cNvSpPr>
          <p:nvPr>
            <p:ph type="pic" sz="quarter" idx="10"/>
          </p:nvPr>
        </p:nvSpPr>
        <p:spPr>
          <a:xfrm>
            <a:off x="1758492" y="1542215"/>
            <a:ext cx="3961348" cy="4373767"/>
          </a:xfrm>
          <a:custGeom>
            <a:avLst/>
            <a:gdLst>
              <a:gd name="connsiteX0" fmla="*/ 639544 w 3961348"/>
              <a:gd name="connsiteY0" fmla="*/ 130 h 4373767"/>
              <a:gd name="connsiteX1" fmla="*/ 975085 w 3961348"/>
              <a:gd name="connsiteY1" fmla="*/ 87187 h 4373767"/>
              <a:gd name="connsiteX2" fmla="*/ 3634977 w 3961348"/>
              <a:gd name="connsiteY2" fmla="*/ 1621488 h 4373767"/>
              <a:gd name="connsiteX3" fmla="*/ 3637187 w 3961348"/>
              <a:gd name="connsiteY3" fmla="*/ 2748680 h 4373767"/>
              <a:gd name="connsiteX4" fmla="*/ 988209 w 3961348"/>
              <a:gd name="connsiteY4" fmla="*/ 4285044 h 4373767"/>
              <a:gd name="connsiteX5" fmla="*/ 10915 w 3961348"/>
              <a:gd name="connsiteY5" fmla="*/ 3723385 h 4373767"/>
              <a:gd name="connsiteX6" fmla="*/ 1 w 3961348"/>
              <a:gd name="connsiteY6" fmla="*/ 652720 h 4373767"/>
              <a:gd name="connsiteX7" fmla="*/ 639544 w 3961348"/>
              <a:gd name="connsiteY7" fmla="*/ 130 h 4373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61348" h="4373767">
                <a:moveTo>
                  <a:pt x="639544" y="130"/>
                </a:moveTo>
                <a:cubicBezTo>
                  <a:pt x="751351" y="-2124"/>
                  <a:pt x="866584" y="24931"/>
                  <a:pt x="975085" y="87187"/>
                </a:cubicBezTo>
                <a:cubicBezTo>
                  <a:pt x="975085" y="87187"/>
                  <a:pt x="975085" y="87187"/>
                  <a:pt x="3634977" y="1621488"/>
                </a:cubicBezTo>
                <a:cubicBezTo>
                  <a:pt x="4068980" y="1870511"/>
                  <a:pt x="4070558" y="2497332"/>
                  <a:pt x="3637187" y="2748680"/>
                </a:cubicBezTo>
                <a:cubicBezTo>
                  <a:pt x="3637187" y="2748680"/>
                  <a:pt x="3637187" y="2748680"/>
                  <a:pt x="988209" y="4285044"/>
                </a:cubicBezTo>
                <a:cubicBezTo>
                  <a:pt x="554839" y="4536392"/>
                  <a:pt x="11547" y="4223756"/>
                  <a:pt x="10915" y="3723385"/>
                </a:cubicBezTo>
                <a:cubicBezTo>
                  <a:pt x="10915" y="3723385"/>
                  <a:pt x="10915" y="3723385"/>
                  <a:pt x="1" y="652720"/>
                </a:cubicBezTo>
                <a:cubicBezTo>
                  <a:pt x="-473" y="277442"/>
                  <a:pt x="304122" y="6893"/>
                  <a:pt x="639544" y="13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660400" y="1495641"/>
            <a:ext cx="3771900" cy="4343400"/>
          </a:xfrm>
          <a:custGeom>
            <a:avLst/>
            <a:gdLst>
              <a:gd name="connsiteX0" fmla="*/ 942975 w 3771900"/>
              <a:gd name="connsiteY0" fmla="*/ 0 h 4343400"/>
              <a:gd name="connsiteX1" fmla="*/ 3771900 w 3771900"/>
              <a:gd name="connsiteY1" fmla="*/ 0 h 4343400"/>
              <a:gd name="connsiteX2" fmla="*/ 2828925 w 3771900"/>
              <a:gd name="connsiteY2" fmla="*/ 4343400 h 4343400"/>
              <a:gd name="connsiteX3" fmla="*/ 0 w 3771900"/>
              <a:gd name="connsiteY3" fmla="*/ 434340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1900" h="4343400">
                <a:moveTo>
                  <a:pt x="942975" y="0"/>
                </a:moveTo>
                <a:lnTo>
                  <a:pt x="3771900" y="0"/>
                </a:lnTo>
                <a:lnTo>
                  <a:pt x="2828925" y="4343400"/>
                </a:lnTo>
                <a:lnTo>
                  <a:pt x="0" y="4343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1"/>
          </p:nvPr>
        </p:nvSpPr>
        <p:spPr>
          <a:xfrm>
            <a:off x="6426200" y="1495641"/>
            <a:ext cx="3771900" cy="4343400"/>
          </a:xfrm>
          <a:custGeom>
            <a:avLst/>
            <a:gdLst>
              <a:gd name="connsiteX0" fmla="*/ 942975 w 3771900"/>
              <a:gd name="connsiteY0" fmla="*/ 0 h 4343400"/>
              <a:gd name="connsiteX1" fmla="*/ 3771900 w 3771900"/>
              <a:gd name="connsiteY1" fmla="*/ 0 h 4343400"/>
              <a:gd name="connsiteX2" fmla="*/ 2828925 w 3771900"/>
              <a:gd name="connsiteY2" fmla="*/ 4343400 h 4343400"/>
              <a:gd name="connsiteX3" fmla="*/ 0 w 3771900"/>
              <a:gd name="connsiteY3" fmla="*/ 434340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1900" h="4343400">
                <a:moveTo>
                  <a:pt x="942975" y="0"/>
                </a:moveTo>
                <a:lnTo>
                  <a:pt x="3771900" y="0"/>
                </a:lnTo>
                <a:lnTo>
                  <a:pt x="2828925" y="4343400"/>
                </a:lnTo>
                <a:lnTo>
                  <a:pt x="0" y="4343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1403040" y="1445435"/>
            <a:ext cx="2163775" cy="2396907"/>
          </a:xfrm>
          <a:ln w="38100">
            <a:solidFill>
              <a:srgbClr val="963A89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6" name="图片占位符 2"/>
          <p:cNvSpPr>
            <a:spLocks noGrp="1"/>
          </p:cNvSpPr>
          <p:nvPr>
            <p:ph type="pic" sz="quarter" idx="12"/>
          </p:nvPr>
        </p:nvSpPr>
        <p:spPr>
          <a:xfrm>
            <a:off x="3854186" y="1445435"/>
            <a:ext cx="2163775" cy="2396907"/>
          </a:xfrm>
          <a:ln w="38100" cap="flat" cmpd="sng" algn="ctr">
            <a:solidFill>
              <a:srgbClr val="963A8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dirty="0"/>
          </a:p>
        </p:txBody>
      </p:sp>
      <p:sp>
        <p:nvSpPr>
          <p:cNvPr id="37" name="图片占位符 2"/>
          <p:cNvSpPr>
            <a:spLocks noGrp="1"/>
          </p:cNvSpPr>
          <p:nvPr>
            <p:ph type="pic" sz="quarter" idx="13"/>
          </p:nvPr>
        </p:nvSpPr>
        <p:spPr>
          <a:xfrm>
            <a:off x="6305333" y="1445435"/>
            <a:ext cx="2163775" cy="2396907"/>
          </a:xfrm>
          <a:ln w="38100" cap="flat" cmpd="sng" algn="ctr">
            <a:solidFill>
              <a:srgbClr val="963A8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dirty="0"/>
          </a:p>
        </p:txBody>
      </p:sp>
      <p:sp>
        <p:nvSpPr>
          <p:cNvPr id="35" name="图片占位符 2"/>
          <p:cNvSpPr>
            <a:spLocks noGrp="1"/>
          </p:cNvSpPr>
          <p:nvPr>
            <p:ph type="pic" sz="quarter" idx="11"/>
          </p:nvPr>
        </p:nvSpPr>
        <p:spPr>
          <a:xfrm>
            <a:off x="8756479" y="1445435"/>
            <a:ext cx="2163775" cy="2396907"/>
          </a:xfrm>
          <a:ln w="38100">
            <a:solidFill>
              <a:srgbClr val="963A89"/>
            </a:solidFill>
          </a:ln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4" name="Freeform 17"/>
          <p:cNvSpPr/>
          <p:nvPr userDrawn="1"/>
        </p:nvSpPr>
        <p:spPr bwMode="auto">
          <a:xfrm>
            <a:off x="946150" y="1315711"/>
            <a:ext cx="4819650" cy="4703259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0"/>
          </p:nvPr>
        </p:nvSpPr>
        <p:spPr>
          <a:xfrm>
            <a:off x="1413230" y="1519576"/>
            <a:ext cx="4352570" cy="4295531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17"/>
          <p:cNvSpPr/>
          <p:nvPr userDrawn="1"/>
        </p:nvSpPr>
        <p:spPr bwMode="auto">
          <a:xfrm>
            <a:off x="3216200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25" name="Freeform 17"/>
          <p:cNvSpPr/>
          <p:nvPr userDrawn="1"/>
        </p:nvSpPr>
        <p:spPr bwMode="auto">
          <a:xfrm>
            <a:off x="6378832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26" name="Freeform 17"/>
          <p:cNvSpPr/>
          <p:nvPr userDrawn="1"/>
        </p:nvSpPr>
        <p:spPr bwMode="auto">
          <a:xfrm>
            <a:off x="9541465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4" name="Freeform 17"/>
          <p:cNvSpPr/>
          <p:nvPr userDrawn="1"/>
        </p:nvSpPr>
        <p:spPr bwMode="auto">
          <a:xfrm>
            <a:off x="53568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0"/>
          </p:nvPr>
        </p:nvSpPr>
        <p:spPr>
          <a:xfrm>
            <a:off x="-6333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1" name="图片占位符 12"/>
          <p:cNvSpPr>
            <a:spLocks noGrp="1"/>
          </p:cNvSpPr>
          <p:nvPr>
            <p:ph type="pic" sz="quarter" idx="11"/>
          </p:nvPr>
        </p:nvSpPr>
        <p:spPr>
          <a:xfrm>
            <a:off x="3120904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2" name="图片占位符 12"/>
          <p:cNvSpPr>
            <a:spLocks noGrp="1"/>
          </p:cNvSpPr>
          <p:nvPr>
            <p:ph type="pic" sz="quarter" idx="12"/>
          </p:nvPr>
        </p:nvSpPr>
        <p:spPr>
          <a:xfrm>
            <a:off x="6248140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3" name="图片占位符 12"/>
          <p:cNvSpPr>
            <a:spLocks noGrp="1"/>
          </p:cNvSpPr>
          <p:nvPr>
            <p:ph type="pic" sz="quarter" idx="13"/>
          </p:nvPr>
        </p:nvSpPr>
        <p:spPr>
          <a:xfrm>
            <a:off x="9375377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包含 监视器, 电子产品, 室内, 就坐&#10;&#10;自动生成的说明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322" y="449217"/>
            <a:ext cx="2871578" cy="5959565"/>
          </a:xfrm>
          <a:prstGeom prst="rect">
            <a:avLst/>
          </a:prstGeom>
        </p:spPr>
      </p:pic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5003800" y="1130300"/>
            <a:ext cx="2578100" cy="4597400"/>
          </a:xfrm>
        </p:spPr>
        <p:txBody>
          <a:bodyPr/>
          <a:lstStyle/>
          <a:p>
            <a:endParaRPr lang="zh-CN" altLang="en-US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195459" y="351347"/>
            <a:ext cx="6155304" cy="6155304"/>
            <a:chOff x="3195459" y="351347"/>
            <a:chExt cx="6155304" cy="6155304"/>
          </a:xfrm>
        </p:grpSpPr>
        <p:sp>
          <p:nvSpPr>
            <p:cNvPr id="4" name="椭圆 3"/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2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1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 userDrawn="1"/>
        </p:nvGrpSpPr>
        <p:grpSpPr>
          <a:xfrm>
            <a:off x="1245243" y="-1417133"/>
            <a:ext cx="9613257" cy="9613257"/>
            <a:chOff x="3195459" y="351347"/>
            <a:chExt cx="6155304" cy="6155304"/>
          </a:xfrm>
        </p:grpSpPr>
        <p:sp>
          <p:nvSpPr>
            <p:cNvPr id="16" name="椭圆 15"/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grpSp>
        <p:nvGrpSpPr>
          <p:cNvPr id="12" name="组合 11"/>
          <p:cNvGrpSpPr/>
          <p:nvPr userDrawn="1"/>
        </p:nvGrpSpPr>
        <p:grpSpPr>
          <a:xfrm>
            <a:off x="3195459" y="351347"/>
            <a:ext cx="6155304" cy="6155304"/>
            <a:chOff x="3195459" y="351347"/>
            <a:chExt cx="6155304" cy="6155304"/>
          </a:xfrm>
        </p:grpSpPr>
        <p:sp>
          <p:nvSpPr>
            <p:cNvPr id="13" name="椭圆 12"/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2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1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1245243" y="-1417133"/>
            <a:ext cx="9613257" cy="9613257"/>
            <a:chOff x="3195459" y="351347"/>
            <a:chExt cx="6155304" cy="6155304"/>
          </a:xfrm>
        </p:grpSpPr>
        <p:sp>
          <p:nvSpPr>
            <p:cNvPr id="17" name="椭圆 16"/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944" y="747146"/>
            <a:ext cx="6544112" cy="6134100"/>
          </a:xfrm>
          <a:prstGeom prst="rect">
            <a:avLst/>
          </a:prstGeom>
        </p:spPr>
      </p:pic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3454400" y="1485900"/>
            <a:ext cx="5422900" cy="30480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170A4-4E3B-4F56-8FDD-F1EB4BDF678E}" type="datetime2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5DDA-53DD-4495-A1F6-B439BDA050E0}" type="datetime2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C606B-CFB8-465D-A34A-AC76AB192DCE}" type="datetime2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39A2B-D617-4E97-B74E-572C8892BBDF}" type="datetime2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71933-39CF-414B-8F3E-1FA80C540CBD}" type="datetime2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B35B4-13DE-41D0-989F-92F8B73463C4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EA381-2652-4789-B703-8168BBF1FDD9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9D340-5E09-4D59-97A7-00D321553642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8.web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1" Type="http://schemas.openxmlformats.org/officeDocument/2006/relationships/notesSlide" Target="../notesSlides/notesSlide7.xml"/><Relationship Id="rId20" Type="http://schemas.openxmlformats.org/officeDocument/2006/relationships/slideLayout" Target="../slideLayouts/slideLayout8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10.png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11.png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5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2.png"/><Relationship Id="rId1" Type="http://schemas.openxmlformats.org/officeDocument/2006/relationships/tags" Target="../tags/tag2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内容占位符 14"/>
          <p:cNvSpPr txBox="1"/>
          <p:nvPr/>
        </p:nvSpPr>
        <p:spPr>
          <a:xfrm>
            <a:off x="1517650" y="1340485"/>
            <a:ext cx="9157335" cy="27228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7E0C6E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60000"/>
              </a:lnSpc>
            </a:pP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WPA/WPA2</a:t>
            </a:r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协议分析实验</a:t>
            </a:r>
            <a:endParaRPr lang="zh-CN" alt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</a:endParaRPr>
          </a:p>
          <a:p>
            <a:pPr algn="ctr">
              <a:lnSpc>
                <a:spcPct val="160000"/>
              </a:lnSpc>
            </a:pP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——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基于手机热点的四次握手抓包与分析</a:t>
            </a:r>
            <a:endParaRPr lang="zh-CN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22" name="内容占位符 14"/>
          <p:cNvSpPr txBox="1"/>
          <p:nvPr/>
        </p:nvSpPr>
        <p:spPr>
          <a:xfrm>
            <a:off x="2897718" y="4116665"/>
            <a:ext cx="6472255" cy="10433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7E0C6E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000" dirty="0">
                <a:ea typeface="微软雅黑" panose="020B0503020204020204" pitchFamily="34" charset="-122"/>
              </a:rPr>
              <a:t>2026</a:t>
            </a:r>
            <a:r>
              <a:rPr lang="zh-CN" altLang="en-US" sz="2000" dirty="0">
                <a:ea typeface="微软雅黑" panose="020B0503020204020204" pitchFamily="34" charset="-122"/>
              </a:rPr>
              <a:t>年</a:t>
            </a:r>
            <a:r>
              <a:rPr lang="en-US" altLang="zh-CN" sz="2000" dirty="0"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ea typeface="微软雅黑" panose="020B0503020204020204" pitchFamily="34" charset="-122"/>
              </a:rPr>
              <a:t>月</a:t>
            </a:r>
            <a:endParaRPr lang="zh-CN" altLang="en-US" sz="2000" dirty="0"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210295" y="3395010"/>
            <a:ext cx="1661328" cy="324811"/>
            <a:chOff x="7670799" y="3233111"/>
            <a:chExt cx="1661328" cy="324811"/>
          </a:xfrm>
        </p:grpSpPr>
        <p:cxnSp>
          <p:nvCxnSpPr>
            <p:cNvPr id="28" name="直接连接符 27"/>
            <p:cNvCxnSpPr/>
            <p:nvPr/>
          </p:nvCxnSpPr>
          <p:spPr>
            <a:xfrm>
              <a:off x="8199455" y="3410911"/>
              <a:ext cx="1003300" cy="0"/>
            </a:xfrm>
            <a:prstGeom prst="line">
              <a:avLst/>
            </a:prstGeom>
            <a:ln w="762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8328827" y="3557922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7670799" y="3233111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0156" y="586122"/>
            <a:ext cx="863600" cy="86360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1338244" y="1287316"/>
            <a:ext cx="1661328" cy="324811"/>
            <a:chOff x="2201844" y="1429711"/>
            <a:chExt cx="1661328" cy="324811"/>
          </a:xfrm>
        </p:grpSpPr>
        <p:cxnSp>
          <p:nvCxnSpPr>
            <p:cNvPr id="24" name="直接连接符 23"/>
            <p:cNvCxnSpPr/>
            <p:nvPr/>
          </p:nvCxnSpPr>
          <p:spPr>
            <a:xfrm>
              <a:off x="2730500" y="1607511"/>
              <a:ext cx="1003300" cy="0"/>
            </a:xfrm>
            <a:prstGeom prst="line">
              <a:avLst/>
            </a:prstGeom>
            <a:ln w="762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2859872" y="1754522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2201844" y="1429711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实验目标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04495" y="784860"/>
            <a:ext cx="11383010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1. 理解协议原理</a:t>
            </a:r>
            <a:endParaRPr lang="en-US" sz="2800" b="1" dirty="0">
              <a:solidFill>
                <a:schemeClr val="bg2">
                  <a:lumMod val="25000"/>
                </a:schemeClr>
              </a:soli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 lang="en-US" sz="2000" b="1" dirty="0">
                <a:solidFill>
                  <a:schemeClr val="tx1"/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——</a:t>
            </a:r>
            <a:r>
              <a:rPr lang="en-US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深入理解WPA2-PSK协议的基本工作原理,包括认证机制、加密算法和密钥管理体系</a:t>
            </a:r>
            <a:endParaRPr lang="en-US" sz="20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2. </a:t>
            </a: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  <a:sym typeface="+mn-ea"/>
              </a:rPr>
              <a:t>掌握握手流程</a:t>
            </a:r>
            <a:endParaRPr lang="en-US" sz="2800" b="1" dirty="0">
              <a:solidFill>
                <a:schemeClr val="bg2">
                  <a:lumMod val="25000"/>
                </a:schemeClr>
              </a:soli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 lang="en-US" sz="20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——详细掌握四次握手过程的完整流程,理解每个步骤的目的、消息内容和安全机制</a:t>
            </a:r>
            <a:endParaRPr lang="en-US" sz="2000" dirty="0"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3. </a:t>
            </a: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  <a:sym typeface="+mn-ea"/>
              </a:rPr>
              <a:t>捕获握手包</a:t>
            </a:r>
            <a:endParaRPr lang="en-US" sz="2800" b="1" dirty="0">
              <a:solidFill>
                <a:schemeClr val="bg2">
                  <a:lumMod val="25000"/>
                </a:schemeClr>
              </a:soli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  <a:sym typeface="+mn-lt"/>
            </a:endParaRPr>
          </a:p>
          <a:p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 lang="en-US" sz="20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——</a:t>
            </a:r>
            <a:r>
              <a:rPr lang="en-US" sz="20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学会使用Wireshark等专业抓包工具捕获WiFi四次握手过程中的EAPOL-Key帧</a:t>
            </a:r>
            <a:endParaRPr lang="en-US" sz="2000" dirty="0"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  <a:sym typeface="+mn-lt"/>
              </a:rPr>
              <a:t>4. </a:t>
            </a: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  <a:sym typeface="+mn-ea"/>
              </a:rPr>
              <a:t>分析帧结构</a:t>
            </a:r>
            <a:endParaRPr lang="en-US" sz="2800" b="1" dirty="0">
              <a:solidFill>
                <a:schemeClr val="bg2">
                  <a:lumMod val="25000"/>
                </a:schemeClr>
              </a:soli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 lang="en-US" sz="20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——深入分析EAPOL-Key帧的结构和各个字段的含义,理解Nonce、MIC等关键数据的作用</a:t>
            </a:r>
            <a:endParaRPr lang="en-US" sz="2000" dirty="0"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5. 探讨</a:t>
            </a: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  <a:sym typeface="+mn-ea"/>
              </a:rPr>
              <a:t>安全攻击</a:t>
            </a:r>
            <a:endParaRPr lang="en-US" sz="2800" b="1" dirty="0">
              <a:solidFill>
                <a:schemeClr val="bg2">
                  <a:lumMod val="25000"/>
                </a:schemeClr>
              </a:soli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 lang="en-US" sz="20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——探讨KRACK攻击、离线字典攻击等针对WPA/WPA2协议的安全威胁和攻击原理</a:t>
            </a:r>
            <a:endParaRPr lang="en-US" sz="2000" dirty="0"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实验背景</a:t>
            </a:r>
            <a:endParaRPr lang="en-US" altLang="zh-CN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04495" y="982980"/>
            <a:ext cx="11383010" cy="5229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>
              <a:lnSpc>
                <a:spcPct val="17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    </a:t>
            </a:r>
            <a:r>
              <a:rPr lang="en-US" sz="2800" dirty="0"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随着移动互联网的普及,智能手机热点已成为人们日常生活中常用的网络共享方式。无论是学生在宿舍共享网络,还是在户外临时搭建网络环境,手机热点都提供了便捷的解决方案。</a:t>
            </a:r>
            <a:endParaRPr lang="en-US" sz="28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>
              <a:lnSpc>
                <a:spcPct val="17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    </a:t>
            </a:r>
            <a:r>
              <a:rPr lang="en-US" sz="2800" dirty="0"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本实验将聚焦于</a:t>
            </a:r>
            <a:r>
              <a:rPr 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WPA/WPA2-PSK协议</a:t>
            </a:r>
            <a:r>
              <a:rPr lang="en-US" sz="2800" dirty="0"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的</a:t>
            </a:r>
            <a:r>
              <a:rPr 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“四次握手”</a:t>
            </a:r>
            <a:r>
              <a:rPr lang="en-US" sz="2800" dirty="0"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过程,通过抓包工具捕获手机热点的认证过程,深入分析握手包的结构和内容。</a:t>
            </a:r>
            <a:endParaRPr lang="en-US" sz="2800" dirty="0"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indent="0" algn="l">
              <a:lnSpc>
                <a:spcPct val="200000"/>
              </a:lnSpc>
              <a:buClrTx/>
              <a:buSzTx/>
              <a:buFont typeface="Arial" panose="020B0604020202020204" pitchFamily="34" charset="0"/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Shape 3"/>
          <p:cNvSpPr/>
          <p:nvPr/>
        </p:nvSpPr>
        <p:spPr>
          <a:xfrm>
            <a:off x="438150" y="4000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144" y="28575"/>
                </a:moveTo>
                <a:cubicBezTo>
                  <a:pt x="7144" y="12814"/>
                  <a:pt x="19958" y="0"/>
                  <a:pt x="35719" y="0"/>
                </a:cubicBezTo>
                <a:lnTo>
                  <a:pt x="135731" y="0"/>
                </a:lnTo>
                <a:cubicBezTo>
                  <a:pt x="151492" y="0"/>
                  <a:pt x="164306" y="12814"/>
                  <a:pt x="164306" y="28575"/>
                </a:cubicBezTo>
                <a:lnTo>
                  <a:pt x="164306" y="200025"/>
                </a:lnTo>
                <a:cubicBezTo>
                  <a:pt x="164306" y="215786"/>
                  <a:pt x="151492" y="228600"/>
                  <a:pt x="135731" y="228600"/>
                </a:cubicBezTo>
                <a:lnTo>
                  <a:pt x="35719" y="228600"/>
                </a:lnTo>
                <a:cubicBezTo>
                  <a:pt x="19958" y="228600"/>
                  <a:pt x="7144" y="215786"/>
                  <a:pt x="7144" y="200025"/>
                </a:cubicBezTo>
                <a:lnTo>
                  <a:pt x="7144" y="28575"/>
                </a:lnTo>
                <a:close/>
                <a:moveTo>
                  <a:pt x="35719" y="28575"/>
                </a:moveTo>
                <a:lnTo>
                  <a:pt x="35719" y="164306"/>
                </a:lnTo>
                <a:lnTo>
                  <a:pt x="135731" y="164306"/>
                </a:lnTo>
                <a:lnTo>
                  <a:pt x="135731" y="28575"/>
                </a:lnTo>
                <a:lnTo>
                  <a:pt x="35719" y="28575"/>
                </a:lnTo>
                <a:close/>
                <a:moveTo>
                  <a:pt x="85725" y="210741"/>
                </a:moveTo>
                <a:cubicBezTo>
                  <a:pt x="93628" y="210741"/>
                  <a:pt x="100013" y="204356"/>
                  <a:pt x="100013" y="196453"/>
                </a:cubicBezTo>
                <a:cubicBezTo>
                  <a:pt x="100013" y="188550"/>
                  <a:pt x="93628" y="182166"/>
                  <a:pt x="85725" y="182166"/>
                </a:cubicBezTo>
                <a:cubicBezTo>
                  <a:pt x="77822" y="182166"/>
                  <a:pt x="71438" y="188550"/>
                  <a:pt x="71438" y="196453"/>
                </a:cubicBezTo>
                <a:cubicBezTo>
                  <a:pt x="71438" y="204356"/>
                  <a:pt x="77822" y="210741"/>
                  <a:pt x="85725" y="210741"/>
                </a:cubicBezTo>
                <a:close/>
              </a:path>
            </a:pathLst>
          </a:custGeom>
          <a:solidFill>
            <a:srgbClr val="E8B951"/>
          </a:solidFill>
        </p:spPr>
      </p:sp>
      <p:sp>
        <p:nvSpPr>
          <p:cNvPr id="38" name="Shape 36"/>
          <p:cNvSpPr/>
          <p:nvPr/>
        </p:nvSpPr>
        <p:spPr>
          <a:xfrm>
            <a:off x="609600" y="5149850"/>
            <a:ext cx="10079355" cy="542925"/>
          </a:xfrm>
          <a:custGeom>
            <a:avLst/>
            <a:gdLst/>
            <a:ahLst/>
            <a:cxnLst/>
            <a:rect l="l" t="t" r="r" b="b"/>
            <a:pathLst>
              <a:path w="5553075" h="542925">
                <a:moveTo>
                  <a:pt x="0" y="0"/>
                </a:moveTo>
                <a:lnTo>
                  <a:pt x="5553075" y="0"/>
                </a:lnTo>
                <a:lnTo>
                  <a:pt x="5553075" y="542925"/>
                </a:lnTo>
                <a:lnTo>
                  <a:pt x="0" y="542925"/>
                </a:lnTo>
                <a:lnTo>
                  <a:pt x="0" y="0"/>
                </a:lnTo>
                <a:close/>
              </a:path>
            </a:pathLst>
          </a:custGeom>
          <a:solidFill>
            <a:srgbClr val="E8B951">
              <a:alpha val="10196"/>
            </a:srgbClr>
          </a:solidFill>
          <a:ln w="12700">
            <a:solidFill>
              <a:srgbClr val="E8B951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4070" y="5325745"/>
            <a:ext cx="192405" cy="20955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E8B951"/>
          </a:solidFill>
        </p:spPr>
      </p:sp>
      <p:sp>
        <p:nvSpPr>
          <p:cNvPr id="40" name="Text 38"/>
          <p:cNvSpPr/>
          <p:nvPr/>
        </p:nvSpPr>
        <p:spPr>
          <a:xfrm>
            <a:off x="1118870" y="5306695"/>
            <a:ext cx="7562215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Sans" pitchFamily="34" charset="-122"/>
                <a:ea typeface="MiSans" pitchFamily="34" charset="-122"/>
                <a:cs typeface="MiSans" pitchFamily="34" charset="-120"/>
              </a:rPr>
              <a:t>核心目标:</a:t>
            </a:r>
            <a:r>
              <a:rPr lang="en-US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Sans" pitchFamily="34" charset="-122"/>
                <a:ea typeface="MiSans" pitchFamily="34" charset="-122"/>
                <a:cs typeface="MiSans" pitchFamily="34" charset="-120"/>
              </a:rPr>
              <a:t> 理解密钥派生机制,探讨协议面临的安全威胁</a:t>
            </a:r>
            <a:endParaRPr lang="en-US" sz="2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基础知识</a:t>
            </a:r>
            <a:endParaRPr lang="en-US" altLang="zh-CN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pic>
        <p:nvPicPr>
          <p:cNvPr id="14" name="图片 13"/>
          <p:cNvPicPr/>
          <p:nvPr/>
        </p:nvPicPr>
        <p:blipFill>
          <a:blip r:embed="rId1"/>
          <a:stretch>
            <a:fillRect/>
          </a:stretch>
        </p:blipFill>
        <p:spPr>
          <a:xfrm>
            <a:off x="1955800" y="1233170"/>
            <a:ext cx="7632700" cy="515429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2785110" y="26543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800" dirty="0"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WiFi</a:t>
            </a:r>
            <a:r>
              <a:rPr lang="zh-CN" altLang="en-US" sz="2800" dirty="0"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安全协议的演进</a:t>
            </a:r>
            <a:endParaRPr lang="zh-CN" altLang="en-US" sz="2800" dirty="0"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基础知识</a:t>
            </a:r>
            <a:endParaRPr lang="en-US" altLang="zh-CN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718435" y="25082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800" dirty="0"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WPA/WPA2认证模式</a:t>
            </a:r>
            <a:endParaRPr lang="en-US" altLang="en-US" sz="2800" dirty="0"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706120" y="1221740"/>
            <a:ext cx="10481945" cy="788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chemeClr val="accent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WPA-Enterprise (802.1X)</a:t>
            </a:r>
            <a:endParaRPr lang="en-US" sz="2400" b="1" dirty="0">
              <a:solidFill>
                <a:schemeClr val="accent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725170" y="2009775"/>
            <a:ext cx="10457815" cy="656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使用</a:t>
            </a:r>
            <a:r>
              <a:rPr lang="en-US" altLang="zh-CN" sz="2400" dirty="0">
                <a:solidFill>
                  <a:schemeClr val="tx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RADIUS</a:t>
            </a:r>
            <a:r>
              <a:rPr lang="zh-CN" altLang="en-US" sz="2400" dirty="0">
                <a:solidFill>
                  <a:schemeClr val="tx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服务器进行集中认证，适用于企业环境，每个用户有独立的凭证</a:t>
            </a:r>
            <a:endParaRPr lang="zh-CN" altLang="en-US" sz="2400" dirty="0">
              <a:solidFill>
                <a:schemeClr val="tx2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725170" y="2647950"/>
            <a:ext cx="10481945" cy="788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chemeClr val="accent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WPA-Personal (PSK)</a:t>
            </a:r>
            <a:endParaRPr lang="en-US" sz="2400" b="1" dirty="0">
              <a:solidFill>
                <a:schemeClr val="accent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706120" y="3435985"/>
            <a:ext cx="10457815" cy="656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使用预共享密钥，所有用户使用相同的密码，适用于家庭和小型网络</a:t>
            </a:r>
            <a:endParaRPr lang="zh-CN" altLang="en-US" sz="2400" dirty="0">
              <a:solidFill>
                <a:schemeClr val="tx2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06120" y="4284345"/>
            <a:ext cx="10365105" cy="1938020"/>
          </a:xfrm>
          <a:prstGeom prst="rect">
            <a:avLst/>
          </a:prstGeom>
        </p:spPr>
        <p:txBody>
          <a:bodyPr wrap="square">
            <a:spAutoFit/>
          </a:bodyPr>
          <a:p>
            <a:pPr indent="0" defTabSz="266700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sz="2000">
                <a:solidFill>
                  <a:schemeClr val="tx2"/>
                </a:solidFill>
                <a:ea typeface="宋体" panose="02010600030101010101" pitchFamily="2" charset="-122"/>
              </a:rPr>
              <a:t>本次实验重点关注</a:t>
            </a:r>
            <a:r>
              <a:rPr 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WPA/WPA2-PSK</a:t>
            </a:r>
            <a:r>
              <a:rPr lang="zh-CN" sz="2000">
                <a:solidFill>
                  <a:schemeClr val="tx2"/>
                </a:solidFill>
                <a:ea typeface="宋体" panose="02010600030101010101" pitchFamily="2" charset="-122"/>
              </a:rPr>
              <a:t>模式，这也是手机热点普遍采用的模式。在</a:t>
            </a:r>
            <a:r>
              <a:rPr 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PSK</a:t>
            </a:r>
            <a:r>
              <a:rPr lang="zh-CN" sz="2000">
                <a:solidFill>
                  <a:schemeClr val="tx2"/>
                </a:solidFill>
                <a:ea typeface="宋体" panose="02010600030101010101" pitchFamily="2" charset="-122"/>
              </a:rPr>
              <a:t>模式下，所有连接设备共享同一个密码（通常</a:t>
            </a:r>
            <a:r>
              <a:rPr 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8-63</a:t>
            </a:r>
            <a:r>
              <a:rPr lang="zh-CN" sz="2000">
                <a:solidFill>
                  <a:schemeClr val="tx2"/>
                </a:solidFill>
                <a:ea typeface="宋体" panose="02010600030101010101" pitchFamily="2" charset="-122"/>
              </a:rPr>
              <a:t>个字符），协议通过四次握手过程派生会话密钥，确保每个连接使用独立的加密密钥。</a:t>
            </a:r>
            <a:endParaRPr lang="zh-CN" altLang="en-US" sz="200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基础知识</a:t>
            </a:r>
            <a:endParaRPr lang="en-US" altLang="zh-CN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718435" y="25082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en-US" sz="2800" dirty="0"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WPA/WPA2核心密钥体系</a:t>
            </a:r>
            <a:endParaRPr lang="en-US" altLang="en-US" sz="2800" dirty="0"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" name="Shape 3"/>
          <p:cNvSpPr/>
          <p:nvPr/>
        </p:nvSpPr>
        <p:spPr>
          <a:xfrm>
            <a:off x="382270" y="861060"/>
            <a:ext cx="11057890" cy="3960495"/>
          </a:xfrm>
          <a:custGeom>
            <a:avLst/>
            <a:gdLst/>
            <a:ahLst/>
            <a:cxnLst/>
            <a:rect l="l" t="t" r="r" b="b"/>
            <a:pathLst>
              <a:path w="6667500" h="3228975">
                <a:moveTo>
                  <a:pt x="0" y="0"/>
                </a:moveTo>
                <a:lnTo>
                  <a:pt x="6667500" y="0"/>
                </a:lnTo>
                <a:lnTo>
                  <a:pt x="6667500" y="3228975"/>
                </a:lnTo>
                <a:lnTo>
                  <a:pt x="0" y="3228975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706120" y="922655"/>
          <a:ext cx="10410190" cy="3848100"/>
        </p:xfrm>
        <a:graphic>
          <a:graphicData uri="http://schemas.openxmlformats.org/drawingml/2006/table">
            <a:tbl>
              <a:tblPr/>
              <a:tblGrid>
                <a:gridCol w="1958975"/>
                <a:gridCol w="3759835"/>
                <a:gridCol w="4691380"/>
              </a:tblGrid>
              <a:tr h="64135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密钥名称</a:t>
                      </a:r>
                      <a:endParaRPr lang="en-US" sz="1800" b="1" u="none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全称</a:t>
                      </a:r>
                      <a:endParaRPr lang="en-US" sz="1800" b="1" u="none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用途</a:t>
                      </a:r>
                      <a:endParaRPr lang="en-US" sz="1800" b="1" u="none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chemeClr val="tx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panose="020B0503020204020204" pitchFamily="34" charset="-120"/>
                        </a:rPr>
                        <a:t>PSK</a:t>
                      </a:r>
                      <a:endParaRPr lang="en-US" sz="1600" u="none" dirty="0">
                        <a:solidFill>
                          <a:schemeClr val="tx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微软雅黑" panose="020B0503020204020204" pitchFamily="34" charset="-12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chemeClr val="tx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panose="020B0503020204020204" pitchFamily="34" charset="-120"/>
                        </a:rPr>
                        <a:t>Pre-Shared Key</a:t>
                      </a:r>
                      <a:endParaRPr lang="en-US" sz="1600" u="none" dirty="0">
                        <a:solidFill>
                          <a:schemeClr val="tx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微软雅黑" panose="020B0503020204020204" pitchFamily="34" charset="-12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chemeClr val="tx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用户输入的密码,用于生成PMK</a:t>
                      </a:r>
                      <a:endParaRPr lang="en-US" sz="1600" u="none" dirty="0">
                        <a:solidFill>
                          <a:schemeClr val="tx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chemeClr val="tx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panose="020B0503020204020204" pitchFamily="34" charset="-120"/>
                        </a:rPr>
                        <a:t>PMK</a:t>
                      </a:r>
                      <a:endParaRPr lang="en-US" sz="1600" u="none" dirty="0">
                        <a:solidFill>
                          <a:schemeClr val="tx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微软雅黑" panose="020B0503020204020204" pitchFamily="34" charset="-12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chemeClr val="tx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panose="020B0503020204020204" pitchFamily="34" charset="-120"/>
                        </a:rPr>
                        <a:t>Pairwise Master Key</a:t>
                      </a:r>
                      <a:endParaRPr lang="en-US" sz="1600" u="none" dirty="0">
                        <a:solidFill>
                          <a:schemeClr val="tx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微软雅黑" panose="020B0503020204020204" pitchFamily="34" charset="-12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chemeClr val="tx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从PSK派生的主密钥(256位)</a:t>
                      </a:r>
                      <a:endParaRPr lang="en-US" sz="1600" u="none" dirty="0">
                        <a:solidFill>
                          <a:schemeClr val="tx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chemeClr val="tx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panose="020B0503020204020204" pitchFamily="34" charset="-120"/>
                        </a:rPr>
                        <a:t>PTK</a:t>
                      </a:r>
                      <a:endParaRPr lang="en-US" sz="1600" u="none" dirty="0">
                        <a:solidFill>
                          <a:schemeClr val="tx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微软雅黑" panose="020B0503020204020204" pitchFamily="34" charset="-12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chemeClr val="tx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panose="020B0503020204020204" pitchFamily="34" charset="-120"/>
                        </a:rPr>
                        <a:t>Pairwise Transient Key</a:t>
                      </a:r>
                      <a:endParaRPr lang="en-US" sz="1600" u="none" dirty="0">
                        <a:solidFill>
                          <a:schemeClr val="tx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微软雅黑" panose="020B0503020204020204" pitchFamily="34" charset="-12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chemeClr val="tx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会话密钥,用于单播数据加密</a:t>
                      </a:r>
                      <a:endParaRPr lang="en-US" sz="1600" u="none" dirty="0">
                        <a:solidFill>
                          <a:schemeClr val="tx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chemeClr val="tx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panose="020B0503020204020204" pitchFamily="34" charset="-120"/>
                        </a:rPr>
                        <a:t>GTK</a:t>
                      </a:r>
                      <a:endParaRPr lang="en-US" sz="1600" u="none" dirty="0">
                        <a:solidFill>
                          <a:schemeClr val="tx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微软雅黑" panose="020B0503020204020204" pitchFamily="34" charset="-12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chemeClr val="tx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panose="020B0503020204020204" pitchFamily="34" charset="-120"/>
                        </a:rPr>
                        <a:t>Group Temporal Key</a:t>
                      </a:r>
                      <a:endParaRPr lang="en-US" sz="1600" u="none" dirty="0">
                        <a:solidFill>
                          <a:schemeClr val="tx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微软雅黑" panose="020B0503020204020204" pitchFamily="34" charset="-12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chemeClr val="tx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组密钥,用于广播/组播加密</a:t>
                      </a:r>
                      <a:endParaRPr lang="en-US" sz="1600" u="none" dirty="0">
                        <a:solidFill>
                          <a:schemeClr val="tx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chemeClr val="tx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panose="020B0503020204020204" pitchFamily="34" charset="-120"/>
                        </a:rPr>
                        <a:t>GMK</a:t>
                      </a:r>
                      <a:endParaRPr lang="en-US" sz="1600" u="none" dirty="0">
                        <a:solidFill>
                          <a:schemeClr val="tx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微软雅黑" panose="020B0503020204020204" pitchFamily="34" charset="-12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chemeClr val="tx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panose="020B0503020204020204" pitchFamily="34" charset="-120"/>
                        </a:rPr>
                        <a:t>Group Master Key</a:t>
                      </a:r>
                      <a:endParaRPr lang="en-US" sz="1600" u="none" dirty="0">
                        <a:solidFill>
                          <a:schemeClr val="tx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微软雅黑" panose="020B0503020204020204" pitchFamily="34" charset="-12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chemeClr val="tx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组主密钥,用于生成GTK</a:t>
                      </a:r>
                      <a:endParaRPr lang="en-US" sz="1600" u="none" dirty="0">
                        <a:solidFill>
                          <a:schemeClr val="tx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0" name="Shape 7"/>
          <p:cNvSpPr/>
          <p:nvPr/>
        </p:nvSpPr>
        <p:spPr>
          <a:xfrm>
            <a:off x="900113" y="5224780"/>
            <a:ext cx="10391775" cy="427990"/>
          </a:xfrm>
          <a:custGeom>
            <a:avLst/>
            <a:gdLst/>
            <a:ahLst/>
            <a:cxnLst/>
            <a:rect l="l" t="t" r="r" b="b"/>
            <a:pathLst>
              <a:path w="6267450" h="542925">
                <a:moveTo>
                  <a:pt x="0" y="0"/>
                </a:moveTo>
                <a:lnTo>
                  <a:pt x="6267450" y="0"/>
                </a:lnTo>
                <a:lnTo>
                  <a:pt x="6267450" y="542925"/>
                </a:lnTo>
                <a:lnTo>
                  <a:pt x="0" y="542925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1A1D21"/>
                </a:solidFill>
              </a14:hiddenFill>
            </a:ext>
          </a:extLst>
        </p:spPr>
        <p:txBody>
          <a:bodyPr/>
          <a:p>
            <a:pPr algn="ctr"/>
            <a:r>
              <a:rPr lang="en-US" dirty="0">
                <a:solidFill>
                  <a:schemeClr val="tx2"/>
                </a:solidFill>
                <a:latin typeface="Cambria Math" panose="02040503050406030204" charset="0"/>
                <a:ea typeface="微软雅黑" panose="020B0503020204020204" pitchFamily="34" charset="-122"/>
                <a:cs typeface="Cambria Math" panose="02040503050406030204" charset="0"/>
                <a:sym typeface="+mn-ea"/>
              </a:rPr>
              <a:t>PMK = PBKDF2(HMAC-SHA1, PSK, SSID, </a:t>
            </a:r>
            <a:r>
              <a:rPr lang="en-US" b="1" dirty="0">
                <a:solidFill>
                  <a:srgbClr val="FFC000"/>
                </a:solidFill>
                <a:latin typeface="Cambria Math" panose="02040503050406030204" charset="0"/>
                <a:ea typeface="微软雅黑" panose="020B0503020204020204" pitchFamily="34" charset="-122"/>
                <a:cs typeface="Cambria Math" panose="02040503050406030204" charset="0"/>
                <a:sym typeface="+mn-ea"/>
              </a:rPr>
              <a:t>4096</a:t>
            </a:r>
            <a:r>
              <a:rPr lang="en-US" dirty="0">
                <a:solidFill>
                  <a:schemeClr val="tx2"/>
                </a:solidFill>
                <a:latin typeface="Cambria Math" panose="02040503050406030204" charset="0"/>
                <a:ea typeface="微软雅黑" panose="020B0503020204020204" pitchFamily="34" charset="-122"/>
                <a:cs typeface="Cambria Math" panose="02040503050406030204" charset="0"/>
                <a:sym typeface="+mn-ea"/>
              </a:rPr>
              <a:t>, </a:t>
            </a:r>
            <a:r>
              <a:rPr lang="en-US" b="1" dirty="0">
                <a:solidFill>
                  <a:srgbClr val="FFC000"/>
                </a:solidFill>
                <a:latin typeface="Cambria Math" panose="02040503050406030204" charset="0"/>
                <a:ea typeface="微软雅黑" panose="020B0503020204020204" pitchFamily="34" charset="-122"/>
                <a:cs typeface="Cambria Math" panose="02040503050406030204" charset="0"/>
                <a:sym typeface="+mn-ea"/>
              </a:rPr>
              <a:t>256</a:t>
            </a:r>
            <a:r>
              <a:rPr lang="en-US" dirty="0">
                <a:solidFill>
                  <a:schemeClr val="tx2"/>
                </a:solidFill>
                <a:latin typeface="Cambria Math" panose="02040503050406030204" charset="0"/>
                <a:ea typeface="微软雅黑" panose="020B0503020204020204" pitchFamily="34" charset="-122"/>
                <a:cs typeface="Cambria Math" panose="02040503050406030204" charset="0"/>
                <a:sym typeface="+mn-ea"/>
              </a:rPr>
              <a:t>)</a:t>
            </a:r>
            <a:endParaRPr lang="en-US" altLang="en-US" dirty="0">
              <a:solidFill>
                <a:schemeClr val="tx2"/>
              </a:solidFill>
              <a:latin typeface="Cambria Math" panose="02040503050406030204" charset="0"/>
              <a:ea typeface="微软雅黑" panose="020B0503020204020204" pitchFamily="34" charset="-122"/>
              <a:cs typeface="Cambria Math" panose="02040503050406030204" charset="0"/>
              <a:sym typeface="+mn-ea"/>
            </a:endParaRPr>
          </a:p>
        </p:txBody>
      </p:sp>
      <p:sp>
        <p:nvSpPr>
          <p:cNvPr id="21" name="Text 9"/>
          <p:cNvSpPr/>
          <p:nvPr/>
        </p:nvSpPr>
        <p:spPr>
          <a:xfrm>
            <a:off x="581025" y="5703570"/>
            <a:ext cx="11317605" cy="2330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chemeClr val="tx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PBKDF2是密码学密钥派生函数,</a:t>
            </a:r>
            <a:r>
              <a:rPr lang="en-US" sz="2400" b="1" dirty="0">
                <a:solidFill>
                  <a:srgbClr val="FFC000"/>
                </a:solidFill>
                <a:latin typeface="Cambria Math" panose="02040503050406030204" charset="0"/>
                <a:ea typeface="微软雅黑" panose="020B0503020204020204" pitchFamily="34" charset="-122"/>
                <a:cs typeface="Cambria Math" panose="02040503050406030204" charset="0"/>
                <a:sym typeface="+mn-ea"/>
              </a:rPr>
              <a:t>4096</a:t>
            </a:r>
            <a:r>
              <a:rPr lang="en-US" dirty="0">
                <a:solidFill>
                  <a:schemeClr val="tx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是迭代次数,</a:t>
            </a:r>
            <a:r>
              <a:rPr lang="en-US" sz="2400" b="1" dirty="0">
                <a:solidFill>
                  <a:srgbClr val="FFC000"/>
                </a:solidFill>
                <a:latin typeface="Cambria Math" panose="02040503050406030204" charset="0"/>
                <a:ea typeface="微软雅黑" panose="020B0503020204020204" pitchFamily="34" charset="-122"/>
                <a:cs typeface="Cambria Math" panose="02040503050406030204" charset="0"/>
                <a:sym typeface="+mn-ea"/>
              </a:rPr>
              <a:t>256</a:t>
            </a:r>
            <a:r>
              <a:rPr lang="en-US" dirty="0">
                <a:solidFill>
                  <a:schemeClr val="tx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是输出密钥长度(位)。大量迭代增加暴力破解难度。</a:t>
            </a:r>
            <a:endParaRPr lang="en-US" dirty="0">
              <a:solidFill>
                <a:schemeClr val="tx2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基础知识</a:t>
            </a:r>
            <a:endParaRPr lang="en-US" altLang="zh-CN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718435" y="25082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en-US" sz="2800" dirty="0"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四次握手</a:t>
            </a:r>
            <a:endParaRPr lang="en-US" altLang="en-US" sz="2800" dirty="0"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"/>
          <a:srcRect t="58" b="58"/>
          <a:stretch>
            <a:fillRect/>
          </a:stretch>
        </p:blipFill>
        <p:spPr>
          <a:xfrm>
            <a:off x="8264525" y="1498600"/>
            <a:ext cx="3768725" cy="3895090"/>
          </a:xfrm>
          <a:prstGeom prst="roundRect">
            <a:avLst>
              <a:gd name="adj" fmla="val 5555"/>
            </a:avLst>
          </a:prstGeom>
          <a:noFill/>
          <a:ln w="12700" cap="flat" cmpd="sng">
            <a:noFill/>
            <a:prstDash val="solid"/>
            <a:round/>
          </a:ln>
        </p:spPr>
      </p:pic>
      <p:grpSp>
        <p:nvGrpSpPr>
          <p:cNvPr id="14" name="组合 13"/>
          <p:cNvGrpSpPr/>
          <p:nvPr>
            <p:custDataLst>
              <p:tags r:id="rId2"/>
            </p:custDataLst>
          </p:nvPr>
        </p:nvGrpSpPr>
        <p:grpSpPr>
          <a:xfrm>
            <a:off x="391795" y="1193800"/>
            <a:ext cx="3683000" cy="1016000"/>
            <a:chOff x="962" y="1880"/>
            <a:chExt cx="5800" cy="1600"/>
          </a:xfrm>
        </p:grpSpPr>
        <p:sp>
          <p:nvSpPr>
            <p:cNvPr id="8" name="AutoShape 6"/>
            <p:cNvSpPr/>
            <p:nvPr>
              <p:custDataLst>
                <p:tags r:id="rId3"/>
              </p:custDataLst>
            </p:nvPr>
          </p:nvSpPr>
          <p:spPr>
            <a:xfrm>
              <a:off x="962" y="1880"/>
              <a:ext cx="5800" cy="1600"/>
            </a:xfrm>
            <a:prstGeom prst="roundRect">
              <a:avLst>
                <a:gd name="adj" fmla="val 12500"/>
              </a:avLst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" name="AutoShape 8"/>
            <p:cNvSpPr/>
            <p:nvPr>
              <p:custDataLst>
                <p:tags r:id="rId4"/>
              </p:custDataLst>
            </p:nvPr>
          </p:nvSpPr>
          <p:spPr>
            <a:xfrm>
              <a:off x="2062" y="2080"/>
              <a:ext cx="46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Noto Sans SC" panose="020B0200000000000000" charset="-122"/>
                </a:rPr>
                <a:t>Authenticator (认证者)</a:t>
              </a:r>
              <a:endParaRPr lang="en-US" sz="11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indent="0" algn="l">
                <a:lnSpc>
                  <a:spcPct val="125000"/>
                </a:lnSpc>
              </a:pPr>
              <a:r>
                <a:rPr lang="en-US" sz="1300" b="0" i="0" u="none" strike="noStrike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Noto Sans SC" panose="020B0200000000000000" charset="-122"/>
                </a:rPr>
                <a:t>通常为AP（无线接入点）或手机热点，负责验证接入请求。</a:t>
              </a:r>
              <a:endParaRPr lang="en-US" sz="1300" b="0" i="0" u="none" strike="noStrike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endParaRPr>
            </a:p>
          </p:txBody>
        </p:sp>
      </p:grpSp>
      <p:grpSp>
        <p:nvGrpSpPr>
          <p:cNvPr id="17" name="组合 16"/>
          <p:cNvGrpSpPr/>
          <p:nvPr>
            <p:custDataLst>
              <p:tags r:id="rId5"/>
            </p:custDataLst>
          </p:nvPr>
        </p:nvGrpSpPr>
        <p:grpSpPr>
          <a:xfrm>
            <a:off x="4296410" y="1193800"/>
            <a:ext cx="3683000" cy="1016000"/>
            <a:chOff x="6962" y="1880"/>
            <a:chExt cx="5800" cy="1600"/>
          </a:xfrm>
        </p:grpSpPr>
        <p:sp>
          <p:nvSpPr>
            <p:cNvPr id="11" name="AutoShape 9"/>
            <p:cNvSpPr/>
            <p:nvPr>
              <p:custDataLst>
                <p:tags r:id="rId6"/>
              </p:custDataLst>
            </p:nvPr>
          </p:nvSpPr>
          <p:spPr>
            <a:xfrm>
              <a:off x="6962" y="1880"/>
              <a:ext cx="5800" cy="1600"/>
            </a:xfrm>
            <a:prstGeom prst="roundRect">
              <a:avLst>
                <a:gd name="adj" fmla="val 12500"/>
              </a:avLst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" name="AutoShape 11"/>
            <p:cNvSpPr/>
            <p:nvPr>
              <p:custDataLst>
                <p:tags r:id="rId7"/>
              </p:custDataLst>
            </p:nvPr>
          </p:nvSpPr>
          <p:spPr>
            <a:xfrm>
              <a:off x="8062" y="2080"/>
              <a:ext cx="46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Noto Sans SC" panose="020B0200000000000000" charset="-122"/>
                </a:rPr>
                <a:t>Supplicant (请求者)</a:t>
              </a:r>
              <a:endParaRPr lang="en-US" sz="11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indent="0" algn="l">
                <a:lnSpc>
                  <a:spcPct val="125000"/>
                </a:lnSpc>
              </a:pPr>
              <a:r>
                <a:rPr lang="en-US" sz="1300" b="0" i="0" u="none" strike="noStrike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Noto Sans SC" panose="020B0200000000000000" charset="-122"/>
                </a:rPr>
                <a:t>试图接入网络的客户端设备（如手机、电脑）。</a:t>
              </a:r>
              <a:endParaRPr lang="en-US" sz="1300" b="0" i="0" u="none" strike="noStrike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endParaRPr>
            </a:p>
          </p:txBody>
        </p:sp>
      </p:grpSp>
      <p:sp>
        <p:nvSpPr>
          <p:cNvPr id="19" name="AutoShape 13"/>
          <p:cNvSpPr/>
          <p:nvPr>
            <p:custDataLst>
              <p:tags r:id="rId8"/>
            </p:custDataLst>
          </p:nvPr>
        </p:nvSpPr>
        <p:spPr>
          <a:xfrm>
            <a:off x="286385" y="2674453"/>
            <a:ext cx="8722360" cy="66526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AutoShape 14"/>
          <p:cNvSpPr/>
          <p:nvPr>
            <p:custDataLst>
              <p:tags r:id="rId9"/>
            </p:custDataLst>
          </p:nvPr>
        </p:nvSpPr>
        <p:spPr>
          <a:xfrm>
            <a:off x="286385" y="2674453"/>
            <a:ext cx="591346" cy="66526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800" b="1" i="0" u="none" strike="noStrike">
              <a:solidFill>
                <a:schemeClr val="accent1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15"/>
          <p:cNvSpPr/>
          <p:nvPr>
            <p:custDataLst>
              <p:tags r:id="rId10"/>
            </p:custDataLst>
          </p:nvPr>
        </p:nvSpPr>
        <p:spPr>
          <a:xfrm>
            <a:off x="871078" y="2674453"/>
            <a:ext cx="7835341" cy="66526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第一次握手：</a:t>
            </a:r>
            <a:r>
              <a:rPr lang="en-US" b="0" i="0" u="none" strike="noStrike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AP 发送 ANonce (随机数) 给客户端，启动握手。</a:t>
            </a:r>
            <a:endParaRPr lang="en-US" b="0" i="0" u="none" strike="noStrike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24" name="AutoShape 16"/>
          <p:cNvSpPr/>
          <p:nvPr>
            <p:custDataLst>
              <p:tags r:id="rId11"/>
            </p:custDataLst>
          </p:nvPr>
        </p:nvSpPr>
        <p:spPr>
          <a:xfrm>
            <a:off x="286385" y="3413636"/>
            <a:ext cx="8722360" cy="66526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" name="AutoShape 17"/>
          <p:cNvSpPr/>
          <p:nvPr>
            <p:custDataLst>
              <p:tags r:id="rId12"/>
            </p:custDataLst>
          </p:nvPr>
        </p:nvSpPr>
        <p:spPr>
          <a:xfrm>
            <a:off x="286385" y="3413636"/>
            <a:ext cx="591346" cy="66526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800" b="1" i="0" u="none" strike="noStrike">
              <a:solidFill>
                <a:schemeClr val="accent1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18"/>
          <p:cNvSpPr/>
          <p:nvPr>
            <p:custDataLst>
              <p:tags r:id="rId13"/>
            </p:custDataLst>
          </p:nvPr>
        </p:nvSpPr>
        <p:spPr>
          <a:xfrm>
            <a:off x="871078" y="3413636"/>
            <a:ext cx="7835341" cy="66526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第二次握手：</a:t>
            </a:r>
            <a:r>
              <a:rPr lang="en-US" b="0" i="0" u="none" strike="noStrike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客户端发送 SNonce (随机数) 和 MIC (完整性校验) 给 AP。</a:t>
            </a:r>
            <a:endParaRPr lang="en-US" b="0" i="0" u="none" strike="noStrike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28" name="AutoShape 19"/>
          <p:cNvSpPr/>
          <p:nvPr>
            <p:custDataLst>
              <p:tags r:id="rId14"/>
            </p:custDataLst>
          </p:nvPr>
        </p:nvSpPr>
        <p:spPr>
          <a:xfrm>
            <a:off x="286385" y="4152819"/>
            <a:ext cx="8722360" cy="66526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AutoShape 20"/>
          <p:cNvSpPr/>
          <p:nvPr>
            <p:custDataLst>
              <p:tags r:id="rId15"/>
            </p:custDataLst>
          </p:nvPr>
        </p:nvSpPr>
        <p:spPr>
          <a:xfrm>
            <a:off x="286385" y="4152819"/>
            <a:ext cx="591346" cy="66526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800" b="1" i="0" u="none" strike="noStrike">
              <a:solidFill>
                <a:schemeClr val="accent1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AutoShape 21"/>
          <p:cNvSpPr/>
          <p:nvPr>
            <p:custDataLst>
              <p:tags r:id="rId16"/>
            </p:custDataLst>
          </p:nvPr>
        </p:nvSpPr>
        <p:spPr>
          <a:xfrm>
            <a:off x="871078" y="4152819"/>
            <a:ext cx="7835341" cy="66526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第三次握手：</a:t>
            </a:r>
            <a:r>
              <a:rPr lang="en-US" b="0" i="0" u="none" strike="noStrike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AP 发送加密的 GTK (组临时密钥) 和 MIC 给客户端。</a:t>
            </a:r>
            <a:endParaRPr lang="en-US" b="0" i="0" u="none" strike="noStrike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31" name="AutoShape 22"/>
          <p:cNvSpPr/>
          <p:nvPr>
            <p:custDataLst>
              <p:tags r:id="rId17"/>
            </p:custDataLst>
          </p:nvPr>
        </p:nvSpPr>
        <p:spPr>
          <a:xfrm>
            <a:off x="286385" y="4892002"/>
            <a:ext cx="8722360" cy="66526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AutoShape 23"/>
          <p:cNvSpPr/>
          <p:nvPr>
            <p:custDataLst>
              <p:tags r:id="rId18"/>
            </p:custDataLst>
          </p:nvPr>
        </p:nvSpPr>
        <p:spPr>
          <a:xfrm>
            <a:off x="286385" y="4892002"/>
            <a:ext cx="591346" cy="66526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800" b="1" i="0" u="none" strike="noStrike">
              <a:solidFill>
                <a:schemeClr val="accent1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" name="AutoShape 24"/>
          <p:cNvSpPr/>
          <p:nvPr>
            <p:custDataLst>
              <p:tags r:id="rId19"/>
            </p:custDataLst>
          </p:nvPr>
        </p:nvSpPr>
        <p:spPr>
          <a:xfrm>
            <a:off x="871078" y="4892002"/>
            <a:ext cx="7835341" cy="66526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第四次握手：</a:t>
            </a:r>
            <a:r>
              <a:rPr lang="en-US" b="0" i="0" u="none" strike="noStrike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客户端发送 MIC 确认，双方完成密钥安装，开始加密通信。</a:t>
            </a:r>
            <a:endParaRPr lang="en-US" b="0" i="0" u="none" strike="noStrike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34" name="Shape 51"/>
          <p:cNvSpPr/>
          <p:nvPr/>
        </p:nvSpPr>
        <p:spPr>
          <a:xfrm>
            <a:off x="620395" y="1579245"/>
            <a:ext cx="384175" cy="300355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42863"/>
                </a:moveTo>
                <a:cubicBezTo>
                  <a:pt x="88002" y="42863"/>
                  <a:pt x="51256" y="58936"/>
                  <a:pt x="24244" y="85100"/>
                </a:cubicBezTo>
                <a:cubicBezTo>
                  <a:pt x="18574" y="90592"/>
                  <a:pt x="9510" y="90458"/>
                  <a:pt x="4063" y="84787"/>
                </a:cubicBezTo>
                <a:cubicBezTo>
                  <a:pt x="-1384" y="79117"/>
                  <a:pt x="-1295" y="70053"/>
                  <a:pt x="4376" y="64606"/>
                </a:cubicBezTo>
                <a:cubicBezTo>
                  <a:pt x="36478" y="33442"/>
                  <a:pt x="80323" y="14288"/>
                  <a:pt x="128588" y="14288"/>
                </a:cubicBezTo>
                <a:cubicBezTo>
                  <a:pt x="176852" y="14288"/>
                  <a:pt x="220697" y="33442"/>
                  <a:pt x="252844" y="64606"/>
                </a:cubicBezTo>
                <a:cubicBezTo>
                  <a:pt x="258514" y="70098"/>
                  <a:pt x="258648" y="79162"/>
                  <a:pt x="253157" y="84787"/>
                </a:cubicBezTo>
                <a:cubicBezTo>
                  <a:pt x="247665" y="90413"/>
                  <a:pt x="238601" y="90592"/>
                  <a:pt x="232976" y="85100"/>
                </a:cubicBezTo>
                <a:cubicBezTo>
                  <a:pt x="205919" y="58936"/>
                  <a:pt x="169173" y="42863"/>
                  <a:pt x="128588" y="42863"/>
                </a:cubicBezTo>
                <a:close/>
                <a:moveTo>
                  <a:pt x="107156" y="192881"/>
                </a:moveTo>
                <a:cubicBezTo>
                  <a:pt x="107156" y="181053"/>
                  <a:pt x="116759" y="171450"/>
                  <a:pt x="128588" y="171450"/>
                </a:cubicBezTo>
                <a:cubicBezTo>
                  <a:pt x="140416" y="171450"/>
                  <a:pt x="150019" y="181053"/>
                  <a:pt x="150019" y="192881"/>
                </a:cubicBezTo>
                <a:cubicBezTo>
                  <a:pt x="150019" y="204709"/>
                  <a:pt x="140416" y="214313"/>
                  <a:pt x="128588" y="214313"/>
                </a:cubicBezTo>
                <a:cubicBezTo>
                  <a:pt x="116759" y="214313"/>
                  <a:pt x="107156" y="204709"/>
                  <a:pt x="107156" y="192881"/>
                </a:cubicBezTo>
                <a:close/>
                <a:moveTo>
                  <a:pt x="75009" y="145643"/>
                </a:moveTo>
                <a:cubicBezTo>
                  <a:pt x="69786" y="151581"/>
                  <a:pt x="60767" y="152117"/>
                  <a:pt x="54828" y="146893"/>
                </a:cubicBezTo>
                <a:cubicBezTo>
                  <a:pt x="48890" y="141669"/>
                  <a:pt x="48354" y="132651"/>
                  <a:pt x="53578" y="126712"/>
                </a:cubicBezTo>
                <a:cubicBezTo>
                  <a:pt x="71884" y="105995"/>
                  <a:pt x="98718" y="92869"/>
                  <a:pt x="128588" y="92869"/>
                </a:cubicBezTo>
                <a:cubicBezTo>
                  <a:pt x="158457" y="92869"/>
                  <a:pt x="185291" y="105995"/>
                  <a:pt x="203597" y="126712"/>
                </a:cubicBezTo>
                <a:cubicBezTo>
                  <a:pt x="208821" y="132651"/>
                  <a:pt x="208240" y="141669"/>
                  <a:pt x="202347" y="146893"/>
                </a:cubicBezTo>
                <a:cubicBezTo>
                  <a:pt x="196453" y="152117"/>
                  <a:pt x="187389" y="151537"/>
                  <a:pt x="182166" y="145643"/>
                </a:cubicBezTo>
                <a:cubicBezTo>
                  <a:pt x="169039" y="130775"/>
                  <a:pt x="149929" y="121444"/>
                  <a:pt x="128588" y="121444"/>
                </a:cubicBezTo>
                <a:cubicBezTo>
                  <a:pt x="107246" y="121444"/>
                  <a:pt x="88136" y="130775"/>
                  <a:pt x="75009" y="145643"/>
                </a:cubicBezTo>
                <a:close/>
              </a:path>
            </a:pathLst>
          </a:custGeom>
          <a:solidFill>
            <a:schemeClr val="accent1"/>
          </a:solidFill>
        </p:spPr>
      </p:sp>
      <p:sp>
        <p:nvSpPr>
          <p:cNvPr id="35" name="Shape 56"/>
          <p:cNvSpPr/>
          <p:nvPr/>
        </p:nvSpPr>
        <p:spPr>
          <a:xfrm>
            <a:off x="4532630" y="1580515"/>
            <a:ext cx="381000" cy="29845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57150" y="14288"/>
                </a:moveTo>
                <a:cubicBezTo>
                  <a:pt x="41389" y="14288"/>
                  <a:pt x="28575" y="27102"/>
                  <a:pt x="28575" y="42863"/>
                </a:cubicBezTo>
                <a:lnTo>
                  <a:pt x="28575" y="150019"/>
                </a:lnTo>
                <a:lnTo>
                  <a:pt x="57150" y="150019"/>
                </a:lnTo>
                <a:lnTo>
                  <a:pt x="57150" y="42863"/>
                </a:lnTo>
                <a:lnTo>
                  <a:pt x="228600" y="42863"/>
                </a:lnTo>
                <a:lnTo>
                  <a:pt x="228600" y="150019"/>
                </a:lnTo>
                <a:lnTo>
                  <a:pt x="257175" y="150019"/>
                </a:lnTo>
                <a:lnTo>
                  <a:pt x="257175" y="42863"/>
                </a:lnTo>
                <a:cubicBezTo>
                  <a:pt x="257175" y="27102"/>
                  <a:pt x="244361" y="14288"/>
                  <a:pt x="228600" y="14288"/>
                </a:cubicBezTo>
                <a:lnTo>
                  <a:pt x="57150" y="14288"/>
                </a:lnTo>
                <a:close/>
                <a:moveTo>
                  <a:pt x="8573" y="171450"/>
                </a:moveTo>
                <a:cubicBezTo>
                  <a:pt x="3840" y="171450"/>
                  <a:pt x="0" y="175290"/>
                  <a:pt x="0" y="180023"/>
                </a:cubicBezTo>
                <a:cubicBezTo>
                  <a:pt x="0" y="198953"/>
                  <a:pt x="15359" y="214313"/>
                  <a:pt x="34290" y="214313"/>
                </a:cubicBezTo>
                <a:lnTo>
                  <a:pt x="251460" y="214313"/>
                </a:lnTo>
                <a:cubicBezTo>
                  <a:pt x="270391" y="214313"/>
                  <a:pt x="285750" y="198953"/>
                  <a:pt x="285750" y="180023"/>
                </a:cubicBezTo>
                <a:cubicBezTo>
                  <a:pt x="285750" y="175290"/>
                  <a:pt x="281910" y="171450"/>
                  <a:pt x="277177" y="171450"/>
                </a:cubicBezTo>
                <a:lnTo>
                  <a:pt x="8573" y="171450"/>
                </a:lnTo>
                <a:close/>
              </a:path>
            </a:pathLst>
          </a:custGeom>
          <a:solidFill>
            <a:schemeClr val="accent1"/>
          </a:solid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基础知识</a:t>
            </a:r>
            <a:endParaRPr lang="en-US" altLang="zh-CN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718435" y="25082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800" dirty="0"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PTK</a:t>
            </a:r>
            <a:r>
              <a:rPr lang="zh-CN" altLang="en-US" sz="2800" dirty="0"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派生与组成</a:t>
            </a:r>
            <a:endParaRPr lang="zh-CN" altLang="en-US" sz="2800" dirty="0"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0" name="Shape 7"/>
          <p:cNvSpPr/>
          <p:nvPr/>
        </p:nvSpPr>
        <p:spPr>
          <a:xfrm>
            <a:off x="633095" y="1262380"/>
            <a:ext cx="10391775" cy="1714500"/>
          </a:xfrm>
          <a:custGeom>
            <a:avLst/>
            <a:gdLst/>
            <a:ahLst/>
            <a:cxnLst/>
            <a:rect l="l" t="t" r="r" b="b"/>
            <a:pathLst>
              <a:path w="6267450" h="542925">
                <a:moveTo>
                  <a:pt x="0" y="0"/>
                </a:moveTo>
                <a:lnTo>
                  <a:pt x="6267450" y="0"/>
                </a:lnTo>
                <a:lnTo>
                  <a:pt x="6267450" y="542925"/>
                </a:lnTo>
                <a:lnTo>
                  <a:pt x="0" y="542925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1A1D21"/>
                </a:solidFill>
              </a14:hiddenFill>
            </a:ext>
          </a:extLst>
        </p:spPr>
        <p:txBody>
          <a:bodyPr/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charset="0"/>
                <a:ea typeface="微软雅黑" panose="020B0503020204020204" pitchFamily="34" charset="-122"/>
                <a:cs typeface="Cambria Math" panose="02040503050406030204" charset="0"/>
                <a:sym typeface="+mn-ea"/>
              </a:rPr>
              <a:t>PTK = PRF(PMK, "Pairwise key expansion", min(AA, SA) || max(AA, SA) || min(ANonce, SNonce) || max(ANonce, SNonce))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Cambria Math" panose="02040503050406030204" charset="0"/>
              <a:ea typeface="微软雅黑" panose="020B0503020204020204" pitchFamily="34" charset="-122"/>
              <a:cs typeface="Cambria Math" panose="02040503050406030204" charset="0"/>
              <a:sym typeface="+mn-ea"/>
            </a:endParaRPr>
          </a:p>
          <a:p>
            <a:pPr algn="l">
              <a:lnSpc>
                <a:spcPct val="180000"/>
              </a:lnSpc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charset="0"/>
                <a:ea typeface="微软雅黑" panose="020B0503020204020204" pitchFamily="34" charset="-122"/>
                <a:cs typeface="Cambria Math" panose="02040503050406030204" charset="0"/>
                <a:sym typeface="+mn-ea"/>
              </a:rPr>
              <a:t>PRF是伪随机函数，AA和SA分别是认证者与请求者的MAC地址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Cambria Math" panose="02040503050406030204" charset="0"/>
              <a:ea typeface="微软雅黑" panose="020B0503020204020204" pitchFamily="34" charset="-122"/>
              <a:cs typeface="Cambria Math" panose="0204050305040603020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02920" y="3194685"/>
            <a:ext cx="10651490" cy="255333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304800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PTK</a:t>
            </a:r>
            <a:r>
              <a:rPr lang="zh-CN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长度为</a:t>
            </a:r>
            <a:r>
              <a:rPr 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512</a:t>
            </a:r>
            <a:r>
              <a:rPr lang="zh-CN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位（</a:t>
            </a:r>
            <a:r>
              <a:rPr 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WPA2</a:t>
            </a:r>
            <a:r>
              <a:rPr lang="zh-CN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）或</a:t>
            </a:r>
            <a:r>
              <a:rPr 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384</a:t>
            </a:r>
            <a:r>
              <a:rPr lang="zh-CN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位（</a:t>
            </a:r>
            <a:r>
              <a:rPr 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WPA</a:t>
            </a:r>
            <a:r>
              <a:rPr lang="zh-CN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），分为三个部分：</a:t>
            </a:r>
            <a:endParaRPr lang="zh-CN" sz="200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304800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</a:t>
            </a:r>
            <a:r>
              <a:rPr lang="en-US" sz="20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KCK</a:t>
            </a:r>
            <a:r>
              <a:rPr lang="zh-CN" sz="20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sz="20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Key Confirmation Key</a:t>
            </a:r>
            <a:r>
              <a:rPr lang="zh-CN" sz="20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sz="20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128</a:t>
            </a:r>
            <a:r>
              <a:rPr lang="zh-CN" sz="20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位）</a:t>
            </a:r>
            <a:r>
              <a:rPr lang="zh-CN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：用于计算</a:t>
            </a:r>
            <a:r>
              <a:rPr 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MIC</a:t>
            </a:r>
            <a:r>
              <a:rPr lang="zh-CN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，验证消息完整性</a:t>
            </a:r>
            <a:endParaRPr lang="zh-CN" sz="200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304800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</a:t>
            </a:r>
            <a:r>
              <a:rPr lang="en-US" sz="20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KEK</a:t>
            </a:r>
            <a:r>
              <a:rPr lang="zh-CN" sz="20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sz="20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Key Encryption Key</a:t>
            </a:r>
            <a:r>
              <a:rPr lang="zh-CN" sz="20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sz="20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128</a:t>
            </a:r>
            <a:r>
              <a:rPr lang="zh-CN" sz="20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位）</a:t>
            </a:r>
            <a:r>
              <a:rPr lang="zh-CN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：用于加密</a:t>
            </a:r>
            <a:r>
              <a:rPr 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GTK</a:t>
            </a:r>
            <a:r>
              <a:rPr lang="zh-CN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等敏感数据</a:t>
            </a:r>
            <a:endParaRPr lang="zh-CN" sz="200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304800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</a:t>
            </a:r>
            <a:r>
              <a:rPr lang="en-US" sz="20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TK</a:t>
            </a:r>
            <a:r>
              <a:rPr lang="zh-CN" sz="20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sz="20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Temporal Key</a:t>
            </a:r>
            <a:r>
              <a:rPr lang="zh-CN" sz="20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sz="20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128</a:t>
            </a:r>
            <a:r>
              <a:rPr lang="zh-CN" sz="20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位</a:t>
            </a:r>
            <a:r>
              <a:rPr lang="en-US" sz="20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/256</a:t>
            </a:r>
            <a:r>
              <a:rPr lang="zh-CN" sz="20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位）</a:t>
            </a:r>
            <a:r>
              <a:rPr lang="zh-CN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：用于加密实际数据流量</a:t>
            </a:r>
            <a:endParaRPr lang="zh-CN" altLang="en-US" sz="200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基础知识</a:t>
            </a:r>
            <a:endParaRPr lang="en-US" altLang="zh-CN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718435" y="25082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zh-CN" sz="2800" dirty="0"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主要安全威胁</a:t>
            </a:r>
            <a:endParaRPr lang="zh-CN" sz="2800" dirty="0"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85445" y="1120140"/>
            <a:ext cx="3676650" cy="5132705"/>
          </a:xfrm>
          <a:custGeom>
            <a:avLst/>
            <a:gdLst/>
            <a:ahLst/>
            <a:cxnLst/>
            <a:rect l="l" t="t" r="r" b="b"/>
            <a:pathLst>
              <a:path w="3676650" h="3800475">
                <a:moveTo>
                  <a:pt x="0" y="0"/>
                </a:moveTo>
                <a:lnTo>
                  <a:pt x="3676650" y="0"/>
                </a:lnTo>
                <a:lnTo>
                  <a:pt x="3676650" y="3800475"/>
                </a:lnTo>
                <a:lnTo>
                  <a:pt x="0" y="380047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8" name="Text 6"/>
          <p:cNvSpPr/>
          <p:nvPr/>
        </p:nvSpPr>
        <p:spPr>
          <a:xfrm>
            <a:off x="581025" y="1711960"/>
            <a:ext cx="15049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5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MiSans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81025" y="1238250"/>
            <a:ext cx="3362325" cy="39096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离线字典攻击</a:t>
            </a:r>
            <a:endParaRPr lang="en-US" sz="1600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由于PSK是用户可记忆的密码,通常强度有限。攻击者可以:</a:t>
            </a:r>
            <a:endParaRPr lang="en-US" sz="1600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16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</a:t>
            </a:r>
            <a:r>
              <a:rPr lang="zh-CN" altLang="en-US" sz="16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捕获握手包：监听并记录四次握手过程</a:t>
            </a:r>
            <a:endParaRPr lang="zh-CN" altLang="en-US" sz="1600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40000"/>
              </a:lnSpc>
            </a:pPr>
            <a:r>
              <a:rPr lang="en-US" altLang="zh-CN" sz="16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</a:t>
            </a:r>
            <a:r>
              <a:rPr lang="zh-CN" altLang="en-US" sz="16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提取关键数据：从握手包中获取</a:t>
            </a:r>
            <a:r>
              <a:rPr lang="en-US" altLang="zh-CN" sz="16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SSID</a:t>
            </a:r>
            <a:r>
              <a:rPr lang="zh-CN" altLang="en-US" sz="16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16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ANonce</a:t>
            </a:r>
            <a:r>
              <a:rPr lang="zh-CN" altLang="en-US" sz="16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16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SNonce</a:t>
            </a:r>
            <a:r>
              <a:rPr lang="zh-CN" altLang="en-US" sz="16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16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MAC</a:t>
            </a:r>
            <a:r>
              <a:rPr lang="zh-CN" altLang="en-US" sz="16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地址和</a:t>
            </a:r>
            <a:r>
              <a:rPr lang="en-US" altLang="zh-CN" sz="16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MIC</a:t>
            </a:r>
            <a:endParaRPr lang="en-US" altLang="zh-CN" sz="1600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16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</a:t>
            </a:r>
            <a:r>
              <a:rPr lang="zh-CN" altLang="en-US" sz="16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离线暴力破解：使用字典或暴力枚举</a:t>
            </a:r>
            <a:r>
              <a:rPr lang="en-US" altLang="zh-CN" sz="16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PSK</a:t>
            </a:r>
            <a:r>
              <a:rPr lang="zh-CN" altLang="en-US" sz="16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，计算</a:t>
            </a:r>
            <a:r>
              <a:rPr lang="en-US" altLang="zh-CN" sz="16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PMK</a:t>
            </a:r>
            <a:r>
              <a:rPr lang="zh-CN" altLang="en-US" sz="16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16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PTK</a:t>
            </a:r>
            <a:r>
              <a:rPr lang="zh-CN" altLang="en-US" sz="16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，验证</a:t>
            </a:r>
            <a:r>
              <a:rPr lang="en-US" altLang="zh-CN" sz="16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MIC</a:t>
            </a:r>
            <a:r>
              <a:rPr lang="zh-CN" altLang="en-US" sz="16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是否匹配</a:t>
            </a:r>
            <a:endParaRPr lang="zh-CN" altLang="en-US" sz="1400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endParaRPr lang="zh-CN" altLang="en-US" sz="1400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532130" y="5257800"/>
            <a:ext cx="3276600" cy="808990"/>
            <a:chOff x="923" y="6623"/>
            <a:chExt cx="5160" cy="1274"/>
          </a:xfrm>
        </p:grpSpPr>
        <p:sp>
          <p:nvSpPr>
            <p:cNvPr id="17" name="Shape 15"/>
            <p:cNvSpPr/>
            <p:nvPr/>
          </p:nvSpPr>
          <p:spPr>
            <a:xfrm>
              <a:off x="923" y="6623"/>
              <a:ext cx="5160" cy="1275"/>
            </a:xfrm>
            <a:custGeom>
              <a:avLst/>
              <a:gdLst/>
              <a:ahLst/>
              <a:cxnLst/>
              <a:rect l="l" t="t" r="r" b="b"/>
              <a:pathLst>
                <a:path w="3276600" h="809625">
                  <a:moveTo>
                    <a:pt x="0" y="0"/>
                  </a:moveTo>
                  <a:lnTo>
                    <a:pt x="3276600" y="0"/>
                  </a:lnTo>
                  <a:lnTo>
                    <a:pt x="3276600" y="809625"/>
                  </a:lnTo>
                  <a:lnTo>
                    <a:pt x="0" y="8096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2C36">
                <a:alpha val="10196"/>
              </a:srgbClr>
            </a:solidFill>
            <a:ln w="12700">
              <a:solidFill>
                <a:srgbClr val="FB2C36">
                  <a:alpha val="30196"/>
                </a:srgbClr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1140" y="6840"/>
              <a:ext cx="210" cy="21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66675" y="0"/>
                  </a:moveTo>
                  <a:cubicBezTo>
                    <a:pt x="70504" y="0"/>
                    <a:pt x="74020" y="2110"/>
                    <a:pt x="75843" y="5469"/>
                  </a:cubicBezTo>
                  <a:lnTo>
                    <a:pt x="132100" y="109649"/>
                  </a:lnTo>
                  <a:cubicBezTo>
                    <a:pt x="133845" y="112879"/>
                    <a:pt x="133767" y="116785"/>
                    <a:pt x="131891" y="119937"/>
                  </a:cubicBezTo>
                  <a:cubicBezTo>
                    <a:pt x="130016" y="123088"/>
                    <a:pt x="126604" y="125016"/>
                    <a:pt x="122932" y="125016"/>
                  </a:cubicBezTo>
                  <a:lnTo>
                    <a:pt x="10418" y="125016"/>
                  </a:lnTo>
                  <a:cubicBezTo>
                    <a:pt x="6746" y="125016"/>
                    <a:pt x="3360" y="123088"/>
                    <a:pt x="1459" y="119937"/>
                  </a:cubicBezTo>
                  <a:cubicBezTo>
                    <a:pt x="-443" y="116785"/>
                    <a:pt x="-495" y="112879"/>
                    <a:pt x="1250" y="109649"/>
                  </a:cubicBezTo>
                  <a:lnTo>
                    <a:pt x="57507" y="5469"/>
                  </a:lnTo>
                  <a:cubicBezTo>
                    <a:pt x="59330" y="2110"/>
                    <a:pt x="62846" y="0"/>
                    <a:pt x="66675" y="0"/>
                  </a:cubicBezTo>
                  <a:close/>
                  <a:moveTo>
                    <a:pt x="66675" y="43755"/>
                  </a:moveTo>
                  <a:cubicBezTo>
                    <a:pt x="63211" y="43755"/>
                    <a:pt x="60424" y="46542"/>
                    <a:pt x="60424" y="50006"/>
                  </a:cubicBezTo>
                  <a:lnTo>
                    <a:pt x="60424" y="79177"/>
                  </a:lnTo>
                  <a:cubicBezTo>
                    <a:pt x="60424" y="82641"/>
                    <a:pt x="63211" y="85427"/>
                    <a:pt x="66675" y="85427"/>
                  </a:cubicBezTo>
                  <a:cubicBezTo>
                    <a:pt x="70139" y="85427"/>
                    <a:pt x="72926" y="82641"/>
                    <a:pt x="72926" y="79177"/>
                  </a:cubicBezTo>
                  <a:lnTo>
                    <a:pt x="72926" y="50006"/>
                  </a:lnTo>
                  <a:cubicBezTo>
                    <a:pt x="72926" y="46542"/>
                    <a:pt x="70139" y="43755"/>
                    <a:pt x="66675" y="43755"/>
                  </a:cubicBezTo>
                  <a:close/>
                  <a:moveTo>
                    <a:pt x="73629" y="100013"/>
                  </a:moveTo>
                  <a:cubicBezTo>
                    <a:pt x="73787" y="97431"/>
                    <a:pt x="72500" y="94975"/>
                    <a:pt x="70287" y="93637"/>
                  </a:cubicBezTo>
                  <a:cubicBezTo>
                    <a:pt x="68074" y="92299"/>
                    <a:pt x="65302" y="92299"/>
                    <a:pt x="63089" y="93637"/>
                  </a:cubicBezTo>
                  <a:cubicBezTo>
                    <a:pt x="60876" y="94975"/>
                    <a:pt x="59589" y="97431"/>
                    <a:pt x="59747" y="100012"/>
                  </a:cubicBezTo>
                  <a:cubicBezTo>
                    <a:pt x="59589" y="102594"/>
                    <a:pt x="60876" y="105050"/>
                    <a:pt x="63089" y="106388"/>
                  </a:cubicBezTo>
                  <a:cubicBezTo>
                    <a:pt x="65302" y="107726"/>
                    <a:pt x="68074" y="107726"/>
                    <a:pt x="70287" y="106388"/>
                  </a:cubicBezTo>
                  <a:cubicBezTo>
                    <a:pt x="72500" y="105050"/>
                    <a:pt x="73787" y="102594"/>
                    <a:pt x="73629" y="100013"/>
                  </a:cubicBezTo>
                  <a:close/>
                </a:path>
              </a:pathLst>
            </a:custGeom>
            <a:solidFill>
              <a:srgbClr val="FF6467"/>
            </a:solidFill>
          </p:spPr>
        </p:sp>
        <p:sp>
          <p:nvSpPr>
            <p:cNvPr id="19" name="Text 17"/>
            <p:cNvSpPr/>
            <p:nvPr/>
          </p:nvSpPr>
          <p:spPr>
            <a:xfrm>
              <a:off x="1470" y="6810"/>
              <a:ext cx="4530" cy="9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b="1" dirty="0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安全提示:</a:t>
              </a:r>
              <a:r>
                <a:rPr lang="en-US" sz="1050" dirty="0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使用弱密码(如常见单词、电话号码)的手机热点极易被破解。建议使用12位以上的随机字符组合作为热点密码。</a:t>
              </a:r>
              <a:endParaRPr lang="en-US" sz="105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21" name="Shape 18"/>
          <p:cNvSpPr/>
          <p:nvPr/>
        </p:nvSpPr>
        <p:spPr>
          <a:xfrm>
            <a:off x="4258310" y="1120140"/>
            <a:ext cx="3676650" cy="5132705"/>
          </a:xfrm>
          <a:custGeom>
            <a:avLst/>
            <a:gdLst/>
            <a:ahLst/>
            <a:cxnLst/>
            <a:rect l="l" t="t" r="r" b="b"/>
            <a:pathLst>
              <a:path w="3676650" h="3800475">
                <a:moveTo>
                  <a:pt x="0" y="0"/>
                </a:moveTo>
                <a:lnTo>
                  <a:pt x="3676650" y="0"/>
                </a:lnTo>
                <a:lnTo>
                  <a:pt x="3676650" y="3800475"/>
                </a:lnTo>
                <a:lnTo>
                  <a:pt x="0" y="380047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6" name="Text 23"/>
          <p:cNvSpPr/>
          <p:nvPr/>
        </p:nvSpPr>
        <p:spPr>
          <a:xfrm>
            <a:off x="4415790" y="1395730"/>
            <a:ext cx="3362325" cy="41998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KRACK攻击</a:t>
            </a:r>
            <a:endParaRPr lang="en-US" sz="1600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60000"/>
              </a:lnSpc>
            </a:pPr>
            <a:r>
              <a:rPr lang="en-US" sz="16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2017年,Mathy Vanhoef等人发表的KRACK攻击,针对四次握手协议的实现缺陷:</a:t>
            </a:r>
            <a:r>
              <a:rPr lang="en-US" sz="16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在第三次握手时,Supplicant收到加密的GTK后会安装PTK和GTK,然后发送第四次握手消息。如果Authenticator没有收到第四次握手消息(可能由于丢包或攻击者干扰),会重传第三次握手消息。根据协议,Supplicant会重新安装已经使用的PTK,导致nonce(随机数)计数器重置。</a:t>
            </a:r>
            <a:endParaRPr lang="en-US" sz="1600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40000"/>
              </a:lnSpc>
            </a:pPr>
            <a:endParaRPr lang="en-US" sz="1600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4454426" y="2905125"/>
            <a:ext cx="3352800" cy="1304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endParaRPr lang="en-US" sz="1050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MiSans" pitchFamily="34" charset="-12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4454525" y="5595620"/>
            <a:ext cx="3352800" cy="5378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攻击后果:</a:t>
            </a:r>
            <a:endParaRPr lang="en-US" sz="14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Nonce</a:t>
            </a:r>
            <a:r>
              <a:rPr lang="zh-CN" altLang="en-US" sz="1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重用、数据包解密、</a:t>
            </a:r>
            <a:r>
              <a:rPr lang="en-US" altLang="zh-CN" sz="1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TCP</a:t>
            </a:r>
            <a:r>
              <a:rPr lang="zh-CN" altLang="en-US" sz="1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劫持</a:t>
            </a:r>
            <a:endParaRPr lang="zh-CN" altLang="en-US" sz="14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8131810" y="1120775"/>
            <a:ext cx="3676650" cy="5132070"/>
          </a:xfrm>
          <a:custGeom>
            <a:avLst/>
            <a:gdLst/>
            <a:ahLst/>
            <a:cxnLst/>
            <a:rect l="l" t="t" r="r" b="b"/>
            <a:pathLst>
              <a:path w="3676650" h="3800475">
                <a:moveTo>
                  <a:pt x="0" y="0"/>
                </a:moveTo>
                <a:lnTo>
                  <a:pt x="3676650" y="0"/>
                </a:lnTo>
                <a:lnTo>
                  <a:pt x="3676650" y="3800475"/>
                </a:lnTo>
                <a:lnTo>
                  <a:pt x="0" y="380047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38" name="Text 35"/>
          <p:cNvSpPr/>
          <p:nvPr/>
        </p:nvSpPr>
        <p:spPr>
          <a:xfrm>
            <a:off x="8384490" y="1711960"/>
            <a:ext cx="13620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5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MiSans" pitchFamily="34" charset="-12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8249920" y="1238250"/>
            <a:ext cx="3362325" cy="33153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其他攻击方式</a:t>
            </a:r>
            <a:endParaRPr lang="en-US" sz="16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60000"/>
              </a:lnSpc>
            </a:pPr>
            <a:r>
              <a:rPr lang="en-US" altLang="zh-CN" sz="16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Deauthentication</a:t>
            </a:r>
            <a:r>
              <a:rPr lang="zh-CN" altLang="en-US" sz="16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攻击：</a:t>
            </a:r>
            <a:r>
              <a:rPr lang="zh-CN" altLang="en-US" sz="16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发送伪造的解除认证帧，迫使客户端重新连接，从而捕获握手包</a:t>
            </a:r>
            <a:endParaRPr lang="zh-CN" altLang="en-US" sz="1600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60000"/>
              </a:lnSpc>
            </a:pPr>
            <a:r>
              <a:rPr lang="en-US" altLang="zh-CN" sz="16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Evil Twin</a:t>
            </a:r>
            <a:r>
              <a:rPr lang="zh-CN" altLang="en-US" sz="16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攻击：</a:t>
            </a:r>
            <a:r>
              <a:rPr lang="zh-CN" altLang="en-US" sz="16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搭建伪造的</a:t>
            </a:r>
            <a:r>
              <a:rPr lang="en-US" altLang="zh-CN" sz="16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AP</a:t>
            </a:r>
            <a:r>
              <a:rPr lang="zh-CN" altLang="en-US" sz="16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，诱骗用户连接，窃取密码</a:t>
            </a:r>
            <a:endParaRPr lang="zh-CN" altLang="en-US" sz="1600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60000"/>
              </a:lnSpc>
            </a:pPr>
            <a:r>
              <a:rPr lang="en-US" altLang="zh-CN" sz="16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PMKID</a:t>
            </a:r>
            <a:r>
              <a:rPr lang="zh-CN" altLang="en-US" sz="16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攻击：</a:t>
            </a:r>
            <a:r>
              <a:rPr lang="zh-CN" altLang="en-US" sz="16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直接从</a:t>
            </a:r>
            <a:r>
              <a:rPr lang="en-US" altLang="zh-CN" sz="16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AP</a:t>
            </a:r>
            <a:r>
              <a:rPr lang="zh-CN" altLang="en-US" sz="16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获取</a:t>
            </a:r>
            <a:r>
              <a:rPr lang="en-US" altLang="zh-CN" sz="16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PMKID</a:t>
            </a:r>
            <a:r>
              <a:rPr lang="zh-CN" altLang="en-US" sz="16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，无需完整握手过程即可进行离线破解</a:t>
            </a:r>
            <a:endParaRPr lang="zh-CN" altLang="en-US" sz="1600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zh-CN" altLang="en-US" sz="1600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0" y="-866151"/>
            <a:ext cx="6904036" cy="685799"/>
            <a:chOff x="0" y="-754379"/>
            <a:chExt cx="6904036" cy="685799"/>
          </a:xfrm>
        </p:grpSpPr>
        <p:grpSp>
          <p:nvGrpSpPr>
            <p:cNvPr id="4" name="组合 3"/>
            <p:cNvGrpSpPr/>
            <p:nvPr/>
          </p:nvGrpSpPr>
          <p:grpSpPr>
            <a:xfrm>
              <a:off x="0" y="-754379"/>
              <a:ext cx="6904036" cy="685799"/>
              <a:chOff x="1786550" y="-904875"/>
              <a:chExt cx="6904036" cy="685799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12" name="椭圆 11"/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" name="Oval 7"/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ea typeface="微软雅黑" panose="020B0503020204020204" pitchFamily="34" charset="-122"/>
                  </a:endParaRPr>
                </a:p>
              </p:txBody>
            </p:sp>
          </p:grpSp>
          <p:cxnSp>
            <p:nvCxnSpPr>
              <p:cNvPr id="9" name="直接连接符 8"/>
              <p:cNvCxnSpPr/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等腰三角形 9"/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zh-CN" altLang="en-US" dirty="0">
                    <a:ea typeface="微软雅黑" panose="020B0503020204020204" pitchFamily="34" charset="-122"/>
                  </a:rPr>
                  <a:t>选中图片</a:t>
                </a:r>
                <a:r>
                  <a:rPr lang="en-US" altLang="zh-CN" dirty="0">
                    <a:ea typeface="微软雅黑" panose="020B0503020204020204" pitchFamily="34" charset="-122"/>
                  </a:rPr>
                  <a:t>Delete</a:t>
                </a:r>
                <a:r>
                  <a:rPr lang="zh-CN" altLang="en-US" dirty="0">
                    <a:ea typeface="微软雅黑" panose="020B0503020204020204" pitchFamily="34" charset="-122"/>
                  </a:rPr>
                  <a:t>，点击中间图标即可插入新图片</a:t>
                </a:r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" name="文本框 4"/>
            <p:cNvSpPr txBox="1"/>
            <p:nvPr/>
          </p:nvSpPr>
          <p:spPr>
            <a:xfrm>
              <a:off x="6582625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pitchFamily="34" charset="-122"/>
              </a:endParaRPr>
            </a:p>
          </p:txBody>
        </p:sp>
      </p:grpSp>
      <p:sp>
        <p:nvSpPr>
          <p:cNvPr id="65" name="文本框 64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实验要求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57200" y="1032510"/>
            <a:ext cx="10651490" cy="464629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304800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硬件要求</a:t>
            </a:r>
            <a:endParaRPr lang="zh-CN" altLang="en-US" sz="2400" b="1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304800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</a:t>
            </a:r>
            <a:r>
              <a:rPr lang="zh-CN" altLang="en-US" sz="20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无线网卡：电脑自带的无线网卡即可，无需特殊功能</a:t>
            </a:r>
            <a:endParaRPr lang="zh-CN" altLang="en-US" sz="2000" b="1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304800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</a:t>
            </a:r>
            <a:r>
              <a:rPr lang="zh-CN" altLang="en-US" sz="20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手机：用于开启热点，支持</a:t>
            </a:r>
            <a:r>
              <a:rPr lang="en-US" altLang="zh-CN" sz="20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WPA2-PSK</a:t>
            </a:r>
            <a:r>
              <a:rPr lang="zh-CN" altLang="en-US" sz="20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（几乎所有智能手机都支持）</a:t>
            </a:r>
            <a:endParaRPr lang="zh-CN" altLang="en-US" sz="2000" b="1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304800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</a:t>
            </a:r>
            <a:r>
              <a:rPr lang="zh-CN" altLang="en-US" sz="20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电脑：运行抓包工具，建议</a:t>
            </a:r>
            <a:r>
              <a:rPr lang="en-US" altLang="zh-CN" sz="20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8GB</a:t>
            </a:r>
            <a:r>
              <a:rPr lang="zh-CN" altLang="en-US" sz="20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以上内存</a:t>
            </a:r>
            <a:endParaRPr lang="zh-CN" altLang="en-US" sz="2000" b="1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304800" algn="l" defTabSz="266700">
              <a:lnSpc>
                <a:spcPct val="200000"/>
              </a:lnSpc>
              <a:buClrTx/>
              <a:buSzTx/>
              <a:buFontTx/>
            </a:pPr>
            <a:r>
              <a:rPr lang="zh-CN" altLang="en-US" sz="2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软件工具</a:t>
            </a:r>
            <a:endParaRPr lang="zh-CN" altLang="en-US" sz="2400" b="1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304800" algn="l" defTabSz="266700">
              <a:lnSpc>
                <a:spcPct val="200000"/>
              </a:lnSpc>
              <a:buClrTx/>
              <a:buSzTx/>
              <a:buNone/>
            </a:pPr>
            <a:r>
              <a:rPr lang="en-US" altLang="zh-CN" sz="20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•Wireshark：图形化协议分析工具，可解析EAPOL帧</a:t>
            </a:r>
            <a:endParaRPr lang="en-US" altLang="zh-CN" sz="2000" b="1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304800" algn="l" defTabSz="266700">
              <a:lnSpc>
                <a:spcPct val="200000"/>
              </a:lnSpc>
              <a:buClrTx/>
              <a:buSzTx/>
              <a:buNone/>
            </a:pPr>
            <a:r>
              <a:rPr lang="en-US" altLang="zh-CN" sz="20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•Microsoft Network Monitor：Windows平台网络分析工具</a:t>
            </a:r>
            <a:endParaRPr lang="en-US" altLang="zh-CN" sz="2000" b="1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0" y="-866151"/>
            <a:ext cx="6904036" cy="685799"/>
            <a:chOff x="0" y="-754379"/>
            <a:chExt cx="6904036" cy="685799"/>
          </a:xfrm>
        </p:grpSpPr>
        <p:grpSp>
          <p:nvGrpSpPr>
            <p:cNvPr id="4" name="组合 3"/>
            <p:cNvGrpSpPr/>
            <p:nvPr/>
          </p:nvGrpSpPr>
          <p:grpSpPr>
            <a:xfrm>
              <a:off x="0" y="-754379"/>
              <a:ext cx="6904036" cy="685799"/>
              <a:chOff x="1786550" y="-904875"/>
              <a:chExt cx="6904036" cy="685799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12" name="椭圆 11"/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" name="Oval 7"/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ea typeface="微软雅黑" panose="020B0503020204020204" pitchFamily="34" charset="-122"/>
                  </a:endParaRPr>
                </a:p>
              </p:txBody>
            </p:sp>
          </p:grpSp>
          <p:cxnSp>
            <p:nvCxnSpPr>
              <p:cNvPr id="9" name="直接连接符 8"/>
              <p:cNvCxnSpPr/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等腰三角形 9"/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zh-CN" altLang="en-US" dirty="0">
                    <a:ea typeface="微软雅黑" panose="020B0503020204020204" pitchFamily="34" charset="-122"/>
                  </a:rPr>
                  <a:t>选中图片</a:t>
                </a:r>
                <a:r>
                  <a:rPr lang="en-US" altLang="zh-CN" dirty="0">
                    <a:ea typeface="微软雅黑" panose="020B0503020204020204" pitchFamily="34" charset="-122"/>
                  </a:rPr>
                  <a:t>Delete</a:t>
                </a:r>
                <a:r>
                  <a:rPr lang="zh-CN" altLang="en-US" dirty="0">
                    <a:ea typeface="微软雅黑" panose="020B0503020204020204" pitchFamily="34" charset="-122"/>
                  </a:rPr>
                  <a:t>，点击中间图标即可插入新图片</a:t>
                </a:r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" name="文本框 4"/>
            <p:cNvSpPr txBox="1"/>
            <p:nvPr/>
          </p:nvSpPr>
          <p:spPr>
            <a:xfrm>
              <a:off x="6582625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pitchFamily="34" charset="-122"/>
              </a:endParaRPr>
            </a:p>
          </p:txBody>
        </p:sp>
      </p:grpSp>
      <p:sp>
        <p:nvSpPr>
          <p:cNvPr id="65" name="文本框 64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实验要求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57200" y="634365"/>
            <a:ext cx="10651490" cy="14452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304800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实验步骤</a:t>
            </a:r>
            <a:endParaRPr lang="zh-CN" altLang="en-US" sz="2400" b="1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304800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000" b="1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AutoShape 13"/>
          <p:cNvSpPr/>
          <p:nvPr>
            <p:custDataLst>
              <p:tags r:id="rId1"/>
            </p:custDataLst>
          </p:nvPr>
        </p:nvSpPr>
        <p:spPr>
          <a:xfrm>
            <a:off x="837565" y="1970238"/>
            <a:ext cx="8131175" cy="62017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15"/>
          <p:cNvSpPr/>
          <p:nvPr>
            <p:custDataLst>
              <p:tags r:id="rId2"/>
            </p:custDataLst>
          </p:nvPr>
        </p:nvSpPr>
        <p:spPr>
          <a:xfrm>
            <a:off x="837565" y="1581150"/>
            <a:ext cx="9961880" cy="40290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75000"/>
              </a:lnSpc>
              <a:defRPr/>
            </a:pPr>
            <a:r>
              <a:rPr lang="en-US" altLang="zh-CN" sz="2000" b="1" i="0" u="none" strike="noStrike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01</a:t>
            </a:r>
            <a:r>
              <a:rPr lang="en-US" altLang="zh-CN" sz="2000" b="1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  </a:t>
            </a:r>
            <a:r>
              <a:rPr lang="zh-CN" altLang="en-US" sz="2000" b="1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准备环境</a:t>
            </a:r>
            <a:endParaRPr lang="zh-CN" altLang="en-US" sz="2000" b="1" i="0" u="none" strike="noStrike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  <a:p>
            <a:pPr indent="0" algn="l">
              <a:lnSpc>
                <a:spcPct val="175000"/>
              </a:lnSpc>
              <a:defRPr/>
            </a:pPr>
            <a:r>
              <a:rPr lang="en-US" altLang="zh-CN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1. </a:t>
            </a:r>
            <a:r>
              <a:rPr lang="zh-CN" altLang="en-US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安装</a:t>
            </a:r>
            <a:r>
              <a:rPr lang="en-US" altLang="zh-CN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Wireshark</a:t>
            </a:r>
            <a:r>
              <a:rPr lang="zh-CN" altLang="en-US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、</a:t>
            </a:r>
            <a:r>
              <a:rPr lang="en-US" altLang="zh-CN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Microsoft Network Monitor</a:t>
            </a:r>
            <a:r>
              <a:rPr lang="zh-CN" altLang="en-US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等抓包软件</a:t>
            </a:r>
            <a:endParaRPr lang="zh-CN" altLang="en-US" sz="2000" b="0" i="0" u="none" strike="noStrike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  <a:p>
            <a:pPr indent="0" algn="l">
              <a:lnSpc>
                <a:spcPct val="175000"/>
              </a:lnSpc>
              <a:defRPr/>
            </a:pPr>
            <a:r>
              <a:rPr lang="en-US" altLang="zh-CN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2. </a:t>
            </a:r>
            <a:r>
              <a:rPr lang="zh-CN" altLang="en-US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确认无线网卡可以正常连接无线网络</a:t>
            </a:r>
            <a:endParaRPr lang="zh-CN" altLang="en-US" sz="2000" b="0" i="0" u="none" strike="noStrike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  <a:p>
            <a:pPr indent="0" algn="l">
              <a:lnSpc>
                <a:spcPct val="175000"/>
              </a:lnSpc>
              <a:defRPr/>
            </a:pPr>
            <a:r>
              <a:rPr lang="en-US" altLang="zh-CN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3. </a:t>
            </a:r>
            <a:r>
              <a:rPr lang="zh-CN" altLang="en-US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在手机上设置手机热点，设置</a:t>
            </a:r>
            <a:r>
              <a:rPr lang="en-US" altLang="zh-CN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WPA2</a:t>
            </a:r>
            <a:r>
              <a:rPr lang="zh-CN" altLang="en-US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密码</a:t>
            </a:r>
            <a:endParaRPr lang="zh-CN" altLang="en-US" sz="2000" b="0" i="0" u="none" strike="noStrike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  <a:p>
            <a:pPr algn="l">
              <a:lnSpc>
                <a:spcPct val="175000"/>
              </a:lnSpc>
              <a:buClrTx/>
              <a:buSzTx/>
              <a:buFontTx/>
              <a:defRPr/>
            </a:pPr>
            <a:r>
              <a:rPr lang="en-US" altLang="zh-CN" sz="2000" b="1" i="0" u="none" strike="noStrike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02  </a:t>
            </a:r>
            <a:r>
              <a:rPr lang="zh-CN" altLang="en-US" sz="2000" b="1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配置抓包工具</a:t>
            </a:r>
            <a:endParaRPr lang="en-US" altLang="zh-CN" sz="2000" b="1" i="0" u="none" strike="noStrike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  <a:p>
            <a:pPr indent="0" algn="l">
              <a:lnSpc>
                <a:spcPct val="175000"/>
              </a:lnSpc>
              <a:defRPr/>
            </a:pPr>
            <a:r>
              <a:rPr lang="en-US" altLang="zh-CN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1. </a:t>
            </a:r>
            <a:r>
              <a:rPr lang="zh-CN" altLang="en-US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启动</a:t>
            </a:r>
            <a:r>
              <a:rPr lang="en-US" altLang="zh-CN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Wireshark/Microsoft Network Monitor</a:t>
            </a:r>
            <a:r>
              <a:rPr lang="zh-CN" altLang="en-US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：以管理员</a:t>
            </a:r>
            <a:r>
              <a:rPr lang="en-US" altLang="zh-CN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/root</a:t>
            </a:r>
            <a:r>
              <a:rPr lang="zh-CN" altLang="en-US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权限运行</a:t>
            </a:r>
            <a:r>
              <a:rPr lang="en-US" altLang="zh-CN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Wireshark/Microsoft Network Monitor</a:t>
            </a:r>
            <a:endParaRPr lang="en-US" altLang="zh-CN" sz="2000" b="0" i="0" u="none" strike="noStrike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  <a:p>
            <a:pPr indent="0" algn="l">
              <a:lnSpc>
                <a:spcPct val="175000"/>
              </a:lnSpc>
              <a:defRPr/>
            </a:pPr>
            <a:r>
              <a:rPr lang="en-US" altLang="zh-CN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2. </a:t>
            </a:r>
            <a:r>
              <a:rPr lang="zh-CN" altLang="en-US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选择接口：选择无线网卡接口（通常显示为</a:t>
            </a:r>
            <a:r>
              <a:rPr lang="en-US" altLang="zh-CN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WiFi</a:t>
            </a:r>
            <a:r>
              <a:rPr lang="zh-CN" altLang="en-US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或</a:t>
            </a:r>
            <a:r>
              <a:rPr lang="en-US" altLang="zh-CN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WLAN</a:t>
            </a:r>
            <a:r>
              <a:rPr lang="zh-CN" altLang="en-US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）</a:t>
            </a:r>
            <a:endParaRPr lang="zh-CN" altLang="en-US" sz="2000" b="0" i="0" u="none" strike="noStrike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0" y="-866151"/>
            <a:ext cx="6904036" cy="685799"/>
            <a:chOff x="0" y="-754379"/>
            <a:chExt cx="6904036" cy="685799"/>
          </a:xfrm>
        </p:grpSpPr>
        <p:grpSp>
          <p:nvGrpSpPr>
            <p:cNvPr id="4" name="组合 3"/>
            <p:cNvGrpSpPr/>
            <p:nvPr/>
          </p:nvGrpSpPr>
          <p:grpSpPr>
            <a:xfrm>
              <a:off x="0" y="-754379"/>
              <a:ext cx="6904036" cy="685799"/>
              <a:chOff x="1786550" y="-904875"/>
              <a:chExt cx="6904036" cy="685799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12" name="椭圆 11"/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" name="Oval 7"/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ea typeface="微软雅黑" panose="020B0503020204020204" pitchFamily="34" charset="-122"/>
                  </a:endParaRPr>
                </a:p>
              </p:txBody>
            </p:sp>
          </p:grpSp>
          <p:cxnSp>
            <p:nvCxnSpPr>
              <p:cNvPr id="9" name="直接连接符 8"/>
              <p:cNvCxnSpPr/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等腰三角形 9"/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zh-CN" altLang="en-US" dirty="0">
                    <a:ea typeface="微软雅黑" panose="020B0503020204020204" pitchFamily="34" charset="-122"/>
                  </a:rPr>
                  <a:t>选中图片</a:t>
                </a:r>
                <a:r>
                  <a:rPr lang="en-US" altLang="zh-CN" dirty="0">
                    <a:ea typeface="微软雅黑" panose="020B0503020204020204" pitchFamily="34" charset="-122"/>
                  </a:rPr>
                  <a:t>Delete</a:t>
                </a:r>
                <a:r>
                  <a:rPr lang="zh-CN" altLang="en-US" dirty="0">
                    <a:ea typeface="微软雅黑" panose="020B0503020204020204" pitchFamily="34" charset="-122"/>
                  </a:rPr>
                  <a:t>，点击中间图标即可插入新图片</a:t>
                </a:r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" name="文本框 4"/>
            <p:cNvSpPr txBox="1"/>
            <p:nvPr/>
          </p:nvSpPr>
          <p:spPr>
            <a:xfrm>
              <a:off x="6582625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pitchFamily="34" charset="-122"/>
              </a:endParaRPr>
            </a:p>
          </p:txBody>
        </p:sp>
      </p:grpSp>
      <p:sp>
        <p:nvSpPr>
          <p:cNvPr id="65" name="文本框 64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实验要求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57200" y="634365"/>
            <a:ext cx="10651490" cy="14452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304800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实验步骤</a:t>
            </a:r>
            <a:endParaRPr lang="zh-CN" altLang="en-US" sz="2400" b="1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304800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000" b="1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AutoShape 13"/>
          <p:cNvSpPr/>
          <p:nvPr>
            <p:custDataLst>
              <p:tags r:id="rId1"/>
            </p:custDataLst>
          </p:nvPr>
        </p:nvSpPr>
        <p:spPr>
          <a:xfrm>
            <a:off x="837565" y="1970238"/>
            <a:ext cx="8131175" cy="62017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15"/>
          <p:cNvSpPr/>
          <p:nvPr>
            <p:custDataLst>
              <p:tags r:id="rId2"/>
            </p:custDataLst>
          </p:nvPr>
        </p:nvSpPr>
        <p:spPr>
          <a:xfrm>
            <a:off x="837565" y="1376045"/>
            <a:ext cx="9961880" cy="33153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75000"/>
              </a:lnSpc>
              <a:defRPr/>
            </a:pPr>
            <a:r>
              <a:rPr lang="en-US" altLang="zh-CN" sz="2000" b="1" i="0" u="none" strike="noStrike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03</a:t>
            </a:r>
            <a:r>
              <a:rPr lang="en-US" altLang="zh-CN" sz="2000" b="1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  </a:t>
            </a:r>
            <a:r>
              <a:rPr lang="zh-CN" altLang="en-US" sz="2000" b="1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开始捕获</a:t>
            </a:r>
            <a:endParaRPr lang="zh-CN" altLang="en-US" sz="2000" b="1" i="0" u="none" strike="noStrike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  <a:p>
            <a:pPr algn="l">
              <a:lnSpc>
                <a:spcPct val="175000"/>
              </a:lnSpc>
              <a:buClrTx/>
              <a:buSzTx/>
              <a:buFontTx/>
              <a:defRPr/>
            </a:pPr>
            <a:r>
              <a:rPr lang="en-US" altLang="zh-CN" sz="200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1. 点击开始：在抓包工具中启动捕获</a:t>
            </a:r>
            <a:endParaRPr lang="en-US" altLang="zh-CN" sz="2000" i="0" u="none" strike="noStrike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  <a:p>
            <a:pPr algn="l">
              <a:lnSpc>
                <a:spcPct val="175000"/>
              </a:lnSpc>
              <a:buClrTx/>
              <a:buSzTx/>
              <a:buFontTx/>
              <a:defRPr/>
            </a:pPr>
            <a:r>
              <a:rPr lang="en-US" altLang="zh-CN" sz="200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2. 连接热点：在电脑上连接手机热点，输入密码</a:t>
            </a:r>
            <a:endParaRPr lang="en-US" altLang="zh-CN" sz="2000" i="0" u="none" strike="noStrike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  <a:p>
            <a:pPr algn="l">
              <a:lnSpc>
                <a:spcPct val="175000"/>
              </a:lnSpc>
              <a:buClrTx/>
              <a:buSzTx/>
              <a:buFontTx/>
              <a:defRPr/>
            </a:pPr>
            <a:r>
              <a:rPr lang="en-US" altLang="zh-CN" sz="200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3. 保存握手包：首次连接成功后，抓包工具应显示包含4个EAPOL-Key帧的捕获内容，将捕获内容保存为.cap文件</a:t>
            </a:r>
            <a:endParaRPr lang="en-US" altLang="zh-CN" sz="2000" i="0" u="none" strike="noStrike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  <a:p>
            <a:pPr algn="l">
              <a:lnSpc>
                <a:spcPct val="175000"/>
              </a:lnSpc>
              <a:buClrTx/>
              <a:buSzTx/>
              <a:buFontTx/>
              <a:defRPr/>
            </a:pPr>
            <a:endParaRPr lang="zh-CN" altLang="en-US" sz="2000" b="0" i="0" u="none" strike="noStrike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</p:txBody>
      </p:sp>
      <p:pic>
        <p:nvPicPr>
          <p:cNvPr id="1295338543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725" y="3508375"/>
            <a:ext cx="10184130" cy="29006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338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0" y="-866151"/>
            <a:ext cx="6904036" cy="685799"/>
            <a:chOff x="0" y="-754379"/>
            <a:chExt cx="6904036" cy="685799"/>
          </a:xfrm>
        </p:grpSpPr>
        <p:grpSp>
          <p:nvGrpSpPr>
            <p:cNvPr id="4" name="组合 3"/>
            <p:cNvGrpSpPr/>
            <p:nvPr/>
          </p:nvGrpSpPr>
          <p:grpSpPr>
            <a:xfrm>
              <a:off x="0" y="-754379"/>
              <a:ext cx="6904036" cy="685799"/>
              <a:chOff x="1786550" y="-904875"/>
              <a:chExt cx="6904036" cy="685799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12" name="椭圆 11"/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" name="Oval 7"/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ea typeface="微软雅黑" panose="020B0503020204020204" pitchFamily="34" charset="-122"/>
                  </a:endParaRPr>
                </a:p>
              </p:txBody>
            </p:sp>
          </p:grpSp>
          <p:cxnSp>
            <p:nvCxnSpPr>
              <p:cNvPr id="9" name="直接连接符 8"/>
              <p:cNvCxnSpPr/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等腰三角形 9"/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zh-CN" altLang="en-US" dirty="0">
                    <a:ea typeface="微软雅黑" panose="020B0503020204020204" pitchFamily="34" charset="-122"/>
                  </a:rPr>
                  <a:t>选中图片</a:t>
                </a:r>
                <a:r>
                  <a:rPr lang="en-US" altLang="zh-CN" dirty="0">
                    <a:ea typeface="微软雅黑" panose="020B0503020204020204" pitchFamily="34" charset="-122"/>
                  </a:rPr>
                  <a:t>Delete</a:t>
                </a:r>
                <a:r>
                  <a:rPr lang="zh-CN" altLang="en-US" dirty="0">
                    <a:ea typeface="微软雅黑" panose="020B0503020204020204" pitchFamily="34" charset="-122"/>
                  </a:rPr>
                  <a:t>，点击中间图标即可插入新图片</a:t>
                </a:r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" name="文本框 4"/>
            <p:cNvSpPr txBox="1"/>
            <p:nvPr/>
          </p:nvSpPr>
          <p:spPr>
            <a:xfrm>
              <a:off x="6582625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pitchFamily="34" charset="-122"/>
              </a:endParaRPr>
            </a:p>
          </p:txBody>
        </p:sp>
      </p:grpSp>
      <p:sp>
        <p:nvSpPr>
          <p:cNvPr id="65" name="文本框 64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实验要求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57200" y="634365"/>
            <a:ext cx="10651490" cy="14452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304800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实验步骤</a:t>
            </a:r>
            <a:endParaRPr lang="zh-CN" altLang="en-US" sz="2400" b="1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304800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000" b="1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AutoShape 13"/>
          <p:cNvSpPr/>
          <p:nvPr>
            <p:custDataLst>
              <p:tags r:id="rId1"/>
            </p:custDataLst>
          </p:nvPr>
        </p:nvSpPr>
        <p:spPr>
          <a:xfrm>
            <a:off x="837565" y="1970238"/>
            <a:ext cx="8131175" cy="62017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15"/>
          <p:cNvSpPr/>
          <p:nvPr>
            <p:custDataLst>
              <p:tags r:id="rId2"/>
            </p:custDataLst>
          </p:nvPr>
        </p:nvSpPr>
        <p:spPr>
          <a:xfrm>
            <a:off x="837565" y="1376045"/>
            <a:ext cx="9961880" cy="33153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75000"/>
              </a:lnSpc>
              <a:defRPr/>
            </a:pPr>
            <a:r>
              <a:rPr lang="en-US" altLang="zh-CN" sz="2000" b="1" i="0" u="none" strike="noStrike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04</a:t>
            </a:r>
            <a:r>
              <a:rPr lang="en-US" altLang="zh-CN" sz="2000" b="1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  </a:t>
            </a:r>
            <a:r>
              <a:rPr lang="zh-CN" altLang="en-US" sz="2000" b="1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使用</a:t>
            </a:r>
            <a:r>
              <a:rPr lang="en-US" altLang="zh-CN" sz="2000" b="1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Wireshark</a:t>
            </a:r>
            <a:r>
              <a:rPr lang="zh-CN" altLang="en-US" sz="2000" b="1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分析</a:t>
            </a:r>
            <a:endParaRPr lang="zh-CN" altLang="en-US" sz="2000" b="1" i="0" u="none" strike="noStrike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  <a:p>
            <a:pPr algn="l">
              <a:lnSpc>
                <a:spcPct val="175000"/>
              </a:lnSpc>
              <a:buClrTx/>
              <a:buSzTx/>
              <a:buFontTx/>
              <a:defRPr/>
            </a:pPr>
            <a:r>
              <a:rPr lang="en-US" altLang="zh-CN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1. </a:t>
            </a:r>
            <a:r>
              <a:rPr lang="zh-CN" altLang="en-US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打开捕获文件：用</a:t>
            </a:r>
            <a:r>
              <a:rPr lang="en-US" altLang="zh-CN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Wireshark</a:t>
            </a:r>
            <a:r>
              <a:rPr lang="zh-CN" altLang="en-US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打开</a:t>
            </a:r>
            <a:r>
              <a:rPr lang="en-US" altLang="zh-CN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.cap</a:t>
            </a:r>
            <a:r>
              <a:rPr lang="zh-CN" altLang="en-US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文件</a:t>
            </a:r>
            <a:endParaRPr lang="zh-CN" altLang="en-US" sz="2000" b="0" i="0" u="none" strike="noStrike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  <a:p>
            <a:pPr algn="l">
              <a:lnSpc>
                <a:spcPct val="175000"/>
              </a:lnSpc>
              <a:buClrTx/>
              <a:buSzTx/>
              <a:buFontTx/>
              <a:defRPr/>
            </a:pPr>
            <a:r>
              <a:rPr lang="en-US" altLang="zh-CN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2. </a:t>
            </a:r>
            <a:r>
              <a:rPr lang="zh-CN" altLang="en-US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过滤</a:t>
            </a:r>
            <a:r>
              <a:rPr lang="en-US" altLang="zh-CN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EAPOL</a:t>
            </a:r>
            <a:r>
              <a:rPr lang="zh-CN" altLang="en-US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帧：在过滤器中输入：</a:t>
            </a:r>
            <a:r>
              <a:rPr lang="en-US" altLang="zh-CN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eapol</a:t>
            </a:r>
            <a:endParaRPr lang="en-US" altLang="zh-CN" sz="2000" b="0" i="0" u="none" strike="noStrike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  <a:p>
            <a:pPr algn="l">
              <a:lnSpc>
                <a:spcPct val="175000"/>
              </a:lnSpc>
              <a:buClrTx/>
              <a:buSzTx/>
              <a:buFontTx/>
              <a:defRPr/>
            </a:pPr>
            <a:r>
              <a:rPr lang="en-US" altLang="zh-CN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3. </a:t>
            </a:r>
            <a:r>
              <a:rPr lang="zh-CN" altLang="en-US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识别四次握手：观察</a:t>
            </a:r>
            <a:r>
              <a:rPr lang="en-US" altLang="zh-CN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4</a:t>
            </a:r>
            <a:r>
              <a:rPr lang="zh-CN" altLang="en-US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个</a:t>
            </a:r>
            <a:r>
              <a:rPr lang="en-US" altLang="zh-CN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EAPOL-Key</a:t>
            </a:r>
            <a:r>
              <a:rPr lang="zh-CN" altLang="en-US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帧，记录每个帧的</a:t>
            </a:r>
            <a:r>
              <a:rPr lang="en-US" altLang="zh-CN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Key Information</a:t>
            </a:r>
            <a:r>
              <a:rPr lang="zh-CN" altLang="en-US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字段</a:t>
            </a:r>
            <a:endParaRPr lang="zh-CN" altLang="en-US" sz="2000" b="0" i="0" u="none" strike="noStrike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  <a:p>
            <a:pPr algn="l">
              <a:lnSpc>
                <a:spcPct val="175000"/>
              </a:lnSpc>
              <a:buClrTx/>
              <a:buSzTx/>
              <a:buFontTx/>
              <a:defRPr/>
            </a:pPr>
            <a:r>
              <a:rPr lang="en-US" altLang="zh-CN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4. </a:t>
            </a:r>
            <a:r>
              <a:rPr lang="zh-CN" altLang="en-US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分析字段：展开每个帧，查看</a:t>
            </a:r>
            <a:r>
              <a:rPr lang="en-US" altLang="zh-CN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Nonce</a:t>
            </a:r>
            <a:r>
              <a:rPr lang="zh-CN" altLang="en-US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、</a:t>
            </a:r>
            <a:r>
              <a:rPr lang="en-US" altLang="zh-CN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MIC</a:t>
            </a:r>
            <a:r>
              <a:rPr lang="zh-CN" altLang="en-US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、</a:t>
            </a:r>
            <a:r>
              <a:rPr lang="en-US" altLang="zh-CN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Replay Counter</a:t>
            </a:r>
            <a:r>
              <a:rPr lang="zh-CN" altLang="en-US" sz="2000" b="0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等字段</a:t>
            </a:r>
            <a:endParaRPr lang="zh-CN" altLang="en-US" sz="2000" b="0" i="0" u="none" strike="noStrike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  <a:p>
            <a:pPr algn="l">
              <a:lnSpc>
                <a:spcPct val="175000"/>
              </a:lnSpc>
              <a:buClrTx/>
              <a:buSzTx/>
              <a:buFontTx/>
              <a:defRPr/>
            </a:pPr>
            <a:endParaRPr lang="zh-CN" altLang="en-US" sz="2000" b="0" i="0" u="none" strike="noStrike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</p:txBody>
      </p:sp>
      <p:pic>
        <p:nvPicPr>
          <p:cNvPr id="561626020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9945" y="250825"/>
            <a:ext cx="7991475" cy="66668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62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0" y="-866151"/>
            <a:ext cx="6904036" cy="685799"/>
            <a:chOff x="0" y="-754379"/>
            <a:chExt cx="6904036" cy="685799"/>
          </a:xfrm>
        </p:grpSpPr>
        <p:grpSp>
          <p:nvGrpSpPr>
            <p:cNvPr id="4" name="组合 3"/>
            <p:cNvGrpSpPr/>
            <p:nvPr/>
          </p:nvGrpSpPr>
          <p:grpSpPr>
            <a:xfrm>
              <a:off x="0" y="-754379"/>
              <a:ext cx="6904036" cy="685799"/>
              <a:chOff x="1786550" y="-904875"/>
              <a:chExt cx="6904036" cy="685799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12" name="椭圆 11"/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" name="Oval 7"/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ea typeface="微软雅黑" panose="020B0503020204020204" pitchFamily="34" charset="-122"/>
                  </a:endParaRPr>
                </a:p>
              </p:txBody>
            </p:sp>
          </p:grpSp>
          <p:cxnSp>
            <p:nvCxnSpPr>
              <p:cNvPr id="9" name="直接连接符 8"/>
              <p:cNvCxnSpPr/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等腰三角形 9"/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zh-CN" altLang="en-US" dirty="0">
                    <a:ea typeface="微软雅黑" panose="020B0503020204020204" pitchFamily="34" charset="-122"/>
                  </a:rPr>
                  <a:t>选中图片</a:t>
                </a:r>
                <a:r>
                  <a:rPr lang="en-US" altLang="zh-CN" dirty="0">
                    <a:ea typeface="微软雅黑" panose="020B0503020204020204" pitchFamily="34" charset="-122"/>
                  </a:rPr>
                  <a:t>Delete</a:t>
                </a:r>
                <a:r>
                  <a:rPr lang="zh-CN" altLang="en-US" dirty="0">
                    <a:ea typeface="微软雅黑" panose="020B0503020204020204" pitchFamily="34" charset="-122"/>
                  </a:rPr>
                  <a:t>，点击中间图标即可插入新图片</a:t>
                </a:r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" name="文本框 4"/>
            <p:cNvSpPr txBox="1"/>
            <p:nvPr/>
          </p:nvSpPr>
          <p:spPr>
            <a:xfrm>
              <a:off x="6582625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pitchFamily="34" charset="-122"/>
              </a:endParaRPr>
            </a:p>
          </p:txBody>
        </p:sp>
      </p:grpSp>
      <p:sp>
        <p:nvSpPr>
          <p:cNvPr id="65" name="文本框 64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实验要求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57200" y="634365"/>
            <a:ext cx="10651490" cy="70675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304800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EAPOL-Key</a:t>
            </a:r>
            <a:r>
              <a:rPr lang="zh-CN" altLang="en-US" sz="20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帧结构分析</a:t>
            </a:r>
            <a:endParaRPr lang="zh-CN" altLang="en-US" sz="2000" b="1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AutoShape 13"/>
          <p:cNvSpPr/>
          <p:nvPr>
            <p:custDataLst>
              <p:tags r:id="rId1"/>
            </p:custDataLst>
          </p:nvPr>
        </p:nvSpPr>
        <p:spPr>
          <a:xfrm>
            <a:off x="837565" y="1970238"/>
            <a:ext cx="8131175" cy="62017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Text 4"/>
          <p:cNvSpPr/>
          <p:nvPr/>
        </p:nvSpPr>
        <p:spPr>
          <a:xfrm>
            <a:off x="837565" y="1376045"/>
            <a:ext cx="9447530" cy="245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EAPOL-Key帧是四次握手的载体,以WPA2-PSK为例,主要字段包括:</a:t>
            </a:r>
            <a:endParaRPr lang="en-US" sz="16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837565" y="1814195"/>
          <a:ext cx="9334500" cy="4279900"/>
        </p:xfrm>
        <a:graphic>
          <a:graphicData uri="http://schemas.openxmlformats.org/drawingml/2006/table">
            <a:tbl>
              <a:tblPr/>
              <a:tblGrid>
                <a:gridCol w="2880360"/>
                <a:gridCol w="2781300"/>
                <a:gridCol w="3672840"/>
              </a:tblGrid>
              <a:tr h="42799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字段</a:t>
                      </a:r>
                      <a:endParaRPr lang="en-US" sz="1600" b="1" u="none" dirty="0">
                        <a:solidFill>
                          <a:schemeClr val="accent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长度</a:t>
                      </a:r>
                      <a:endParaRPr lang="en-US" sz="1600" b="1" u="none" dirty="0">
                        <a:solidFill>
                          <a:schemeClr val="accent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说明</a:t>
                      </a:r>
                      <a:endParaRPr lang="en-US" sz="1600" b="1" u="none" dirty="0">
                        <a:solidFill>
                          <a:schemeClr val="accent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27990"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Key Information</a:t>
                      </a:r>
                      <a:endParaRPr lang="en-US" sz="14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2字节</a:t>
                      </a:r>
                      <a:endParaRPr lang="en-US" sz="14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密钥描述符类型、密钥索引等标志位</a:t>
                      </a:r>
                      <a:endParaRPr lang="en-US" sz="14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27990"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Key Length</a:t>
                      </a:r>
                      <a:endParaRPr lang="en-US" sz="14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2字节</a:t>
                      </a:r>
                      <a:endParaRPr lang="en-US" sz="14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密钥长度</a:t>
                      </a:r>
                      <a:endParaRPr lang="en-US" sz="14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27990"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Replay Counter</a:t>
                      </a:r>
                      <a:endParaRPr lang="en-US" sz="1400" u="none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8字节</a:t>
                      </a:r>
                      <a:endParaRPr lang="en-US" sz="1400" u="none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重放计数器,防止重放攻击</a:t>
                      </a:r>
                      <a:endParaRPr lang="en-US" sz="1400" u="none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27990"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Nonce</a:t>
                      </a:r>
                      <a:endParaRPr lang="en-US" sz="1400" u="none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32字节</a:t>
                      </a:r>
                      <a:endParaRPr lang="en-US" sz="1400" u="none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随机数(ANonce或SNonce)</a:t>
                      </a:r>
                      <a:endParaRPr lang="en-US" sz="1400" u="none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27990"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Key IV</a:t>
                      </a:r>
                      <a:endParaRPr lang="en-US" sz="14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16字节</a:t>
                      </a:r>
                      <a:endParaRPr lang="en-US" sz="14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初始化向量</a:t>
                      </a:r>
                      <a:endParaRPr lang="en-US" sz="14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27990"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Key RSC</a:t>
                      </a:r>
                      <a:endParaRPr lang="en-US" sz="14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8字节</a:t>
                      </a:r>
                      <a:endParaRPr lang="en-US" sz="14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接收序列计数器</a:t>
                      </a:r>
                      <a:endParaRPr lang="en-US" sz="14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27990"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Key MIC</a:t>
                      </a:r>
                      <a:endParaRPr lang="en-US" sz="1400" u="none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16字节</a:t>
                      </a:r>
                      <a:endParaRPr lang="en-US" sz="1400" u="none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消息完整性校验码</a:t>
                      </a:r>
                      <a:endParaRPr lang="en-US" sz="1400" u="none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27990"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Key Data Length</a:t>
                      </a:r>
                      <a:endParaRPr lang="en-US" sz="14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2字节</a:t>
                      </a:r>
                      <a:endParaRPr lang="en-US" sz="14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密钥数据长度</a:t>
                      </a:r>
                      <a:endParaRPr lang="en-US" sz="14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27990"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Key Data</a:t>
                      </a:r>
                      <a:endParaRPr lang="en-US" sz="14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变长</a:t>
                      </a:r>
                      <a:endParaRPr lang="en-US" sz="14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加密的GTK等信息</a:t>
                      </a:r>
                      <a:endParaRPr lang="en-US" sz="14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0" y="-866151"/>
            <a:ext cx="6904036" cy="685799"/>
            <a:chOff x="0" y="-754379"/>
            <a:chExt cx="6904036" cy="685799"/>
          </a:xfrm>
        </p:grpSpPr>
        <p:grpSp>
          <p:nvGrpSpPr>
            <p:cNvPr id="4" name="组合 3"/>
            <p:cNvGrpSpPr/>
            <p:nvPr/>
          </p:nvGrpSpPr>
          <p:grpSpPr>
            <a:xfrm>
              <a:off x="0" y="-754379"/>
              <a:ext cx="6904036" cy="685799"/>
              <a:chOff x="1786550" y="-904875"/>
              <a:chExt cx="6904036" cy="685799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12" name="椭圆 11"/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" name="Oval 7"/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ea typeface="微软雅黑" panose="020B0503020204020204" pitchFamily="34" charset="-122"/>
                  </a:endParaRPr>
                </a:p>
              </p:txBody>
            </p:sp>
          </p:grpSp>
          <p:cxnSp>
            <p:nvCxnSpPr>
              <p:cNvPr id="9" name="直接连接符 8"/>
              <p:cNvCxnSpPr/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等腰三角形 9"/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zh-CN" altLang="en-US" dirty="0">
                    <a:ea typeface="微软雅黑" panose="020B0503020204020204" pitchFamily="34" charset="-122"/>
                  </a:rPr>
                  <a:t>选中图片</a:t>
                </a:r>
                <a:r>
                  <a:rPr lang="en-US" altLang="zh-CN" dirty="0">
                    <a:ea typeface="微软雅黑" panose="020B0503020204020204" pitchFamily="34" charset="-122"/>
                  </a:rPr>
                  <a:t>Delete</a:t>
                </a:r>
                <a:r>
                  <a:rPr lang="zh-CN" altLang="en-US" dirty="0">
                    <a:ea typeface="微软雅黑" panose="020B0503020204020204" pitchFamily="34" charset="-122"/>
                  </a:rPr>
                  <a:t>，点击中间图标即可插入新图片</a:t>
                </a:r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" name="文本框 4"/>
            <p:cNvSpPr txBox="1"/>
            <p:nvPr/>
          </p:nvSpPr>
          <p:spPr>
            <a:xfrm>
              <a:off x="6582625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pitchFamily="34" charset="-122"/>
              </a:endParaRPr>
            </a:p>
          </p:txBody>
        </p:sp>
      </p:grpSp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拓展任务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57200" y="784860"/>
            <a:ext cx="10651490" cy="3784600"/>
          </a:xfrm>
          <a:prstGeom prst="rect">
            <a:avLst/>
          </a:prstGeom>
        </p:spPr>
        <p:txBody>
          <a:bodyPr wrap="square">
            <a:spAutoFit/>
          </a:bodyPr>
          <a:p>
            <a:pPr indent="609600" defTabSz="266700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en-US" sz="2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 </a:t>
            </a:r>
            <a:r>
              <a:rPr lang="zh-CN" altLang="en-US" sz="2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离线字典攻击</a:t>
            </a:r>
            <a:endParaRPr lang="zh-CN" altLang="en-US" sz="2400" b="1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609600" defTabSz="266700" fontAlgn="auto" latinLnBrk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zh-CN" altLang="en-US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使用</a:t>
            </a:r>
            <a:r>
              <a:rPr lang="en-US" altLang="zh-CN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Aircrack-ng</a:t>
            </a:r>
            <a:r>
              <a:rPr lang="zh-CN" altLang="en-US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工具（</a:t>
            </a:r>
            <a:r>
              <a:rPr lang="en-US" altLang="zh-CN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https://www.aircrack-ng.org/doku.php?id=aircrack-ng</a:t>
            </a:r>
            <a:r>
              <a:rPr lang="zh-CN" altLang="en-US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），对捕获的握手包进行离线字典攻击。如果电脑有独显，可以尝试用</a:t>
            </a:r>
            <a:r>
              <a:rPr lang="en-US" altLang="zh-CN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Hashcat</a:t>
            </a:r>
            <a:r>
              <a:rPr lang="zh-CN" altLang="en-US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工具（</a:t>
            </a:r>
            <a:r>
              <a:rPr lang="en-US" altLang="zh-CN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https://hashcat.net/hashcat/</a:t>
            </a:r>
            <a:r>
              <a:rPr lang="zh-CN" altLang="en-US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）替代，提升破解速度。</a:t>
            </a:r>
            <a:endParaRPr lang="zh-CN" altLang="en-US" sz="2400" b="1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609600" defTabSz="266700" fontAlgn="auto" latinLnBrk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zh-CN" altLang="en-US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要求：分析破解成功</a:t>
            </a:r>
            <a:r>
              <a:rPr lang="en-US" altLang="zh-CN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失败的原因，讨论如何设置强密码。</a:t>
            </a:r>
            <a:endParaRPr lang="zh-CN" altLang="en-US" sz="2400" b="1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AutoShape 13"/>
          <p:cNvSpPr/>
          <p:nvPr>
            <p:custDataLst>
              <p:tags r:id="rId1"/>
            </p:custDataLst>
          </p:nvPr>
        </p:nvSpPr>
        <p:spPr>
          <a:xfrm>
            <a:off x="837565" y="1970238"/>
            <a:ext cx="8131175" cy="62017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87093673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395" y="4458653"/>
            <a:ext cx="5372100" cy="2276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0" y="-866151"/>
            <a:ext cx="6904036" cy="685799"/>
            <a:chOff x="0" y="-754379"/>
            <a:chExt cx="6904036" cy="685799"/>
          </a:xfrm>
        </p:grpSpPr>
        <p:grpSp>
          <p:nvGrpSpPr>
            <p:cNvPr id="4" name="组合 3"/>
            <p:cNvGrpSpPr/>
            <p:nvPr/>
          </p:nvGrpSpPr>
          <p:grpSpPr>
            <a:xfrm>
              <a:off x="0" y="-754379"/>
              <a:ext cx="6904036" cy="685799"/>
              <a:chOff x="1786550" y="-904875"/>
              <a:chExt cx="6904036" cy="685799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12" name="椭圆 11"/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" name="Oval 7"/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ea typeface="微软雅黑" panose="020B0503020204020204" pitchFamily="34" charset="-122"/>
                  </a:endParaRPr>
                </a:p>
              </p:txBody>
            </p:sp>
          </p:grpSp>
          <p:cxnSp>
            <p:nvCxnSpPr>
              <p:cNvPr id="9" name="直接连接符 8"/>
              <p:cNvCxnSpPr/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等腰三角形 9"/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zh-CN" altLang="en-US" dirty="0">
                    <a:ea typeface="微软雅黑" panose="020B0503020204020204" pitchFamily="34" charset="-122"/>
                  </a:rPr>
                  <a:t>选中图片</a:t>
                </a:r>
                <a:r>
                  <a:rPr lang="en-US" altLang="zh-CN" dirty="0">
                    <a:ea typeface="微软雅黑" panose="020B0503020204020204" pitchFamily="34" charset="-122"/>
                  </a:rPr>
                  <a:t>Delete</a:t>
                </a:r>
                <a:r>
                  <a:rPr lang="zh-CN" altLang="en-US" dirty="0">
                    <a:ea typeface="微软雅黑" panose="020B0503020204020204" pitchFamily="34" charset="-122"/>
                  </a:rPr>
                  <a:t>，点击中间图标即可插入新图片</a:t>
                </a:r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" name="文本框 4"/>
            <p:cNvSpPr txBox="1"/>
            <p:nvPr/>
          </p:nvSpPr>
          <p:spPr>
            <a:xfrm>
              <a:off x="6582625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pitchFamily="34" charset="-122"/>
              </a:endParaRPr>
            </a:p>
          </p:txBody>
        </p:sp>
      </p:grpSp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拓展任务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57200" y="784860"/>
            <a:ext cx="10651490" cy="6000750"/>
          </a:xfrm>
          <a:prstGeom prst="rect">
            <a:avLst/>
          </a:prstGeom>
        </p:spPr>
        <p:txBody>
          <a:bodyPr wrap="square">
            <a:spAutoFit/>
          </a:bodyPr>
          <a:p>
            <a:pPr indent="609600" defTabSz="266700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en-US" sz="2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 </a:t>
            </a:r>
            <a:r>
              <a:rPr lang="en-US" altLang="zh-CN" sz="2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KRACK</a:t>
            </a:r>
            <a:r>
              <a:rPr lang="zh-CN" altLang="en-US" sz="2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攻击复现</a:t>
            </a:r>
            <a:endParaRPr lang="zh-CN" altLang="en-US" sz="2400" b="1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609600" defTabSz="266700" fontAlgn="auto" latinLnBrk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zh-CN" altLang="en-US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在实验环境中复现</a:t>
            </a:r>
            <a:r>
              <a:rPr lang="en-US" altLang="zh-CN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KRACK</a:t>
            </a:r>
            <a:r>
              <a:rPr lang="zh-CN" altLang="en-US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攻击：</a:t>
            </a:r>
            <a:endParaRPr lang="zh-CN" altLang="en-US" sz="2400" b="1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609600" defTabSz="266700" fontAlgn="auto" latinLnBrk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en-US" altLang="zh-CN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</a:t>
            </a:r>
            <a:r>
              <a:rPr lang="zh-CN" altLang="en-US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环境准备：搭建存在漏洞的</a:t>
            </a:r>
            <a:r>
              <a:rPr lang="en-US" altLang="zh-CN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AP</a:t>
            </a:r>
            <a:r>
              <a:rPr lang="zh-CN" altLang="en-US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和客户端环境</a:t>
            </a:r>
            <a:endParaRPr lang="zh-CN" altLang="en-US" sz="2400" b="1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609600" defTabSz="266700" fontAlgn="auto" latinLnBrk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en-US" altLang="zh-CN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</a:t>
            </a:r>
            <a:r>
              <a:rPr lang="zh-CN" altLang="en-US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攻击执行：使用</a:t>
            </a:r>
            <a:r>
              <a:rPr lang="en-US" altLang="zh-CN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krackattacks</a:t>
            </a:r>
            <a:r>
              <a:rPr lang="zh-CN" altLang="en-US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脚本（</a:t>
            </a:r>
            <a:r>
              <a:rPr lang="en-US" altLang="zh-CN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https://github.com/vanhoefm/krackattacks-scripts.git</a:t>
            </a:r>
            <a:r>
              <a:rPr lang="zh-CN" altLang="en-US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）或自行编写攻击代码</a:t>
            </a:r>
            <a:endParaRPr lang="zh-CN" altLang="en-US" sz="2400" b="1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609600" defTabSz="266700" fontAlgn="auto" latinLnBrk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en-US" altLang="zh-CN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</a:t>
            </a:r>
            <a:r>
              <a:rPr lang="zh-CN" altLang="en-US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结果分析：观察</a:t>
            </a:r>
            <a:r>
              <a:rPr lang="en-US" altLang="zh-CN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nonce</a:t>
            </a:r>
            <a:r>
              <a:rPr lang="zh-CN" altLang="en-US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重置现象，分析攻击效果</a:t>
            </a:r>
            <a:endParaRPr lang="zh-CN" altLang="en-US" sz="2400" b="1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609600" defTabSz="266700" fontAlgn="auto" latinLnBrk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zh-CN" altLang="en-US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要求：详细记录攻击过程，分析防御措施。</a:t>
            </a:r>
            <a:endParaRPr lang="zh-CN" altLang="en-US" sz="2400" b="1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609600" defTabSz="266700" fontAlgn="auto" latinLnBrk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 b="1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AutoShape 13"/>
          <p:cNvSpPr/>
          <p:nvPr>
            <p:custDataLst>
              <p:tags r:id="rId1"/>
            </p:custDataLst>
          </p:nvPr>
        </p:nvSpPr>
        <p:spPr>
          <a:xfrm>
            <a:off x="837565" y="1970238"/>
            <a:ext cx="8131175" cy="62017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0" y="-866151"/>
            <a:ext cx="6904036" cy="685799"/>
            <a:chOff x="0" y="-754379"/>
            <a:chExt cx="6904036" cy="685799"/>
          </a:xfrm>
        </p:grpSpPr>
        <p:grpSp>
          <p:nvGrpSpPr>
            <p:cNvPr id="4" name="组合 3"/>
            <p:cNvGrpSpPr/>
            <p:nvPr/>
          </p:nvGrpSpPr>
          <p:grpSpPr>
            <a:xfrm>
              <a:off x="0" y="-754379"/>
              <a:ext cx="6904036" cy="685799"/>
              <a:chOff x="1786550" y="-904875"/>
              <a:chExt cx="6904036" cy="685799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12" name="椭圆 11"/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" name="Oval 7"/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ea typeface="微软雅黑" panose="020B0503020204020204" pitchFamily="34" charset="-122"/>
                  </a:endParaRPr>
                </a:p>
              </p:txBody>
            </p:sp>
          </p:grpSp>
          <p:cxnSp>
            <p:nvCxnSpPr>
              <p:cNvPr id="9" name="直接连接符 8"/>
              <p:cNvCxnSpPr/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等腰三角形 9"/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zh-CN" altLang="en-US" dirty="0">
                    <a:ea typeface="微软雅黑" panose="020B0503020204020204" pitchFamily="34" charset="-122"/>
                  </a:rPr>
                  <a:t>选中图片</a:t>
                </a:r>
                <a:r>
                  <a:rPr lang="en-US" altLang="zh-CN" dirty="0">
                    <a:ea typeface="微软雅黑" panose="020B0503020204020204" pitchFamily="34" charset="-122"/>
                  </a:rPr>
                  <a:t>Delete</a:t>
                </a:r>
                <a:r>
                  <a:rPr lang="zh-CN" altLang="en-US" dirty="0">
                    <a:ea typeface="微软雅黑" panose="020B0503020204020204" pitchFamily="34" charset="-122"/>
                  </a:rPr>
                  <a:t>，点击中间图标即可插入新图片</a:t>
                </a:r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" name="文本框 4"/>
            <p:cNvSpPr txBox="1"/>
            <p:nvPr/>
          </p:nvSpPr>
          <p:spPr>
            <a:xfrm>
              <a:off x="6582625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pitchFamily="34" charset="-122"/>
              </a:endParaRPr>
            </a:p>
          </p:txBody>
        </p:sp>
      </p:grpSp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拓展任务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57200" y="784860"/>
            <a:ext cx="10651490" cy="5262245"/>
          </a:xfrm>
          <a:prstGeom prst="rect">
            <a:avLst/>
          </a:prstGeom>
        </p:spPr>
        <p:txBody>
          <a:bodyPr wrap="square">
            <a:spAutoFit/>
          </a:bodyPr>
          <a:p>
            <a:pPr indent="609600" defTabSz="266700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en-US" sz="2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 </a:t>
            </a:r>
            <a:r>
              <a:rPr lang="zh-CN" sz="2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协议改进设计</a:t>
            </a:r>
            <a:endParaRPr lang="zh-CN" altLang="en-US" sz="2400" b="1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609600" defTabSz="266700" fontAlgn="auto" latinLnBrk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zh-CN" altLang="en-US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针对</a:t>
            </a:r>
            <a:r>
              <a:rPr lang="en-US" altLang="zh-CN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WPA2-PSK</a:t>
            </a:r>
            <a:r>
              <a:rPr lang="zh-CN" altLang="en-US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的安全弱点，设计改进方案：</a:t>
            </a:r>
            <a:endParaRPr lang="zh-CN" altLang="en-US" sz="2400" b="1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609600" defTabSz="266700" fontAlgn="auto" latinLnBrk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en-US" altLang="zh-CN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</a:t>
            </a:r>
            <a:r>
              <a:rPr lang="zh-CN" altLang="en-US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问题分析：识别当前协议的主要安全缺陷</a:t>
            </a:r>
            <a:endParaRPr lang="zh-CN" altLang="en-US" sz="2400" b="1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609600" defTabSz="266700" fontAlgn="auto" latinLnBrk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en-US" altLang="zh-CN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</a:t>
            </a:r>
            <a:r>
              <a:rPr lang="zh-CN" altLang="en-US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方案设计：提出具体的协议改进措施</a:t>
            </a:r>
            <a:endParaRPr lang="zh-CN" altLang="en-US" sz="2400" b="1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609600" defTabSz="266700" fontAlgn="auto" latinLnBrk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en-US" altLang="zh-CN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</a:t>
            </a:r>
            <a:r>
              <a:rPr lang="zh-CN" altLang="en-US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安全性论证：分析改进后的协议安全性</a:t>
            </a:r>
            <a:endParaRPr lang="zh-CN" altLang="en-US" sz="2400" b="1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609600" defTabSz="266700" fontAlgn="auto" latinLnBrk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zh-CN" altLang="en-US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要求：方案需具有可行性，需进行形式化或启发式安全分析。</a:t>
            </a:r>
            <a:endParaRPr lang="zh-CN" altLang="en-US" sz="2400" b="1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609600" defTabSz="266700" fontAlgn="auto" latinLnBrk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 b="1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AutoShape 13"/>
          <p:cNvSpPr/>
          <p:nvPr>
            <p:custDataLst>
              <p:tags r:id="rId1"/>
            </p:custDataLst>
          </p:nvPr>
        </p:nvSpPr>
        <p:spPr>
          <a:xfrm>
            <a:off x="837565" y="1970238"/>
            <a:ext cx="8131175" cy="62017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0" y="-866151"/>
            <a:ext cx="6904036" cy="685799"/>
            <a:chOff x="0" y="-754379"/>
            <a:chExt cx="6904036" cy="685799"/>
          </a:xfrm>
        </p:grpSpPr>
        <p:grpSp>
          <p:nvGrpSpPr>
            <p:cNvPr id="4" name="组合 3"/>
            <p:cNvGrpSpPr/>
            <p:nvPr/>
          </p:nvGrpSpPr>
          <p:grpSpPr>
            <a:xfrm>
              <a:off x="0" y="-754379"/>
              <a:ext cx="6904036" cy="685799"/>
              <a:chOff x="1786550" y="-904875"/>
              <a:chExt cx="6904036" cy="685799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12" name="椭圆 11"/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" name="Oval 7"/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ea typeface="微软雅黑" panose="020B0503020204020204" pitchFamily="34" charset="-122"/>
                  </a:endParaRPr>
                </a:p>
              </p:txBody>
            </p:sp>
          </p:grpSp>
          <p:cxnSp>
            <p:nvCxnSpPr>
              <p:cNvPr id="9" name="直接连接符 8"/>
              <p:cNvCxnSpPr/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等腰三角形 9"/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zh-CN" altLang="en-US" dirty="0">
                    <a:ea typeface="微软雅黑" panose="020B0503020204020204" pitchFamily="34" charset="-122"/>
                  </a:rPr>
                  <a:t>选中图片</a:t>
                </a:r>
                <a:r>
                  <a:rPr lang="en-US" altLang="zh-CN" dirty="0">
                    <a:ea typeface="微软雅黑" panose="020B0503020204020204" pitchFamily="34" charset="-122"/>
                  </a:rPr>
                  <a:t>Delete</a:t>
                </a:r>
                <a:r>
                  <a:rPr lang="zh-CN" altLang="en-US" dirty="0">
                    <a:ea typeface="微软雅黑" panose="020B0503020204020204" pitchFamily="34" charset="-122"/>
                  </a:rPr>
                  <a:t>，点击中间图标即可插入新图片</a:t>
                </a:r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" name="文本框 4"/>
            <p:cNvSpPr txBox="1"/>
            <p:nvPr/>
          </p:nvSpPr>
          <p:spPr>
            <a:xfrm>
              <a:off x="6582625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pitchFamily="34" charset="-122"/>
              </a:endParaRPr>
            </a:p>
          </p:txBody>
        </p:sp>
      </p:grpSp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拓展任务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57200" y="784860"/>
            <a:ext cx="10651490" cy="5262245"/>
          </a:xfrm>
          <a:prstGeom prst="rect">
            <a:avLst/>
          </a:prstGeom>
        </p:spPr>
        <p:txBody>
          <a:bodyPr wrap="square">
            <a:spAutoFit/>
          </a:bodyPr>
          <a:p>
            <a:pPr indent="609600" defTabSz="266700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en-US" sz="2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 </a:t>
            </a:r>
            <a:r>
              <a:rPr lang="en-US" altLang="zh-CN" sz="2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WPA3</a:t>
            </a:r>
            <a:r>
              <a:rPr lang="zh-CN" altLang="en-US" sz="2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对比分析</a:t>
            </a:r>
            <a:endParaRPr lang="zh-CN" altLang="en-US" sz="2400" b="1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609600" defTabSz="266700" fontAlgn="auto" latinLnBrk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zh-CN" altLang="en-US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调研</a:t>
            </a:r>
            <a:r>
              <a:rPr lang="en-US" altLang="zh-CN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WPA3</a:t>
            </a:r>
            <a:r>
              <a:rPr lang="zh-CN" altLang="en-US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协议相对于</a:t>
            </a:r>
            <a:r>
              <a:rPr lang="en-US" altLang="zh-CN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WPA2</a:t>
            </a:r>
            <a:r>
              <a:rPr lang="zh-CN" altLang="en-US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的改进：</a:t>
            </a:r>
            <a:endParaRPr lang="zh-CN" altLang="en-US" sz="2400" b="1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609600" defTabSz="266700" fontAlgn="auto" latinLnBrk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en-US" altLang="zh-CN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•SAE</a:t>
            </a:r>
            <a:r>
              <a:rPr lang="zh-CN" altLang="en-US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握手：分析</a:t>
            </a:r>
            <a:r>
              <a:rPr lang="en-US" altLang="zh-CN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Simultaneous Authentication of Equals</a:t>
            </a:r>
            <a:r>
              <a:rPr lang="zh-CN" altLang="en-US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机制</a:t>
            </a:r>
            <a:endParaRPr lang="zh-CN" altLang="en-US" sz="2400" b="1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609600" defTabSz="266700" fontAlgn="auto" latinLnBrk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en-US" altLang="zh-CN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</a:t>
            </a:r>
            <a:r>
              <a:rPr lang="zh-CN" altLang="en-US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前向安全：解释</a:t>
            </a:r>
            <a:r>
              <a:rPr lang="en-US" altLang="zh-CN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WPA3</a:t>
            </a:r>
            <a:r>
              <a:rPr lang="zh-CN" altLang="en-US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如何实现前向安全性</a:t>
            </a:r>
            <a:endParaRPr lang="zh-CN" altLang="en-US" sz="2400" b="1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609600" defTabSz="266700" fontAlgn="auto" latinLnBrk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en-US" altLang="zh-CN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•OWE</a:t>
            </a:r>
            <a:r>
              <a:rPr lang="zh-CN" altLang="en-US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：分析</a:t>
            </a:r>
            <a:r>
              <a:rPr lang="en-US" altLang="zh-CN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Opportunistic Wireless Encryption</a:t>
            </a:r>
            <a:r>
              <a:rPr lang="zh-CN" altLang="en-US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模式</a:t>
            </a:r>
            <a:endParaRPr lang="zh-CN" altLang="en-US" sz="2400" b="1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609600" defTabSz="266700" fontAlgn="auto" latinLnBrk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zh-CN" altLang="en-US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要求：对比</a:t>
            </a:r>
            <a:r>
              <a:rPr lang="en-US" altLang="zh-CN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WPA2</a:t>
            </a:r>
            <a:r>
              <a:rPr lang="zh-CN" altLang="en-US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WPA3</a:t>
            </a:r>
            <a:r>
              <a:rPr lang="zh-CN" altLang="en-US"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在安全性方面的差异。</a:t>
            </a:r>
            <a:endParaRPr lang="zh-CN" altLang="en-US" sz="2400" b="1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609600" defTabSz="266700" fontAlgn="auto" latinLnBrk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 b="1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AutoShape 13"/>
          <p:cNvSpPr/>
          <p:nvPr>
            <p:custDataLst>
              <p:tags r:id="rId1"/>
            </p:custDataLst>
          </p:nvPr>
        </p:nvSpPr>
        <p:spPr>
          <a:xfrm>
            <a:off x="837565" y="1970238"/>
            <a:ext cx="8131175" cy="62017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0" y="-866151"/>
            <a:ext cx="6904036" cy="685799"/>
            <a:chOff x="0" y="-754379"/>
            <a:chExt cx="6904036" cy="685799"/>
          </a:xfrm>
        </p:grpSpPr>
        <p:grpSp>
          <p:nvGrpSpPr>
            <p:cNvPr id="4" name="组合 3"/>
            <p:cNvGrpSpPr/>
            <p:nvPr/>
          </p:nvGrpSpPr>
          <p:grpSpPr>
            <a:xfrm>
              <a:off x="0" y="-754379"/>
              <a:ext cx="6904036" cy="685799"/>
              <a:chOff x="1786550" y="-904875"/>
              <a:chExt cx="6904036" cy="685799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12" name="椭圆 11"/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" name="Oval 7"/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ea typeface="微软雅黑" panose="020B0503020204020204" pitchFamily="34" charset="-122"/>
                  </a:endParaRPr>
                </a:p>
              </p:txBody>
            </p:sp>
          </p:grpSp>
          <p:cxnSp>
            <p:nvCxnSpPr>
              <p:cNvPr id="9" name="直接连接符 8"/>
              <p:cNvCxnSpPr/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等腰三角形 9"/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zh-CN" altLang="en-US" dirty="0">
                    <a:ea typeface="微软雅黑" panose="020B0503020204020204" pitchFamily="34" charset="-122"/>
                  </a:rPr>
                  <a:t>选中图片</a:t>
                </a:r>
                <a:r>
                  <a:rPr lang="en-US" altLang="zh-CN" dirty="0">
                    <a:ea typeface="微软雅黑" panose="020B0503020204020204" pitchFamily="34" charset="-122"/>
                  </a:rPr>
                  <a:t>Delete</a:t>
                </a:r>
                <a:r>
                  <a:rPr lang="zh-CN" altLang="en-US" dirty="0">
                    <a:ea typeface="微软雅黑" panose="020B0503020204020204" pitchFamily="34" charset="-122"/>
                  </a:rPr>
                  <a:t>，点击中间图标即可插入新图片</a:t>
                </a:r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" name="文本框 4"/>
            <p:cNvSpPr txBox="1"/>
            <p:nvPr/>
          </p:nvSpPr>
          <p:spPr>
            <a:xfrm>
              <a:off x="6582625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pitchFamily="34" charset="-122"/>
              </a:endParaRPr>
            </a:p>
          </p:txBody>
        </p:sp>
      </p:grpSp>
      <p:sp>
        <p:nvSpPr>
          <p:cNvPr id="65" name="文本框 64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实验要求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88168" y="1706965"/>
            <a:ext cx="9721031" cy="181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dirty="0">
                <a:solidFill>
                  <a:srgbClr val="C00000"/>
                </a:solidFill>
                <a:latin typeface="+mn-ea"/>
                <a:cs typeface="Helvetica" panose="020B0604020202020204" pitchFamily="34" charset="0"/>
              </a:rPr>
              <a:t>实验时间：</a:t>
            </a:r>
            <a:r>
              <a:rPr lang="en-US" altLang="zh-CN" sz="2800" b="1" dirty="0">
                <a:solidFill>
                  <a:srgbClr val="C00000"/>
                </a:solidFill>
                <a:latin typeface="+mn-ea"/>
                <a:cs typeface="Helvetica" panose="020B0604020202020204" pitchFamily="34" charset="0"/>
              </a:rPr>
              <a:t>2</a:t>
            </a:r>
            <a:r>
              <a:rPr lang="zh-CN" altLang="en-US" sz="2800" b="1" dirty="0">
                <a:solidFill>
                  <a:srgbClr val="C00000"/>
                </a:solidFill>
                <a:latin typeface="+mn-ea"/>
                <a:cs typeface="Helvetica" panose="020B0604020202020204" pitchFamily="34" charset="0"/>
              </a:rPr>
              <a:t>周</a:t>
            </a:r>
            <a:endParaRPr lang="en-US" altLang="zh-CN" sz="2800" b="1" dirty="0">
              <a:solidFill>
                <a:srgbClr val="C00000"/>
              </a:solidFill>
              <a:latin typeface="+mn-ea"/>
              <a:cs typeface="Helvetica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zh-CN" altLang="en-US" sz="2800" b="1" dirty="0">
                <a:solidFill>
                  <a:srgbClr val="C00000"/>
                </a:solidFill>
                <a:latin typeface="+mn-ea"/>
                <a:cs typeface="Helvetica" panose="020B0604020202020204" pitchFamily="34" charset="0"/>
              </a:rPr>
              <a:t>提交</a:t>
            </a:r>
            <a:r>
              <a:rPr lang="zh-CN" altLang="en-US" sz="2800" b="1">
                <a:solidFill>
                  <a:srgbClr val="C00000"/>
                </a:solidFill>
                <a:latin typeface="+mn-ea"/>
                <a:cs typeface="Helvetica" panose="020B0604020202020204" pitchFamily="34" charset="0"/>
              </a:rPr>
              <a:t>方式：智慧课堂</a:t>
            </a:r>
            <a:endParaRPr lang="zh-CN" altLang="zh-CN" sz="2800" b="1" dirty="0">
              <a:solidFill>
                <a:srgbClr val="C00000"/>
              </a:solidFill>
              <a:latin typeface="+mn-ea"/>
              <a:cs typeface="Helvetica" panose="020B0604020202020204" pitchFamily="34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0095" y="250825"/>
            <a:ext cx="5800725" cy="625792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80,&quot;left&quot;:30.85,&quot;top&quot;:94,&quot;width&quot;:607.25}"/>
</p:tagLst>
</file>

<file path=ppt/tags/tag2.xml><?xml version="1.0" encoding="utf-8"?>
<p:tagLst xmlns:p="http://schemas.openxmlformats.org/presentationml/2006/main">
  <p:tag name="KSO_WM_DIAGRAM_VIRTUALLY_FRAME" val="{&quot;height&quot;:80,&quot;left&quot;:30.85,&quot;top&quot;:94,&quot;width&quot;:607.25}"/>
</p:tagLst>
</file>

<file path=ppt/tags/tag3.xml><?xml version="1.0" encoding="utf-8"?>
<p:tagLst xmlns:p="http://schemas.openxmlformats.org/presentationml/2006/main">
  <p:tag name="KSO_WM_DIAGRAM_VIRTUALLY_FRAME" val="{&quot;height&quot;:80,&quot;left&quot;:30.85,&quot;top&quot;:94,&quot;width&quot;:607.25}"/>
</p:tagLst>
</file>

<file path=ppt/tags/tag4.xml><?xml version="1.0" encoding="utf-8"?>
<p:tagLst xmlns:p="http://schemas.openxmlformats.org/presentationml/2006/main">
  <p:tag name="KSO_WM_DIAGRAM_VIRTUALLY_FRAME" val="{&quot;height&quot;:80,&quot;left&quot;:30.85,&quot;top&quot;:94,&quot;width&quot;:607.25}"/>
</p:tagLst>
</file>

<file path=ppt/tags/tag5.xml><?xml version="1.0" encoding="utf-8"?>
<p:tagLst xmlns:p="http://schemas.openxmlformats.org/presentationml/2006/main">
  <p:tag name="KSO_WM_DIAGRAM_VIRTUALLY_FRAME" val="{&quot;height&quot;:80,&quot;left&quot;:30.85,&quot;top&quot;:94,&quot;width&quot;:607.25}"/>
</p:tagLst>
</file>

<file path=ppt/tags/tag6.xml><?xml version="1.0" encoding="utf-8"?>
<p:tagLst xmlns:p="http://schemas.openxmlformats.org/presentationml/2006/main">
  <p:tag name="KSO_WM_DIAGRAM_VIRTUALLY_FRAME" val="{&quot;height&quot;:80,&quot;left&quot;:30.85,&quot;top&quot;:94,&quot;width&quot;:607.25}"/>
</p:tagLst>
</file>

<file path=ppt/tags/tag7.xml><?xml version="1.0" encoding="utf-8"?>
<p:tagLst xmlns:p="http://schemas.openxmlformats.org/presentationml/2006/main">
  <p:tag name="KSO_WM_DIAGRAM_VIRTUALLY_FRAME" val="{&quot;height&quot;:227.4131496062992,&quot;left&quot;:22.55,&quot;top&quot;:210.5868503937008,&quot;width&quot;:687.55}"/>
</p:tagLst>
</file>

<file path=ppt/tags/tag8.xml><?xml version="1.0" encoding="utf-8"?>
<p:tagLst xmlns:p="http://schemas.openxmlformats.org/presentationml/2006/main">
  <p:tag name="KSO_WM_DIAGRAM_VIRTUALLY_FRAME" val="{&quot;height&quot;:227.4131496062992,&quot;left&quot;:22.55,&quot;top&quot;:210.5868503937008,&quot;width&quot;:687.55}"/>
</p:tagLst>
</file>

<file path=ppt/tags/tag9.xml><?xml version="1.0" encoding="utf-8"?>
<p:tagLst xmlns:p="http://schemas.openxmlformats.org/presentationml/2006/main">
  <p:tag name="KSO_WM_DIAGRAM_VIRTUALLY_FRAME" val="{&quot;height&quot;:227.4131496062992,&quot;left&quot;:22.55,&quot;top&quot;:210.5868503937008,&quot;width&quot;:687.55}"/>
</p:tagLst>
</file>

<file path=ppt/tags/tag10.xml><?xml version="1.0" encoding="utf-8"?>
<p:tagLst xmlns:p="http://schemas.openxmlformats.org/presentationml/2006/main">
  <p:tag name="KSO_WM_DIAGRAM_VIRTUALLY_FRAME" val="{&quot;height&quot;:227.4131496062992,&quot;left&quot;:22.55,&quot;top&quot;:210.5868503937008,&quot;width&quot;:687.55}"/>
</p:tagLst>
</file>

<file path=ppt/tags/tag11.xml><?xml version="1.0" encoding="utf-8"?>
<p:tagLst xmlns:p="http://schemas.openxmlformats.org/presentationml/2006/main">
  <p:tag name="KSO_WM_DIAGRAM_VIRTUALLY_FRAME" val="{&quot;height&quot;:227.4131496062992,&quot;left&quot;:22.55,&quot;top&quot;:210.5868503937008,&quot;width&quot;:687.55}"/>
</p:tagLst>
</file>

<file path=ppt/tags/tag12.xml><?xml version="1.0" encoding="utf-8"?>
<p:tagLst xmlns:p="http://schemas.openxmlformats.org/presentationml/2006/main">
  <p:tag name="KSO_WM_DIAGRAM_VIRTUALLY_FRAME" val="{&quot;height&quot;:227.4131496062992,&quot;left&quot;:22.55,&quot;top&quot;:210.5868503937008,&quot;width&quot;:687.55}"/>
</p:tagLst>
</file>

<file path=ppt/tags/tag13.xml><?xml version="1.0" encoding="utf-8"?>
<p:tagLst xmlns:p="http://schemas.openxmlformats.org/presentationml/2006/main">
  <p:tag name="KSO_WM_DIAGRAM_VIRTUALLY_FRAME" val="{&quot;height&quot;:227.4131496062992,&quot;left&quot;:22.55,&quot;top&quot;:210.5868503937008,&quot;width&quot;:687.55}"/>
</p:tagLst>
</file>

<file path=ppt/tags/tag14.xml><?xml version="1.0" encoding="utf-8"?>
<p:tagLst xmlns:p="http://schemas.openxmlformats.org/presentationml/2006/main">
  <p:tag name="KSO_WM_DIAGRAM_VIRTUALLY_FRAME" val="{&quot;height&quot;:227.4131496062992,&quot;left&quot;:22.55,&quot;top&quot;:210.5868503937008,&quot;width&quot;:687.55}"/>
</p:tagLst>
</file>

<file path=ppt/tags/tag15.xml><?xml version="1.0" encoding="utf-8"?>
<p:tagLst xmlns:p="http://schemas.openxmlformats.org/presentationml/2006/main">
  <p:tag name="KSO_WM_DIAGRAM_VIRTUALLY_FRAME" val="{&quot;height&quot;:227.4131496062992,&quot;left&quot;:22.55,&quot;top&quot;:210.5868503937008,&quot;width&quot;:687.55}"/>
</p:tagLst>
</file>

<file path=ppt/tags/tag16.xml><?xml version="1.0" encoding="utf-8"?>
<p:tagLst xmlns:p="http://schemas.openxmlformats.org/presentationml/2006/main">
  <p:tag name="KSO_WM_DIAGRAM_VIRTUALLY_FRAME" val="{&quot;height&quot;:227.4131496062992,&quot;left&quot;:22.55,&quot;top&quot;:210.5868503937008,&quot;width&quot;:687.55}"/>
</p:tagLst>
</file>

<file path=ppt/tags/tag17.xml><?xml version="1.0" encoding="utf-8"?>
<p:tagLst xmlns:p="http://schemas.openxmlformats.org/presentationml/2006/main">
  <p:tag name="KSO_WM_DIAGRAM_VIRTUALLY_FRAME" val="{&quot;height&quot;:227.4131496062992,&quot;left&quot;:22.55,&quot;top&quot;:210.5868503937008,&quot;width&quot;:687.55}"/>
</p:tagLst>
</file>

<file path=ppt/tags/tag18.xml><?xml version="1.0" encoding="utf-8"?>
<p:tagLst xmlns:p="http://schemas.openxmlformats.org/presentationml/2006/main">
  <p:tag name="KSO_WM_DIAGRAM_VIRTUALLY_FRAME" val="{&quot;height&quot;:227.4131496062992,&quot;left&quot;:22.55,&quot;top&quot;:210.5868503937008,&quot;width&quot;:687.55}"/>
</p:tagLst>
</file>

<file path=ppt/tags/tag19.xml><?xml version="1.0" encoding="utf-8"?>
<p:tagLst xmlns:p="http://schemas.openxmlformats.org/presentationml/2006/main">
  <p:tag name="KSO_WM_DIAGRAM_VIRTUALLY_FRAME" val="{&quot;height&quot;:227.41313559322035,&quot;left&quot;:22.55,&quot;top&quot;:210.58686440677965,&quot;width&quot;:641}"/>
</p:tagLst>
</file>

<file path=ppt/tags/tag20.xml><?xml version="1.0" encoding="utf-8"?>
<p:tagLst xmlns:p="http://schemas.openxmlformats.org/presentationml/2006/main">
  <p:tag name="KSO_WM_DIAGRAM_VIRTUALLY_FRAME" val="{&quot;height&quot;:227.41313559322035,&quot;left&quot;:22.55,&quot;top&quot;:210.58686440677965,&quot;width&quot;:641}"/>
</p:tagLst>
</file>

<file path=ppt/tags/tag21.xml><?xml version="1.0" encoding="utf-8"?>
<p:tagLst xmlns:p="http://schemas.openxmlformats.org/presentationml/2006/main">
  <p:tag name="KSO_WM_DIAGRAM_VIRTUALLY_FRAME" val="{&quot;height&quot;:227.41313559322035,&quot;left&quot;:22.55,&quot;top&quot;:210.58686440677965,&quot;width&quot;:641}"/>
</p:tagLst>
</file>

<file path=ppt/tags/tag22.xml><?xml version="1.0" encoding="utf-8"?>
<p:tagLst xmlns:p="http://schemas.openxmlformats.org/presentationml/2006/main">
  <p:tag name="KSO_WM_DIAGRAM_VIRTUALLY_FRAME" val="{&quot;height&quot;:227.41313559322035,&quot;left&quot;:22.55,&quot;top&quot;:210.58686440677965,&quot;width&quot;:641}"/>
</p:tagLst>
</file>

<file path=ppt/tags/tag23.xml><?xml version="1.0" encoding="utf-8"?>
<p:tagLst xmlns:p="http://schemas.openxmlformats.org/presentationml/2006/main">
  <p:tag name="KSO_WM_DIAGRAM_VIRTUALLY_FRAME" val="{&quot;height&quot;:227.41313559322035,&quot;left&quot;:22.55,&quot;top&quot;:210.58686440677965,&quot;width&quot;:641}"/>
</p:tagLst>
</file>

<file path=ppt/tags/tag24.xml><?xml version="1.0" encoding="utf-8"?>
<p:tagLst xmlns:p="http://schemas.openxmlformats.org/presentationml/2006/main">
  <p:tag name="KSO_WM_DIAGRAM_VIRTUALLY_FRAME" val="{&quot;height&quot;:227.41313559322035,&quot;left&quot;:22.55,&quot;top&quot;:210.58686440677965,&quot;width&quot;:641}"/>
</p:tagLst>
</file>

<file path=ppt/tags/tag25.xml><?xml version="1.0" encoding="utf-8"?>
<p:tagLst xmlns:p="http://schemas.openxmlformats.org/presentationml/2006/main">
  <p:tag name="KSO_WM_DIAGRAM_VIRTUALLY_FRAME" val="{&quot;height&quot;:227.41313559322035,&quot;left&quot;:22.55,&quot;top&quot;:210.58686440677965,&quot;width&quot;:641}"/>
</p:tagLst>
</file>

<file path=ppt/tags/tag26.xml><?xml version="1.0" encoding="utf-8"?>
<p:tagLst xmlns:p="http://schemas.openxmlformats.org/presentationml/2006/main">
  <p:tag name="KSO_WM_DIAGRAM_VIRTUALLY_FRAME" val="{&quot;height&quot;:227.41313559322035,&quot;left&quot;:22.55,&quot;top&quot;:210.58686440677965,&quot;width&quot;:641}"/>
</p:tagLst>
</file>

<file path=ppt/tags/tag27.xml><?xml version="1.0" encoding="utf-8"?>
<p:tagLst xmlns:p="http://schemas.openxmlformats.org/presentationml/2006/main">
  <p:tag name="KSO_WM_DIAGRAM_VIRTUALLY_FRAME" val="{&quot;height&quot;:227.41313559322035,&quot;left&quot;:22.55,&quot;top&quot;:210.58686440677965,&quot;width&quot;:641}"/>
</p:tagLst>
</file>

<file path=ppt/tags/tag28.xml><?xml version="1.0" encoding="utf-8"?>
<p:tagLst xmlns:p="http://schemas.openxmlformats.org/presentationml/2006/main">
  <p:tag name="KSO_WM_DIAGRAM_VIRTUALLY_FRAME" val="{&quot;height&quot;:227.41313559322035,&quot;left&quot;:22.55,&quot;top&quot;:210.58686440677965,&quot;width&quot;:641}"/>
</p:tagLst>
</file>

<file path=ppt/tags/tag29.xml><?xml version="1.0" encoding="utf-8"?>
<p:tagLst xmlns:p="http://schemas.openxmlformats.org/presentationml/2006/main">
  <p:tag name="KSO_WM_DIAGRAM_VIRTUALLY_FRAME" val="{&quot;height&quot;:227.41313559322035,&quot;left&quot;:22.55,&quot;top&quot;:210.58686440677965,&quot;width&quot;:641}"/>
</p:tagLst>
</file>

<file path=ppt/theme/theme1.xml><?xml version="1.0" encoding="utf-8"?>
<a:theme xmlns:a="http://schemas.openxmlformats.org/drawingml/2006/main" name="Office 主题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E0C6E"/>
      </a:accent1>
      <a:accent2>
        <a:srgbClr val="983D8B"/>
      </a:accent2>
      <a:accent3>
        <a:srgbClr val="B26DA8"/>
      </a:accent3>
      <a:accent4>
        <a:srgbClr val="CB9EC5"/>
      </a:accent4>
      <a:accent5>
        <a:srgbClr val="7E0C6E"/>
      </a:accent5>
      <a:accent6>
        <a:srgbClr val="983D8B"/>
      </a:accent6>
      <a:hlink>
        <a:srgbClr val="B26DA8"/>
      </a:hlink>
      <a:folHlink>
        <a:srgbClr val="CB9EC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3992</Words>
  <Application>WPS 演示</Application>
  <PresentationFormat>宽屏</PresentationFormat>
  <Paragraphs>326</Paragraphs>
  <Slides>19</Slides>
  <Notes>48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40" baseType="lpstr">
      <vt:lpstr>Arial</vt:lpstr>
      <vt:lpstr>宋体</vt:lpstr>
      <vt:lpstr>Wingdings</vt:lpstr>
      <vt:lpstr>方正姚体</vt:lpstr>
      <vt:lpstr>微软雅黑</vt:lpstr>
      <vt:lpstr>OPPOSans B</vt:lpstr>
      <vt:lpstr>MiSans</vt:lpstr>
      <vt:lpstr>MiSans</vt:lpstr>
      <vt:lpstr>微软雅黑</vt:lpstr>
      <vt:lpstr>Cambria Math</vt:lpstr>
      <vt:lpstr>Noto Sans SC</vt:lpstr>
      <vt:lpstr>等线</vt:lpstr>
      <vt:lpstr>Times New Roman</vt:lpstr>
      <vt:lpstr>Helvetica</vt:lpstr>
      <vt:lpstr>Calibri</vt:lpstr>
      <vt:lpstr>Arial Unicode MS</vt:lpstr>
      <vt:lpstr>MingLiU-ExtB</vt:lpstr>
      <vt:lpstr>MiSans</vt:lpstr>
      <vt:lpstr>OPPOSans B</vt:lpstr>
      <vt:lpstr>Segoe Print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邓邓邓邓</cp:lastModifiedBy>
  <cp:revision>16</cp:revision>
  <dcterms:created xsi:type="dcterms:W3CDTF">2025-02-15T09:33:00Z</dcterms:created>
  <dcterms:modified xsi:type="dcterms:W3CDTF">2026-03-29T08:59:40Z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C84335BEE6724184ADCD389D13407674_12</vt:lpwstr>
  </property>
</Properties>
</file>