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sldIdLst>
    <p:sldId id="309" r:id="rId3"/>
    <p:sldId id="310" r:id="rId5"/>
    <p:sldId id="311" r:id="rId6"/>
    <p:sldId id="312" r:id="rId7"/>
    <p:sldId id="256" r:id="rId8"/>
    <p:sldId id="26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330" r:id="rId25"/>
    <p:sldId id="331" r:id="rId26"/>
    <p:sldId id="332" r:id="rId27"/>
    <p:sldId id="333" r:id="rId28"/>
    <p:sldId id="299" r:id="rId29"/>
    <p:sldId id="300" r:id="rId30"/>
    <p:sldId id="301" r:id="rId31"/>
    <p:sldId id="303" r:id="rId32"/>
    <p:sldId id="305" r:id="rId33"/>
    <p:sldId id="306" r:id="rId34"/>
    <p:sldId id="307" r:id="rId35"/>
    <p:sldId id="302" r:id="rId36"/>
    <p:sldId id="308" r:id="rId37"/>
    <p:sldId id="313" r:id="rId38"/>
    <p:sldId id="314" r:id="rId39"/>
    <p:sldId id="316" r:id="rId40"/>
    <p:sldId id="323" r:id="rId41"/>
    <p:sldId id="324" r:id="rId42"/>
    <p:sldId id="317" r:id="rId43"/>
    <p:sldId id="318" r:id="rId44"/>
    <p:sldId id="325" r:id="rId45"/>
    <p:sldId id="326" r:id="rId46"/>
    <p:sldId id="327" r:id="rId47"/>
    <p:sldId id="328" r:id="rId48"/>
    <p:sldId id="329" r:id="rId49"/>
    <p:sldId id="319" r:id="rId50"/>
    <p:sldId id="320" r:id="rId51"/>
    <p:sldId id="321" r:id="rId52"/>
    <p:sldId id="322"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2" pos="7265"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F6243"/>
    <a:srgbClr val="963A89"/>
    <a:srgbClr val="BA75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08" autoAdjust="0"/>
    <p:restoredTop sz="87267" autoAdjust="0"/>
  </p:normalViewPr>
  <p:slideViewPr>
    <p:cSldViewPr snapToGrid="0" showGuides="1">
      <p:cViewPr varScale="1">
        <p:scale>
          <a:sx n="99" d="100"/>
          <a:sy n="99" d="100"/>
        </p:scale>
        <p:origin x="462" y="468"/>
      </p:cViewPr>
      <p:guideLst>
        <p:guide pos="415"/>
        <p:guide pos="7265"/>
        <p:guide orient="horz" pos="648"/>
        <p:guide orient="horz" pos="712"/>
        <p:guide orient="horz" pos="3928"/>
        <p:guide orient="horz" pos="3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commentAuthors" Target="commentAuthors.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8D346C-DBD4-4BA1-8637-CDB6350037E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574009-AEDF-4DF7-A8D4-9E989DC056F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en-US"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zh-CN" altLang="en-US"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177800" algn="just"/>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dirty="0"/>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177800" algn="just" defTabSz="914400" rtl="0" eaLnBrk="1" fontAlgn="auto" latinLnBrk="0" hangingPunct="1">
              <a:lnSpc>
                <a:spcPct val="100000"/>
              </a:lnSpc>
              <a:spcBef>
                <a:spcPts val="0"/>
              </a:spcBef>
              <a:spcAft>
                <a:spcPts val="0"/>
              </a:spcAft>
              <a:buClrTx/>
              <a:buSzTx/>
              <a:buFontTx/>
              <a:buNone/>
              <a:defRPr/>
            </a:pPr>
            <a:endParaRPr lang="zh-CN" altLang="zh-CN" sz="1800" kern="100" dirty="0">
              <a:effectLst/>
              <a:latin typeface="等线" panose="02010600030101010101" charset="-122"/>
              <a:ea typeface="等线" panose="02010600030101010101"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FC574009-AEDF-4DF7-A8D4-9E989DC056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image" Target="../media/image6.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7.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4AFB303E-9509-43EB-82BC-E8081B9B319F}" type="datetime2">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dirty="0"/>
          </a:p>
        </p:txBody>
      </p:sp>
      <p:pic>
        <p:nvPicPr>
          <p:cNvPr id="24" name="图片 23"/>
          <p:cNvPicPr>
            <a:picLocks noChangeAspect="1"/>
          </p:cNvPicPr>
          <p:nvPr userDrawn="1"/>
        </p:nvPicPr>
        <p:blipFill>
          <a:blip r:embed="rId2"/>
          <a:srcRect/>
          <a:stretch>
            <a:fillRect/>
          </a:stretch>
        </p:blipFill>
        <p:spPr>
          <a:xfrm>
            <a:off x="-2644281" y="-127000"/>
            <a:ext cx="6863362" cy="6858000"/>
          </a:xfrm>
          <a:custGeom>
            <a:avLst/>
            <a:gdLst>
              <a:gd name="connsiteX0" fmla="*/ 0 w 6863362"/>
              <a:gd name="connsiteY0" fmla="*/ 0 h 6858000"/>
              <a:gd name="connsiteX1" fmla="*/ 6863362 w 6863362"/>
              <a:gd name="connsiteY1" fmla="*/ 0 h 6858000"/>
              <a:gd name="connsiteX2" fmla="*/ 6863362 w 6863362"/>
              <a:gd name="connsiteY2" fmla="*/ 6858000 h 6858000"/>
              <a:gd name="connsiteX3" fmla="*/ 2644281 w 6863362"/>
              <a:gd name="connsiteY3" fmla="*/ 6858000 h 6858000"/>
              <a:gd name="connsiteX4" fmla="*/ 2644281 w 6863362"/>
              <a:gd name="connsiteY4" fmla="*/ 127000 h 6858000"/>
              <a:gd name="connsiteX5" fmla="*/ 0 w 6863362"/>
              <a:gd name="connsiteY5" fmla="*/ 127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3362" h="6858000">
                <a:moveTo>
                  <a:pt x="0" y="0"/>
                </a:moveTo>
                <a:lnTo>
                  <a:pt x="6863362" y="0"/>
                </a:lnTo>
                <a:lnTo>
                  <a:pt x="6863362" y="6858000"/>
                </a:lnTo>
                <a:lnTo>
                  <a:pt x="2644281" y="6858000"/>
                </a:lnTo>
                <a:lnTo>
                  <a:pt x="2644281" y="127000"/>
                </a:lnTo>
                <a:lnTo>
                  <a:pt x="0" y="127000"/>
                </a:lnTo>
                <a:close/>
              </a:path>
            </a:pathLst>
          </a:custGeom>
        </p:spPr>
      </p:pic>
      <p:sp>
        <p:nvSpPr>
          <p:cNvPr id="22" name="任意多边形: 形状 21"/>
          <p:cNvSpPr/>
          <p:nvPr userDrawn="1"/>
        </p:nvSpPr>
        <p:spPr>
          <a:xfrm>
            <a:off x="0" y="0"/>
            <a:ext cx="4203700" cy="6858000"/>
          </a:xfrm>
          <a:custGeom>
            <a:avLst/>
            <a:gdLst>
              <a:gd name="connsiteX0" fmla="*/ 0 w 4255840"/>
              <a:gd name="connsiteY0" fmla="*/ 0 h 6858000"/>
              <a:gd name="connsiteX1" fmla="*/ 4255840 w 4255840"/>
              <a:gd name="connsiteY1" fmla="*/ 0 h 6858000"/>
              <a:gd name="connsiteX2" fmla="*/ 4255840 w 4255840"/>
              <a:gd name="connsiteY2" fmla="*/ 6858000 h 6858000"/>
              <a:gd name="connsiteX3" fmla="*/ 0 w 42558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55840" h="6858000">
                <a:moveTo>
                  <a:pt x="0" y="0"/>
                </a:moveTo>
                <a:lnTo>
                  <a:pt x="4255840" y="0"/>
                </a:lnTo>
                <a:lnTo>
                  <a:pt x="4255840" y="6858000"/>
                </a:lnTo>
                <a:lnTo>
                  <a:pt x="0" y="6858000"/>
                </a:lnTo>
                <a:close/>
              </a:path>
            </a:pathLst>
          </a:custGeom>
          <a:solidFill>
            <a:schemeClr val="bg1">
              <a:alpha val="7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4" name="图片 13"/>
          <p:cNvPicPr>
            <a:picLocks noChangeAspect="1"/>
          </p:cNvPicPr>
          <p:nvPr userDrawn="1"/>
        </p:nvPicPr>
        <p:blipFill>
          <a:blip r:embed="rId3"/>
          <a:srcRect l="16120" r="9557"/>
          <a:stretch>
            <a:fillRect/>
          </a:stretch>
        </p:blipFill>
        <p:spPr>
          <a:xfrm>
            <a:off x="0" y="2051499"/>
            <a:ext cx="12192000" cy="4304851"/>
          </a:xfrm>
          <a:custGeom>
            <a:avLst/>
            <a:gdLst>
              <a:gd name="connsiteX0" fmla="*/ 0 w 12192000"/>
              <a:gd name="connsiteY0" fmla="*/ 0 h 4304851"/>
              <a:gd name="connsiteX1" fmla="*/ 12192000 w 12192000"/>
              <a:gd name="connsiteY1" fmla="*/ 0 h 4304851"/>
              <a:gd name="connsiteX2" fmla="*/ 12192000 w 12192000"/>
              <a:gd name="connsiteY2" fmla="*/ 4304851 h 4304851"/>
              <a:gd name="connsiteX3" fmla="*/ 0 w 12192000"/>
              <a:gd name="connsiteY3" fmla="*/ 4304851 h 4304851"/>
            </a:gdLst>
            <a:ahLst/>
            <a:cxnLst>
              <a:cxn ang="0">
                <a:pos x="connsiteX0" y="connsiteY0"/>
              </a:cxn>
              <a:cxn ang="0">
                <a:pos x="connsiteX1" y="connsiteY1"/>
              </a:cxn>
              <a:cxn ang="0">
                <a:pos x="connsiteX2" y="connsiteY2"/>
              </a:cxn>
              <a:cxn ang="0">
                <a:pos x="connsiteX3" y="connsiteY3"/>
              </a:cxn>
            </a:cxnLst>
            <a:rect l="l" t="t" r="r" b="b"/>
            <a:pathLst>
              <a:path w="12192000" h="4304851">
                <a:moveTo>
                  <a:pt x="0" y="0"/>
                </a:moveTo>
                <a:lnTo>
                  <a:pt x="12192000" y="0"/>
                </a:lnTo>
                <a:lnTo>
                  <a:pt x="12192000" y="4304851"/>
                </a:lnTo>
                <a:lnTo>
                  <a:pt x="0" y="4304851"/>
                </a:lnTo>
                <a:close/>
              </a:path>
            </a:pathLst>
          </a:cu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pic>
        <p:nvPicPr>
          <p:cNvPr id="16" name="图片 15"/>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4" name="椭圆 13"/>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C50B164-2FFE-4AE3-99C1-50E603FC7A8B}" type="datetime2">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10" name="任意多边形: 形状 9"/>
          <p:cNvSpPr/>
          <p:nvPr userDrawn="1"/>
        </p:nvSpPr>
        <p:spPr>
          <a:xfrm>
            <a:off x="0" y="1949450"/>
            <a:ext cx="12192000" cy="2959100"/>
          </a:xfrm>
          <a:custGeom>
            <a:avLst/>
            <a:gdLst>
              <a:gd name="connsiteX0" fmla="*/ 11512367 w 12192000"/>
              <a:gd name="connsiteY0" fmla="*/ 0 h 2959100"/>
              <a:gd name="connsiteX1" fmla="*/ 12192000 w 12192000"/>
              <a:gd name="connsiteY1" fmla="*/ 0 h 2959100"/>
              <a:gd name="connsiteX2" fmla="*/ 12192000 w 12192000"/>
              <a:gd name="connsiteY2" fmla="*/ 2959100 h 2959100"/>
              <a:gd name="connsiteX3" fmla="*/ 10694916 w 12192000"/>
              <a:gd name="connsiteY3" fmla="*/ 2959100 h 2959100"/>
              <a:gd name="connsiteX4" fmla="*/ 0 w 12192000"/>
              <a:gd name="connsiteY4" fmla="*/ 0 h 2959100"/>
              <a:gd name="connsiteX5" fmla="*/ 4632159 w 12192000"/>
              <a:gd name="connsiteY5" fmla="*/ 0 h 2959100"/>
              <a:gd name="connsiteX6" fmla="*/ 3814707 w 12192000"/>
              <a:gd name="connsiteY6" fmla="*/ 2959100 h 2959100"/>
              <a:gd name="connsiteX7" fmla="*/ 0 w 12192000"/>
              <a:gd name="connsiteY7" fmla="*/ 2959100 h 295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959100">
                <a:moveTo>
                  <a:pt x="11512367" y="0"/>
                </a:moveTo>
                <a:lnTo>
                  <a:pt x="12192000" y="0"/>
                </a:lnTo>
                <a:lnTo>
                  <a:pt x="12192000" y="2959100"/>
                </a:lnTo>
                <a:lnTo>
                  <a:pt x="10694916" y="2959100"/>
                </a:lnTo>
                <a:close/>
                <a:moveTo>
                  <a:pt x="0" y="0"/>
                </a:moveTo>
                <a:lnTo>
                  <a:pt x="4632159" y="0"/>
                </a:lnTo>
                <a:lnTo>
                  <a:pt x="3814707" y="2959100"/>
                </a:lnTo>
                <a:lnTo>
                  <a:pt x="0" y="2959100"/>
                </a:lnTo>
                <a:close/>
              </a:path>
            </a:pathLst>
          </a:custGeom>
          <a:solidFill>
            <a:schemeClr val="accent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userDrawn="1"/>
        </p:nvPicPr>
        <p:blipFill>
          <a:blip r:embed="rId2" cstate="print">
            <a:lum bright="70000" contrast="-70000"/>
            <a:extLst>
              <a:ext uri="{28A0092B-C50C-407E-A947-70E740481C1C}">
                <a14:useLocalDpi xmlns:a14="http://schemas.microsoft.com/office/drawing/2010/main" val="0"/>
              </a:ext>
            </a:extLst>
          </a:blip>
          <a:stretch>
            <a:fillRect/>
          </a:stretch>
        </p:blipFill>
        <p:spPr>
          <a:xfrm>
            <a:off x="766778" y="2335819"/>
            <a:ext cx="2186361" cy="2186361"/>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右 15"/>
          <p:cNvSpPr/>
          <p:nvPr userDrawn="1"/>
        </p:nvSpPr>
        <p:spPr>
          <a:xfrm>
            <a:off x="0" y="2514600"/>
            <a:ext cx="12192000" cy="1905000"/>
          </a:xfrm>
          <a:prstGeom prst="rightArrow">
            <a:avLst/>
          </a:prstGeom>
          <a:gradFill>
            <a:gsLst>
              <a:gs pos="1000">
                <a:schemeClr val="bg1">
                  <a:alpha val="59000"/>
                </a:schemeClr>
              </a:gs>
              <a:gs pos="100000">
                <a:schemeClr val="accent1">
                  <a:alpha val="44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userDrawn="1"/>
        </p:nvGrpSpPr>
        <p:grpSpPr>
          <a:xfrm>
            <a:off x="1295400" y="1524000"/>
            <a:ext cx="2819400" cy="4114800"/>
            <a:chOff x="1282700" y="1536700"/>
            <a:chExt cx="3429000" cy="4305300"/>
          </a:xfrm>
        </p:grpSpPr>
        <p:sp>
          <p:nvSpPr>
            <p:cNvPr id="18" name="任意多边形: 形状 17"/>
            <p:cNvSpPr/>
            <p:nvPr/>
          </p:nvSpPr>
          <p:spPr>
            <a:xfrm>
              <a:off x="1282700" y="1536700"/>
              <a:ext cx="3429000" cy="4305300"/>
            </a:xfrm>
            <a:custGeom>
              <a:avLst/>
              <a:gdLst>
                <a:gd name="connsiteX0" fmla="*/ 0 w 3429000"/>
                <a:gd name="connsiteY0" fmla="*/ 0 h 4305300"/>
                <a:gd name="connsiteX1" fmla="*/ 3429000 w 3429000"/>
                <a:gd name="connsiteY1" fmla="*/ 0 h 4305300"/>
                <a:gd name="connsiteX2" fmla="*/ 3429000 w 3429000"/>
                <a:gd name="connsiteY2" fmla="*/ 3459230 h 4305300"/>
                <a:gd name="connsiteX3" fmla="*/ 2675820 w 3429000"/>
                <a:gd name="connsiteY3" fmla="*/ 4305300 h 4305300"/>
                <a:gd name="connsiteX4" fmla="*/ 0 w 3429000"/>
                <a:gd name="connsiteY4" fmla="*/ 4305300 h 4305300"/>
                <a:gd name="connsiteX5" fmla="*/ 0 w 3429000"/>
                <a:gd name="connsiteY5" fmla="*/ 0 h 430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9000" h="4305300">
                  <a:moveTo>
                    <a:pt x="0" y="0"/>
                  </a:moveTo>
                  <a:lnTo>
                    <a:pt x="3429000" y="0"/>
                  </a:lnTo>
                  <a:lnTo>
                    <a:pt x="3429000" y="3459230"/>
                  </a:lnTo>
                  <a:lnTo>
                    <a:pt x="2675820" y="4305300"/>
                  </a:lnTo>
                  <a:lnTo>
                    <a:pt x="0" y="4305300"/>
                  </a:lnTo>
                  <a:lnTo>
                    <a:pt x="0" y="0"/>
                  </a:lnTo>
                  <a:close/>
                </a:path>
              </a:pathLst>
            </a:custGeom>
            <a:solidFill>
              <a:srgbClr val="963A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nvSpPr>
          <p:spPr>
            <a:xfrm rot="10800000">
              <a:off x="3958520" y="4995930"/>
              <a:ext cx="753180" cy="846070"/>
            </a:xfrm>
            <a:custGeom>
              <a:avLst/>
              <a:gdLst>
                <a:gd name="connsiteX0" fmla="*/ 753180 w 753180"/>
                <a:gd name="connsiteY0" fmla="*/ 0 h 846070"/>
                <a:gd name="connsiteX1" fmla="*/ 753180 w 753180"/>
                <a:gd name="connsiteY1" fmla="*/ 846070 h 846070"/>
                <a:gd name="connsiteX2" fmla="*/ 0 w 753180"/>
                <a:gd name="connsiteY2" fmla="*/ 846070 h 846070"/>
                <a:gd name="connsiteX3" fmla="*/ 753180 w 753180"/>
                <a:gd name="connsiteY3" fmla="*/ 0 h 846070"/>
              </a:gdLst>
              <a:ahLst/>
              <a:cxnLst>
                <a:cxn ang="0">
                  <a:pos x="connsiteX0" y="connsiteY0"/>
                </a:cxn>
                <a:cxn ang="0">
                  <a:pos x="connsiteX1" y="connsiteY1"/>
                </a:cxn>
                <a:cxn ang="0">
                  <a:pos x="connsiteX2" y="connsiteY2"/>
                </a:cxn>
                <a:cxn ang="0">
                  <a:pos x="connsiteX3" y="connsiteY3"/>
                </a:cxn>
              </a:cxnLst>
              <a:rect l="l" t="t" r="r" b="b"/>
              <a:pathLst>
                <a:path w="753180" h="846070">
                  <a:moveTo>
                    <a:pt x="753180" y="0"/>
                  </a:moveTo>
                  <a:lnTo>
                    <a:pt x="753180" y="846070"/>
                  </a:lnTo>
                  <a:lnTo>
                    <a:pt x="0" y="846070"/>
                  </a:lnTo>
                  <a:lnTo>
                    <a:pt x="753180" y="0"/>
                  </a:lnTo>
                  <a:close/>
                </a:path>
              </a:pathLst>
            </a:custGeom>
            <a:gradFill>
              <a:gsLst>
                <a:gs pos="23000">
                  <a:schemeClr val="accent1">
                    <a:alpha val="90000"/>
                  </a:schemeClr>
                </a:gs>
                <a:gs pos="69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p:cNvGrpSpPr/>
          <p:nvPr userDrawn="1"/>
        </p:nvGrpSpPr>
        <p:grpSpPr>
          <a:xfrm>
            <a:off x="4699000" y="1524000"/>
            <a:ext cx="2819400" cy="4114800"/>
            <a:chOff x="1282700" y="1536700"/>
            <a:chExt cx="3429000" cy="4305300"/>
          </a:xfrm>
        </p:grpSpPr>
        <p:sp>
          <p:nvSpPr>
            <p:cNvPr id="21" name="任意多边形: 形状 20"/>
            <p:cNvSpPr/>
            <p:nvPr/>
          </p:nvSpPr>
          <p:spPr>
            <a:xfrm>
              <a:off x="1282700" y="1536700"/>
              <a:ext cx="3429000" cy="4305300"/>
            </a:xfrm>
            <a:custGeom>
              <a:avLst/>
              <a:gdLst>
                <a:gd name="connsiteX0" fmla="*/ 0 w 3429000"/>
                <a:gd name="connsiteY0" fmla="*/ 0 h 4305300"/>
                <a:gd name="connsiteX1" fmla="*/ 3429000 w 3429000"/>
                <a:gd name="connsiteY1" fmla="*/ 0 h 4305300"/>
                <a:gd name="connsiteX2" fmla="*/ 3429000 w 3429000"/>
                <a:gd name="connsiteY2" fmla="*/ 3459230 h 4305300"/>
                <a:gd name="connsiteX3" fmla="*/ 2675820 w 3429000"/>
                <a:gd name="connsiteY3" fmla="*/ 4305300 h 4305300"/>
                <a:gd name="connsiteX4" fmla="*/ 0 w 3429000"/>
                <a:gd name="connsiteY4" fmla="*/ 4305300 h 4305300"/>
                <a:gd name="connsiteX5" fmla="*/ 0 w 3429000"/>
                <a:gd name="connsiteY5" fmla="*/ 0 h 430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9000" h="4305300">
                  <a:moveTo>
                    <a:pt x="0" y="0"/>
                  </a:moveTo>
                  <a:lnTo>
                    <a:pt x="3429000" y="0"/>
                  </a:lnTo>
                  <a:lnTo>
                    <a:pt x="3429000" y="3459230"/>
                  </a:lnTo>
                  <a:lnTo>
                    <a:pt x="2675820" y="4305300"/>
                  </a:lnTo>
                  <a:lnTo>
                    <a:pt x="0" y="4305300"/>
                  </a:lnTo>
                  <a:lnTo>
                    <a:pt x="0" y="0"/>
                  </a:lnTo>
                  <a:close/>
                </a:path>
              </a:pathLst>
            </a:custGeom>
            <a:solidFill>
              <a:srgbClr val="963A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形状 21"/>
            <p:cNvSpPr/>
            <p:nvPr/>
          </p:nvSpPr>
          <p:spPr>
            <a:xfrm rot="10800000">
              <a:off x="3958520" y="4995930"/>
              <a:ext cx="753180" cy="846070"/>
            </a:xfrm>
            <a:custGeom>
              <a:avLst/>
              <a:gdLst>
                <a:gd name="connsiteX0" fmla="*/ 753180 w 753180"/>
                <a:gd name="connsiteY0" fmla="*/ 0 h 846070"/>
                <a:gd name="connsiteX1" fmla="*/ 753180 w 753180"/>
                <a:gd name="connsiteY1" fmla="*/ 846070 h 846070"/>
                <a:gd name="connsiteX2" fmla="*/ 0 w 753180"/>
                <a:gd name="connsiteY2" fmla="*/ 846070 h 846070"/>
                <a:gd name="connsiteX3" fmla="*/ 753180 w 753180"/>
                <a:gd name="connsiteY3" fmla="*/ 0 h 846070"/>
              </a:gdLst>
              <a:ahLst/>
              <a:cxnLst>
                <a:cxn ang="0">
                  <a:pos x="connsiteX0" y="connsiteY0"/>
                </a:cxn>
                <a:cxn ang="0">
                  <a:pos x="connsiteX1" y="connsiteY1"/>
                </a:cxn>
                <a:cxn ang="0">
                  <a:pos x="connsiteX2" y="connsiteY2"/>
                </a:cxn>
                <a:cxn ang="0">
                  <a:pos x="connsiteX3" y="connsiteY3"/>
                </a:cxn>
              </a:cxnLst>
              <a:rect l="l" t="t" r="r" b="b"/>
              <a:pathLst>
                <a:path w="753180" h="846070">
                  <a:moveTo>
                    <a:pt x="753180" y="0"/>
                  </a:moveTo>
                  <a:lnTo>
                    <a:pt x="753180" y="846070"/>
                  </a:lnTo>
                  <a:lnTo>
                    <a:pt x="0" y="846070"/>
                  </a:lnTo>
                  <a:lnTo>
                    <a:pt x="753180" y="0"/>
                  </a:lnTo>
                  <a:close/>
                </a:path>
              </a:pathLst>
            </a:custGeom>
            <a:gradFill>
              <a:gsLst>
                <a:gs pos="23000">
                  <a:schemeClr val="accent1">
                    <a:alpha val="90000"/>
                  </a:schemeClr>
                </a:gs>
                <a:gs pos="69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userDrawn="1"/>
        </p:nvGrpSpPr>
        <p:grpSpPr>
          <a:xfrm>
            <a:off x="8102600" y="1524000"/>
            <a:ext cx="2819400" cy="4114800"/>
            <a:chOff x="1282700" y="1536700"/>
            <a:chExt cx="3429000" cy="4305300"/>
          </a:xfrm>
        </p:grpSpPr>
        <p:sp>
          <p:nvSpPr>
            <p:cNvPr id="24" name="任意多边形: 形状 23"/>
            <p:cNvSpPr/>
            <p:nvPr/>
          </p:nvSpPr>
          <p:spPr>
            <a:xfrm>
              <a:off x="1282700" y="1536700"/>
              <a:ext cx="3429000" cy="4305300"/>
            </a:xfrm>
            <a:custGeom>
              <a:avLst/>
              <a:gdLst>
                <a:gd name="connsiteX0" fmla="*/ 0 w 3429000"/>
                <a:gd name="connsiteY0" fmla="*/ 0 h 4305300"/>
                <a:gd name="connsiteX1" fmla="*/ 3429000 w 3429000"/>
                <a:gd name="connsiteY1" fmla="*/ 0 h 4305300"/>
                <a:gd name="connsiteX2" fmla="*/ 3429000 w 3429000"/>
                <a:gd name="connsiteY2" fmla="*/ 3459230 h 4305300"/>
                <a:gd name="connsiteX3" fmla="*/ 2675820 w 3429000"/>
                <a:gd name="connsiteY3" fmla="*/ 4305300 h 4305300"/>
                <a:gd name="connsiteX4" fmla="*/ 0 w 3429000"/>
                <a:gd name="connsiteY4" fmla="*/ 4305300 h 4305300"/>
                <a:gd name="connsiteX5" fmla="*/ 0 w 3429000"/>
                <a:gd name="connsiteY5" fmla="*/ 0 h 430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9000" h="4305300">
                  <a:moveTo>
                    <a:pt x="0" y="0"/>
                  </a:moveTo>
                  <a:lnTo>
                    <a:pt x="3429000" y="0"/>
                  </a:lnTo>
                  <a:lnTo>
                    <a:pt x="3429000" y="3459230"/>
                  </a:lnTo>
                  <a:lnTo>
                    <a:pt x="2675820" y="4305300"/>
                  </a:lnTo>
                  <a:lnTo>
                    <a:pt x="0" y="4305300"/>
                  </a:lnTo>
                  <a:lnTo>
                    <a:pt x="0" y="0"/>
                  </a:lnTo>
                  <a:close/>
                </a:path>
              </a:pathLst>
            </a:custGeom>
            <a:solidFill>
              <a:srgbClr val="963A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任意多边形: 形状 24"/>
            <p:cNvSpPr/>
            <p:nvPr/>
          </p:nvSpPr>
          <p:spPr>
            <a:xfrm rot="10800000">
              <a:off x="3958520" y="4995930"/>
              <a:ext cx="753180" cy="846070"/>
            </a:xfrm>
            <a:custGeom>
              <a:avLst/>
              <a:gdLst>
                <a:gd name="connsiteX0" fmla="*/ 753180 w 753180"/>
                <a:gd name="connsiteY0" fmla="*/ 0 h 846070"/>
                <a:gd name="connsiteX1" fmla="*/ 753180 w 753180"/>
                <a:gd name="connsiteY1" fmla="*/ 846070 h 846070"/>
                <a:gd name="connsiteX2" fmla="*/ 0 w 753180"/>
                <a:gd name="connsiteY2" fmla="*/ 846070 h 846070"/>
                <a:gd name="connsiteX3" fmla="*/ 753180 w 753180"/>
                <a:gd name="connsiteY3" fmla="*/ 0 h 846070"/>
              </a:gdLst>
              <a:ahLst/>
              <a:cxnLst>
                <a:cxn ang="0">
                  <a:pos x="connsiteX0" y="connsiteY0"/>
                </a:cxn>
                <a:cxn ang="0">
                  <a:pos x="connsiteX1" y="connsiteY1"/>
                </a:cxn>
                <a:cxn ang="0">
                  <a:pos x="connsiteX2" y="connsiteY2"/>
                </a:cxn>
                <a:cxn ang="0">
                  <a:pos x="connsiteX3" y="connsiteY3"/>
                </a:cxn>
              </a:cxnLst>
              <a:rect l="l" t="t" r="r" b="b"/>
              <a:pathLst>
                <a:path w="753180" h="846070">
                  <a:moveTo>
                    <a:pt x="753180" y="0"/>
                  </a:moveTo>
                  <a:lnTo>
                    <a:pt x="753180" y="846070"/>
                  </a:lnTo>
                  <a:lnTo>
                    <a:pt x="0" y="846070"/>
                  </a:lnTo>
                  <a:lnTo>
                    <a:pt x="753180" y="0"/>
                  </a:lnTo>
                  <a:close/>
                </a:path>
              </a:pathLst>
            </a:custGeom>
            <a:gradFill>
              <a:gsLst>
                <a:gs pos="23000">
                  <a:schemeClr val="accent1">
                    <a:alpha val="90000"/>
                  </a:schemeClr>
                </a:gs>
                <a:gs pos="69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图片占位符 29"/>
          <p:cNvSpPr>
            <a:spLocks noGrp="1"/>
          </p:cNvSpPr>
          <p:nvPr>
            <p:ph type="pic" sz="quarter" idx="10"/>
          </p:nvPr>
        </p:nvSpPr>
        <p:spPr>
          <a:xfrm>
            <a:off x="1612900" y="2641600"/>
            <a:ext cx="2184400" cy="1924050"/>
          </a:xfrm>
        </p:spPr>
        <p:txBody>
          <a:bodyPr/>
          <a:lstStyle/>
          <a:p>
            <a:endParaRPr lang="zh-CN" altLang="en-US"/>
          </a:p>
        </p:txBody>
      </p:sp>
      <p:sp>
        <p:nvSpPr>
          <p:cNvPr id="31" name="图片占位符 29"/>
          <p:cNvSpPr>
            <a:spLocks noGrp="1"/>
          </p:cNvSpPr>
          <p:nvPr>
            <p:ph type="pic" sz="quarter" idx="11"/>
          </p:nvPr>
        </p:nvSpPr>
        <p:spPr>
          <a:xfrm>
            <a:off x="5043862" y="2666547"/>
            <a:ext cx="2184400" cy="1924050"/>
          </a:xfrm>
        </p:spPr>
        <p:txBody>
          <a:bodyPr/>
          <a:lstStyle/>
          <a:p>
            <a:endParaRPr lang="zh-CN" altLang="en-US"/>
          </a:p>
        </p:txBody>
      </p:sp>
      <p:sp>
        <p:nvSpPr>
          <p:cNvPr id="32" name="图片占位符 29"/>
          <p:cNvSpPr>
            <a:spLocks noGrp="1"/>
          </p:cNvSpPr>
          <p:nvPr>
            <p:ph type="pic" sz="quarter" idx="12"/>
          </p:nvPr>
        </p:nvSpPr>
        <p:spPr>
          <a:xfrm>
            <a:off x="8427959" y="2666547"/>
            <a:ext cx="2184400" cy="1924050"/>
          </a:xfrm>
        </p:spPr>
        <p:txBody>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sp>
        <p:nvSpPr>
          <p:cNvPr id="15" name="图片占位符 14"/>
          <p:cNvSpPr>
            <a:spLocks noGrp="1"/>
          </p:cNvSpPr>
          <p:nvPr>
            <p:ph type="pic" sz="quarter" idx="10"/>
          </p:nvPr>
        </p:nvSpPr>
        <p:spPr>
          <a:xfrm>
            <a:off x="1758492" y="1542215"/>
            <a:ext cx="3961348" cy="4373767"/>
          </a:xfrm>
          <a:custGeom>
            <a:avLst/>
            <a:gdLst>
              <a:gd name="connsiteX0" fmla="*/ 639544 w 3961348"/>
              <a:gd name="connsiteY0" fmla="*/ 130 h 4373767"/>
              <a:gd name="connsiteX1" fmla="*/ 975085 w 3961348"/>
              <a:gd name="connsiteY1" fmla="*/ 87187 h 4373767"/>
              <a:gd name="connsiteX2" fmla="*/ 3634977 w 3961348"/>
              <a:gd name="connsiteY2" fmla="*/ 1621488 h 4373767"/>
              <a:gd name="connsiteX3" fmla="*/ 3637187 w 3961348"/>
              <a:gd name="connsiteY3" fmla="*/ 2748680 h 4373767"/>
              <a:gd name="connsiteX4" fmla="*/ 988209 w 3961348"/>
              <a:gd name="connsiteY4" fmla="*/ 4285044 h 4373767"/>
              <a:gd name="connsiteX5" fmla="*/ 10915 w 3961348"/>
              <a:gd name="connsiteY5" fmla="*/ 3723385 h 4373767"/>
              <a:gd name="connsiteX6" fmla="*/ 1 w 3961348"/>
              <a:gd name="connsiteY6" fmla="*/ 652720 h 4373767"/>
              <a:gd name="connsiteX7" fmla="*/ 639544 w 3961348"/>
              <a:gd name="connsiteY7" fmla="*/ 130 h 437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61348" h="4373767">
                <a:moveTo>
                  <a:pt x="639544" y="130"/>
                </a:moveTo>
                <a:cubicBezTo>
                  <a:pt x="751351" y="-2124"/>
                  <a:pt x="866584" y="24931"/>
                  <a:pt x="975085" y="87187"/>
                </a:cubicBezTo>
                <a:cubicBezTo>
                  <a:pt x="975085" y="87187"/>
                  <a:pt x="975085" y="87187"/>
                  <a:pt x="3634977" y="1621488"/>
                </a:cubicBezTo>
                <a:cubicBezTo>
                  <a:pt x="4068980" y="1870511"/>
                  <a:pt x="4070558" y="2497332"/>
                  <a:pt x="3637187" y="2748680"/>
                </a:cubicBezTo>
                <a:cubicBezTo>
                  <a:pt x="3637187" y="2748680"/>
                  <a:pt x="3637187" y="2748680"/>
                  <a:pt x="988209" y="4285044"/>
                </a:cubicBezTo>
                <a:cubicBezTo>
                  <a:pt x="554839" y="4536392"/>
                  <a:pt x="11547" y="4223756"/>
                  <a:pt x="10915" y="3723385"/>
                </a:cubicBezTo>
                <a:cubicBezTo>
                  <a:pt x="10915" y="3723385"/>
                  <a:pt x="10915" y="3723385"/>
                  <a:pt x="1" y="652720"/>
                </a:cubicBezTo>
                <a:cubicBezTo>
                  <a:pt x="-473" y="277442"/>
                  <a:pt x="304122" y="6893"/>
                  <a:pt x="639544" y="130"/>
                </a:cubicBezTo>
                <a:close/>
              </a:path>
            </a:pathLst>
          </a:custGeom>
        </p:spPr>
        <p:txBody>
          <a:bodyPr wrap="square">
            <a:noAutofit/>
          </a:bodyPr>
          <a:lstStyle/>
          <a:p>
            <a:endParaRPr lang="zh-CN" altLang="en-US" dirty="0"/>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pic>
        <p:nvPicPr>
          <p:cNvPr id="14" name="图片 13"/>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sp>
        <p:nvSpPr>
          <p:cNvPr id="12" name="图片占位符 11"/>
          <p:cNvSpPr>
            <a:spLocks noGrp="1"/>
          </p:cNvSpPr>
          <p:nvPr>
            <p:ph type="pic" sz="quarter" idx="10"/>
          </p:nvPr>
        </p:nvSpPr>
        <p:spPr>
          <a:xfrm>
            <a:off x="660400" y="1495641"/>
            <a:ext cx="3771900" cy="4343400"/>
          </a:xfrm>
          <a:custGeom>
            <a:avLst/>
            <a:gdLst>
              <a:gd name="connsiteX0" fmla="*/ 942975 w 3771900"/>
              <a:gd name="connsiteY0" fmla="*/ 0 h 4343400"/>
              <a:gd name="connsiteX1" fmla="*/ 3771900 w 3771900"/>
              <a:gd name="connsiteY1" fmla="*/ 0 h 4343400"/>
              <a:gd name="connsiteX2" fmla="*/ 2828925 w 3771900"/>
              <a:gd name="connsiteY2" fmla="*/ 4343400 h 4343400"/>
              <a:gd name="connsiteX3" fmla="*/ 0 w 3771900"/>
              <a:gd name="connsiteY3" fmla="*/ 4343400 h 4343400"/>
            </a:gdLst>
            <a:ahLst/>
            <a:cxnLst>
              <a:cxn ang="0">
                <a:pos x="connsiteX0" y="connsiteY0"/>
              </a:cxn>
              <a:cxn ang="0">
                <a:pos x="connsiteX1" y="connsiteY1"/>
              </a:cxn>
              <a:cxn ang="0">
                <a:pos x="connsiteX2" y="connsiteY2"/>
              </a:cxn>
              <a:cxn ang="0">
                <a:pos x="connsiteX3" y="connsiteY3"/>
              </a:cxn>
            </a:cxnLst>
            <a:rect l="l" t="t" r="r" b="b"/>
            <a:pathLst>
              <a:path w="3771900" h="4343400">
                <a:moveTo>
                  <a:pt x="942975" y="0"/>
                </a:moveTo>
                <a:lnTo>
                  <a:pt x="3771900" y="0"/>
                </a:lnTo>
                <a:lnTo>
                  <a:pt x="2828925" y="4343400"/>
                </a:lnTo>
                <a:lnTo>
                  <a:pt x="0" y="4343400"/>
                </a:lnTo>
                <a:close/>
              </a:path>
            </a:pathLst>
          </a:custGeom>
        </p:spPr>
        <p:txBody>
          <a:bodyPr wrap="square">
            <a:noAutofit/>
          </a:bodyPr>
          <a:lstStyle/>
          <a:p>
            <a:endParaRPr lang="zh-CN" altLang="en-US"/>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图片占位符 12"/>
          <p:cNvSpPr>
            <a:spLocks noGrp="1"/>
          </p:cNvSpPr>
          <p:nvPr>
            <p:ph type="pic" sz="quarter" idx="11"/>
          </p:nvPr>
        </p:nvSpPr>
        <p:spPr>
          <a:xfrm>
            <a:off x="6426200" y="1495641"/>
            <a:ext cx="3771900" cy="4343400"/>
          </a:xfrm>
          <a:custGeom>
            <a:avLst/>
            <a:gdLst>
              <a:gd name="connsiteX0" fmla="*/ 942975 w 3771900"/>
              <a:gd name="connsiteY0" fmla="*/ 0 h 4343400"/>
              <a:gd name="connsiteX1" fmla="*/ 3771900 w 3771900"/>
              <a:gd name="connsiteY1" fmla="*/ 0 h 4343400"/>
              <a:gd name="connsiteX2" fmla="*/ 2828925 w 3771900"/>
              <a:gd name="connsiteY2" fmla="*/ 4343400 h 4343400"/>
              <a:gd name="connsiteX3" fmla="*/ 0 w 3771900"/>
              <a:gd name="connsiteY3" fmla="*/ 4343400 h 4343400"/>
            </a:gdLst>
            <a:ahLst/>
            <a:cxnLst>
              <a:cxn ang="0">
                <a:pos x="connsiteX0" y="connsiteY0"/>
              </a:cxn>
              <a:cxn ang="0">
                <a:pos x="connsiteX1" y="connsiteY1"/>
              </a:cxn>
              <a:cxn ang="0">
                <a:pos x="connsiteX2" y="connsiteY2"/>
              </a:cxn>
              <a:cxn ang="0">
                <a:pos x="connsiteX3" y="connsiteY3"/>
              </a:cxn>
            </a:cxnLst>
            <a:rect l="l" t="t" r="r" b="b"/>
            <a:pathLst>
              <a:path w="3771900" h="4343400">
                <a:moveTo>
                  <a:pt x="942975" y="0"/>
                </a:moveTo>
                <a:lnTo>
                  <a:pt x="3771900" y="0"/>
                </a:lnTo>
                <a:lnTo>
                  <a:pt x="2828925" y="4343400"/>
                </a:lnTo>
                <a:lnTo>
                  <a:pt x="0" y="4343400"/>
                </a:lnTo>
                <a:close/>
              </a:path>
            </a:pathLst>
          </a:custGeom>
        </p:spPr>
        <p:txBody>
          <a:bodyPr wrap="square">
            <a:noAutofit/>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图片占位符 2"/>
          <p:cNvSpPr>
            <a:spLocks noGrp="1"/>
          </p:cNvSpPr>
          <p:nvPr>
            <p:ph type="pic" sz="quarter" idx="10"/>
          </p:nvPr>
        </p:nvSpPr>
        <p:spPr>
          <a:xfrm>
            <a:off x="1403040" y="1445435"/>
            <a:ext cx="2163775" cy="2396907"/>
          </a:xfrm>
          <a:ln w="38100">
            <a:solidFill>
              <a:srgbClr val="963A89"/>
            </a:solidFill>
          </a:ln>
        </p:spPr>
        <p:txBody>
          <a:bodyPr/>
          <a:lstStyle/>
          <a:p>
            <a:endParaRPr lang="zh-CN" altLang="en-US" dirty="0"/>
          </a:p>
        </p:txBody>
      </p:sp>
      <p:sp>
        <p:nvSpPr>
          <p:cNvPr id="36" name="图片占位符 2"/>
          <p:cNvSpPr>
            <a:spLocks noGrp="1"/>
          </p:cNvSpPr>
          <p:nvPr>
            <p:ph type="pic" sz="quarter" idx="12"/>
          </p:nvPr>
        </p:nvSpPr>
        <p:spPr>
          <a:xfrm>
            <a:off x="3854186" y="1445435"/>
            <a:ext cx="2163775" cy="2396907"/>
          </a:xfrm>
          <a:ln w="38100" cap="flat" cmpd="sng" algn="ctr">
            <a:solidFill>
              <a:srgbClr val="963A89"/>
            </a:solidFill>
            <a:prstDash val="solid"/>
            <a:round/>
            <a:headEnd type="none" w="med" len="med"/>
            <a:tailEnd type="none" w="med" len="med"/>
          </a:ln>
          <a:effectLst/>
        </p:spPr>
        <p:txBody>
          <a:bodyPr/>
          <a:lstStyle/>
          <a:p>
            <a:endParaRPr lang="zh-CN" altLang="en-US" dirty="0"/>
          </a:p>
        </p:txBody>
      </p:sp>
      <p:sp>
        <p:nvSpPr>
          <p:cNvPr id="37" name="图片占位符 2"/>
          <p:cNvSpPr>
            <a:spLocks noGrp="1"/>
          </p:cNvSpPr>
          <p:nvPr>
            <p:ph type="pic" sz="quarter" idx="13"/>
          </p:nvPr>
        </p:nvSpPr>
        <p:spPr>
          <a:xfrm>
            <a:off x="6305333" y="1445435"/>
            <a:ext cx="2163775" cy="2396907"/>
          </a:xfrm>
          <a:ln w="38100" cap="flat" cmpd="sng" algn="ctr">
            <a:solidFill>
              <a:srgbClr val="963A89"/>
            </a:solidFill>
            <a:prstDash val="solid"/>
            <a:round/>
            <a:headEnd type="none" w="med" len="med"/>
            <a:tailEnd type="none" w="med" len="med"/>
          </a:ln>
          <a:effectLst/>
        </p:spPr>
        <p:txBody>
          <a:bodyPr/>
          <a:lstStyle/>
          <a:p>
            <a:endParaRPr lang="zh-CN" altLang="en-US" dirty="0"/>
          </a:p>
        </p:txBody>
      </p:sp>
      <p:sp>
        <p:nvSpPr>
          <p:cNvPr id="35" name="图片占位符 2"/>
          <p:cNvSpPr>
            <a:spLocks noGrp="1"/>
          </p:cNvSpPr>
          <p:nvPr>
            <p:ph type="pic" sz="quarter" idx="11"/>
          </p:nvPr>
        </p:nvSpPr>
        <p:spPr>
          <a:xfrm>
            <a:off x="8756479" y="1445435"/>
            <a:ext cx="2163775" cy="2396907"/>
          </a:xfrm>
          <a:ln w="38100">
            <a:solidFill>
              <a:srgbClr val="963A89"/>
            </a:solidFill>
          </a:ln>
        </p:spPr>
        <p:txBody>
          <a:bodyPr/>
          <a:lstStyle/>
          <a:p>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pic>
        <p:nvPicPr>
          <p:cNvPr id="12" name="图片 11"/>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sp>
        <p:nvSpPr>
          <p:cNvPr id="14" name="Freeform 17"/>
          <p:cNvSpPr/>
          <p:nvPr userDrawn="1"/>
        </p:nvSpPr>
        <p:spPr bwMode="auto">
          <a:xfrm>
            <a:off x="946150" y="1315711"/>
            <a:ext cx="4819650" cy="4703259"/>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图片占位符 12"/>
          <p:cNvSpPr>
            <a:spLocks noGrp="1"/>
          </p:cNvSpPr>
          <p:nvPr>
            <p:ph type="pic" sz="quarter" idx="10"/>
          </p:nvPr>
        </p:nvSpPr>
        <p:spPr>
          <a:xfrm>
            <a:off x="1413230" y="1519576"/>
            <a:ext cx="4352570" cy="4295531"/>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24" name="Freeform 17"/>
          <p:cNvSpPr/>
          <p:nvPr userDrawn="1"/>
        </p:nvSpPr>
        <p:spPr bwMode="auto">
          <a:xfrm>
            <a:off x="3216200" y="1717642"/>
            <a:ext cx="2644168" cy="2580313"/>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5" name="Freeform 17"/>
          <p:cNvSpPr/>
          <p:nvPr userDrawn="1"/>
        </p:nvSpPr>
        <p:spPr bwMode="auto">
          <a:xfrm>
            <a:off x="6378832" y="1717642"/>
            <a:ext cx="2644168" cy="2580313"/>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26" name="Freeform 17"/>
          <p:cNvSpPr/>
          <p:nvPr userDrawn="1"/>
        </p:nvSpPr>
        <p:spPr bwMode="auto">
          <a:xfrm>
            <a:off x="9541465" y="1717642"/>
            <a:ext cx="2644168" cy="2580313"/>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20" name="图片 19"/>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sp>
        <p:nvSpPr>
          <p:cNvPr id="14" name="Freeform 17"/>
          <p:cNvSpPr/>
          <p:nvPr userDrawn="1"/>
        </p:nvSpPr>
        <p:spPr bwMode="auto">
          <a:xfrm>
            <a:off x="53568" y="1717642"/>
            <a:ext cx="2644168" cy="2580313"/>
          </a:xfrm>
          <a:custGeom>
            <a:avLst/>
            <a:gdLst>
              <a:gd name="T0" fmla="*/ 701 w 1716"/>
              <a:gd name="T1" fmla="*/ 48 h 1673"/>
              <a:gd name="T2" fmla="*/ 316 w 1716"/>
              <a:gd name="T3" fmla="*/ 234 h 1673"/>
              <a:gd name="T4" fmla="*/ 120 w 1716"/>
              <a:gd name="T5" fmla="*/ 479 h 1673"/>
              <a:gd name="T6" fmla="*/ 25 w 1716"/>
              <a:gd name="T7" fmla="*/ 896 h 1673"/>
              <a:gd name="T8" fmla="*/ 95 w 1716"/>
              <a:gd name="T9" fmla="*/ 1202 h 1673"/>
              <a:gd name="T10" fmla="*/ 361 w 1716"/>
              <a:gd name="T11" fmla="*/ 1537 h 1673"/>
              <a:gd name="T12" fmla="*/ 644 w 1716"/>
              <a:gd name="T13" fmla="*/ 1673 h 1673"/>
              <a:gd name="T14" fmla="*/ 1072 w 1716"/>
              <a:gd name="T15" fmla="*/ 1673 h 1673"/>
              <a:gd name="T16" fmla="*/ 1355 w 1716"/>
              <a:gd name="T17" fmla="*/ 1537 h 1673"/>
              <a:gd name="T18" fmla="*/ 1621 w 1716"/>
              <a:gd name="T19" fmla="*/ 1202 h 1673"/>
              <a:gd name="T20" fmla="*/ 1691 w 1716"/>
              <a:gd name="T21" fmla="*/ 896 h 1673"/>
              <a:gd name="T22" fmla="*/ 1596 w 1716"/>
              <a:gd name="T23" fmla="*/ 479 h 1673"/>
              <a:gd name="T24" fmla="*/ 1400 w 1716"/>
              <a:gd name="T25" fmla="*/ 234 h 1673"/>
              <a:gd name="T26" fmla="*/ 1015 w 1716"/>
              <a:gd name="T27" fmla="*/ 48 h 1673"/>
              <a:gd name="T28" fmla="*/ 701 w 1716"/>
              <a:gd name="T29" fmla="*/ 48 h 1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16" h="1673">
                <a:moveTo>
                  <a:pt x="701" y="48"/>
                </a:moveTo>
                <a:cubicBezTo>
                  <a:pt x="316" y="234"/>
                  <a:pt x="316" y="234"/>
                  <a:pt x="316" y="234"/>
                </a:cubicBezTo>
                <a:cubicBezTo>
                  <a:pt x="216" y="281"/>
                  <a:pt x="144" y="372"/>
                  <a:pt x="120" y="479"/>
                </a:cubicBezTo>
                <a:cubicBezTo>
                  <a:pt x="25" y="896"/>
                  <a:pt x="25" y="896"/>
                  <a:pt x="25" y="896"/>
                </a:cubicBezTo>
                <a:cubicBezTo>
                  <a:pt x="0" y="1004"/>
                  <a:pt x="26" y="1116"/>
                  <a:pt x="95" y="1202"/>
                </a:cubicBezTo>
                <a:cubicBezTo>
                  <a:pt x="361" y="1537"/>
                  <a:pt x="361" y="1537"/>
                  <a:pt x="361" y="1537"/>
                </a:cubicBezTo>
                <a:cubicBezTo>
                  <a:pt x="430" y="1623"/>
                  <a:pt x="534" y="1673"/>
                  <a:pt x="644" y="1673"/>
                </a:cubicBezTo>
                <a:cubicBezTo>
                  <a:pt x="1072" y="1673"/>
                  <a:pt x="1072" y="1673"/>
                  <a:pt x="1072" y="1673"/>
                </a:cubicBezTo>
                <a:cubicBezTo>
                  <a:pt x="1182" y="1673"/>
                  <a:pt x="1286" y="1623"/>
                  <a:pt x="1355" y="1537"/>
                </a:cubicBezTo>
                <a:cubicBezTo>
                  <a:pt x="1621" y="1202"/>
                  <a:pt x="1621" y="1202"/>
                  <a:pt x="1621" y="1202"/>
                </a:cubicBezTo>
                <a:cubicBezTo>
                  <a:pt x="1690" y="1116"/>
                  <a:pt x="1716" y="1004"/>
                  <a:pt x="1691" y="896"/>
                </a:cubicBezTo>
                <a:cubicBezTo>
                  <a:pt x="1596" y="479"/>
                  <a:pt x="1596" y="479"/>
                  <a:pt x="1596" y="479"/>
                </a:cubicBezTo>
                <a:cubicBezTo>
                  <a:pt x="1572" y="372"/>
                  <a:pt x="1500" y="281"/>
                  <a:pt x="1400" y="234"/>
                </a:cubicBezTo>
                <a:cubicBezTo>
                  <a:pt x="1015" y="48"/>
                  <a:pt x="1015" y="48"/>
                  <a:pt x="1015" y="48"/>
                </a:cubicBezTo>
                <a:cubicBezTo>
                  <a:pt x="916" y="0"/>
                  <a:pt x="800" y="0"/>
                  <a:pt x="701" y="48"/>
                </a:cubicBezTo>
                <a:close/>
              </a:path>
            </a:pathLst>
          </a:custGeom>
          <a:solidFill>
            <a:schemeClr val="accent1"/>
          </a:solidFill>
          <a:ln w="11113" cap="flat">
            <a:noFill/>
            <a:prstDash val="solid"/>
            <a:miter lim="800000"/>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图片占位符 12"/>
          <p:cNvSpPr>
            <a:spLocks noGrp="1"/>
          </p:cNvSpPr>
          <p:nvPr>
            <p:ph type="pic" sz="quarter" idx="10"/>
          </p:nvPr>
        </p:nvSpPr>
        <p:spPr>
          <a:xfrm>
            <a:off x="-6333" y="1717643"/>
            <a:ext cx="2614575" cy="2580312"/>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
        <p:nvSpPr>
          <p:cNvPr id="21" name="图片占位符 12"/>
          <p:cNvSpPr>
            <a:spLocks noGrp="1"/>
          </p:cNvSpPr>
          <p:nvPr>
            <p:ph type="pic" sz="quarter" idx="11"/>
          </p:nvPr>
        </p:nvSpPr>
        <p:spPr>
          <a:xfrm>
            <a:off x="3120904" y="1717643"/>
            <a:ext cx="2614575" cy="2580312"/>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
        <p:nvSpPr>
          <p:cNvPr id="22" name="图片占位符 12"/>
          <p:cNvSpPr>
            <a:spLocks noGrp="1"/>
          </p:cNvSpPr>
          <p:nvPr>
            <p:ph type="pic" sz="quarter" idx="12"/>
          </p:nvPr>
        </p:nvSpPr>
        <p:spPr>
          <a:xfrm>
            <a:off x="6248140" y="1717643"/>
            <a:ext cx="2614575" cy="2580312"/>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
        <p:nvSpPr>
          <p:cNvPr id="23" name="图片占位符 12"/>
          <p:cNvSpPr>
            <a:spLocks noGrp="1"/>
          </p:cNvSpPr>
          <p:nvPr>
            <p:ph type="pic" sz="quarter" idx="13"/>
          </p:nvPr>
        </p:nvSpPr>
        <p:spPr>
          <a:xfrm>
            <a:off x="9375377" y="1717643"/>
            <a:ext cx="2614575" cy="2580312"/>
          </a:xfrm>
          <a:custGeom>
            <a:avLst/>
            <a:gdLst>
              <a:gd name="connsiteX0" fmla="*/ 1691920 w 3383840"/>
              <a:gd name="connsiteY0" fmla="*/ 0 h 3339496"/>
              <a:gd name="connsiteX1" fmla="*/ 2007280 w 3383840"/>
              <a:gd name="connsiteY1" fmla="*/ 72379 h 3339496"/>
              <a:gd name="connsiteX2" fmla="*/ 2780614 w 3383840"/>
              <a:gd name="connsiteY2" fmla="*/ 446338 h 3339496"/>
              <a:gd name="connsiteX3" fmla="*/ 3174312 w 3383840"/>
              <a:gd name="connsiteY3" fmla="*/ 938919 h 3339496"/>
              <a:gd name="connsiteX4" fmla="*/ 3365135 w 3383840"/>
              <a:gd name="connsiteY4" fmla="*/ 1777311 h 3339496"/>
              <a:gd name="connsiteX5" fmla="*/ 3224528 w 3383840"/>
              <a:gd name="connsiteY5" fmla="*/ 2392535 h 3339496"/>
              <a:gd name="connsiteX6" fmla="*/ 2690225 w 3383840"/>
              <a:gd name="connsiteY6" fmla="*/ 3066064 h 3339496"/>
              <a:gd name="connsiteX7" fmla="*/ 2121774 w 3383840"/>
              <a:gd name="connsiteY7" fmla="*/ 3339496 h 3339496"/>
              <a:gd name="connsiteX8" fmla="*/ 1262067 w 3383840"/>
              <a:gd name="connsiteY8" fmla="*/ 3339496 h 3339496"/>
              <a:gd name="connsiteX9" fmla="*/ 693616 w 3383840"/>
              <a:gd name="connsiteY9" fmla="*/ 3066064 h 3339496"/>
              <a:gd name="connsiteX10" fmla="*/ 159312 w 3383840"/>
              <a:gd name="connsiteY10" fmla="*/ 2392535 h 3339496"/>
              <a:gd name="connsiteX11" fmla="*/ 18706 w 3383840"/>
              <a:gd name="connsiteY11" fmla="*/ 1777311 h 3339496"/>
              <a:gd name="connsiteX12" fmla="*/ 209528 w 3383840"/>
              <a:gd name="connsiteY12" fmla="*/ 938919 h 3339496"/>
              <a:gd name="connsiteX13" fmla="*/ 603226 w 3383840"/>
              <a:gd name="connsiteY13" fmla="*/ 446338 h 3339496"/>
              <a:gd name="connsiteX14" fmla="*/ 1376560 w 3383840"/>
              <a:gd name="connsiteY14" fmla="*/ 72379 h 3339496"/>
              <a:gd name="connsiteX15" fmla="*/ 1691920 w 3383840"/>
              <a:gd name="connsiteY15" fmla="*/ 0 h 333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83840" h="3339496">
                <a:moveTo>
                  <a:pt x="1691920" y="0"/>
                </a:moveTo>
                <a:cubicBezTo>
                  <a:pt x="1799886" y="0"/>
                  <a:pt x="1907851" y="24126"/>
                  <a:pt x="2007280" y="72379"/>
                </a:cubicBezTo>
                <a:cubicBezTo>
                  <a:pt x="2007280" y="72379"/>
                  <a:pt x="2007280" y="72379"/>
                  <a:pt x="2780614" y="446338"/>
                </a:cubicBezTo>
                <a:cubicBezTo>
                  <a:pt x="2981480" y="540833"/>
                  <a:pt x="3126104" y="723792"/>
                  <a:pt x="3174312" y="938919"/>
                </a:cubicBezTo>
                <a:cubicBezTo>
                  <a:pt x="3174312" y="938919"/>
                  <a:pt x="3174312" y="938919"/>
                  <a:pt x="3365135" y="1777311"/>
                </a:cubicBezTo>
                <a:cubicBezTo>
                  <a:pt x="3415351" y="1994449"/>
                  <a:pt x="3363126" y="2219629"/>
                  <a:pt x="3224528" y="2392535"/>
                </a:cubicBezTo>
                <a:cubicBezTo>
                  <a:pt x="3224528" y="2392535"/>
                  <a:pt x="3224528" y="2392535"/>
                  <a:pt x="2690225" y="3066064"/>
                </a:cubicBezTo>
                <a:cubicBezTo>
                  <a:pt x="2551627" y="3238969"/>
                  <a:pt x="2342726" y="3339496"/>
                  <a:pt x="2121774" y="3339496"/>
                </a:cubicBezTo>
                <a:cubicBezTo>
                  <a:pt x="2121774" y="3339496"/>
                  <a:pt x="2121774" y="3339496"/>
                  <a:pt x="1262067" y="3339496"/>
                </a:cubicBezTo>
                <a:cubicBezTo>
                  <a:pt x="1041114" y="3339496"/>
                  <a:pt x="832213" y="3238969"/>
                  <a:pt x="693616" y="3066064"/>
                </a:cubicBezTo>
                <a:cubicBezTo>
                  <a:pt x="693616" y="3066064"/>
                  <a:pt x="693616" y="3066064"/>
                  <a:pt x="159312" y="2392535"/>
                </a:cubicBezTo>
                <a:cubicBezTo>
                  <a:pt x="20714" y="2219629"/>
                  <a:pt x="-31511" y="1994449"/>
                  <a:pt x="18706" y="1777311"/>
                </a:cubicBezTo>
                <a:cubicBezTo>
                  <a:pt x="18706" y="1777311"/>
                  <a:pt x="18706" y="1777311"/>
                  <a:pt x="209528" y="938919"/>
                </a:cubicBezTo>
                <a:cubicBezTo>
                  <a:pt x="257736" y="723792"/>
                  <a:pt x="402360" y="540833"/>
                  <a:pt x="603226" y="446338"/>
                </a:cubicBezTo>
                <a:cubicBezTo>
                  <a:pt x="603226" y="446338"/>
                  <a:pt x="603226" y="446338"/>
                  <a:pt x="1376560" y="72379"/>
                </a:cubicBezTo>
                <a:cubicBezTo>
                  <a:pt x="1475989" y="24126"/>
                  <a:pt x="1583955" y="0"/>
                  <a:pt x="1691920" y="0"/>
                </a:cubicBezTo>
                <a:close/>
              </a:path>
            </a:pathLst>
          </a:custGeom>
        </p:spPr>
        <p:txBody>
          <a:bodyPr wrap="square">
            <a:noAutofit/>
          </a:bodyPr>
          <a:lstStyle/>
          <a:p>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图片包含 监视器, 电子产品, 室内, 就坐&#10;&#10;自动生成的说明"/>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837322" y="449217"/>
            <a:ext cx="2871578" cy="5959565"/>
          </a:xfrm>
          <a:prstGeom prst="rect">
            <a:avLst/>
          </a:prstGeom>
        </p:spPr>
      </p:pic>
      <p:sp>
        <p:nvSpPr>
          <p:cNvPr id="3" name="图片占位符 2"/>
          <p:cNvSpPr>
            <a:spLocks noGrp="1"/>
          </p:cNvSpPr>
          <p:nvPr>
            <p:ph type="pic" sz="quarter" idx="10"/>
          </p:nvPr>
        </p:nvSpPr>
        <p:spPr>
          <a:xfrm>
            <a:off x="5003800" y="1130300"/>
            <a:ext cx="2578100" cy="4597400"/>
          </a:xfrm>
        </p:spPr>
        <p:txBody>
          <a:bodyPr/>
          <a:lstStyle/>
          <a:p>
            <a:endParaRPr lang="zh-CN" altLang="en-US"/>
          </a:p>
        </p:txBody>
      </p:sp>
      <p:grpSp>
        <p:nvGrpSpPr>
          <p:cNvPr id="5" name="组合 4"/>
          <p:cNvGrpSpPr/>
          <p:nvPr userDrawn="1"/>
        </p:nvGrpSpPr>
        <p:grpSpPr>
          <a:xfrm>
            <a:off x="3195459" y="351347"/>
            <a:ext cx="6155304" cy="6155304"/>
            <a:chOff x="3195459" y="351347"/>
            <a:chExt cx="6155304" cy="6155304"/>
          </a:xfrm>
        </p:grpSpPr>
        <p:sp>
          <p:nvSpPr>
            <p:cNvPr id="4" name="椭圆 3"/>
            <p:cNvSpPr/>
            <p:nvPr userDrawn="1"/>
          </p:nvSpPr>
          <p:spPr>
            <a:xfrm>
              <a:off x="3415611" y="531996"/>
              <a:ext cx="5715000" cy="5715000"/>
            </a:xfrm>
            <a:prstGeom prst="ellipse">
              <a:avLst/>
            </a:prstGeom>
            <a:noFill/>
            <a:ln w="57150">
              <a:solidFill>
                <a:schemeClr val="accent1">
                  <a:shade val="50000"/>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195459" y="351347"/>
              <a:ext cx="6155304" cy="6155304"/>
            </a:xfrm>
            <a:prstGeom prst="ellipse">
              <a:avLst/>
            </a:prstGeom>
            <a:noFill/>
            <a:ln w="57150">
              <a:solidFill>
                <a:schemeClr val="accent1">
                  <a:shade val="50000"/>
                  <a:alpha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userDrawn="1"/>
        </p:nvGrpSpPr>
        <p:grpSpPr>
          <a:xfrm>
            <a:off x="1245243" y="-1417133"/>
            <a:ext cx="9613257" cy="9613257"/>
            <a:chOff x="3195459" y="351347"/>
            <a:chExt cx="6155304" cy="6155304"/>
          </a:xfrm>
        </p:grpSpPr>
        <p:sp>
          <p:nvSpPr>
            <p:cNvPr id="16" name="椭圆 15"/>
            <p:cNvSpPr/>
            <p:nvPr userDrawn="1"/>
          </p:nvSpPr>
          <p:spPr>
            <a:xfrm>
              <a:off x="3415611" y="531996"/>
              <a:ext cx="5715000" cy="5715000"/>
            </a:xfrm>
            <a:prstGeom prst="ellipse">
              <a:avLst/>
            </a:prstGeom>
            <a:noFill/>
            <a:ln w="57150">
              <a:solidFill>
                <a:schemeClr val="accent1">
                  <a:shade val="50000"/>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195459" y="351347"/>
              <a:ext cx="6155304" cy="6155304"/>
            </a:xfrm>
            <a:prstGeom prst="ellipse">
              <a:avLst/>
            </a:prstGeom>
            <a:noFill/>
            <a:ln w="57150">
              <a:solidFill>
                <a:schemeClr val="accent1">
                  <a:shade val="50000"/>
                  <a:alpha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标题和内容">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srcRect l="929" b="6418"/>
          <a:stretch>
            <a:fillRect/>
          </a:stretch>
        </p:blipFill>
        <p:spPr>
          <a:xfrm>
            <a:off x="0" y="5677445"/>
            <a:ext cx="12192000" cy="1353869"/>
          </a:xfrm>
          <a:custGeom>
            <a:avLst/>
            <a:gdLst>
              <a:gd name="connsiteX0" fmla="*/ 0 w 12192000"/>
              <a:gd name="connsiteY0" fmla="*/ 0 h 1353869"/>
              <a:gd name="connsiteX1" fmla="*/ 12192000 w 12192000"/>
              <a:gd name="connsiteY1" fmla="*/ 0 h 1353869"/>
              <a:gd name="connsiteX2" fmla="*/ 12192000 w 12192000"/>
              <a:gd name="connsiteY2" fmla="*/ 1353869 h 1353869"/>
              <a:gd name="connsiteX3" fmla="*/ 0 w 12192000"/>
              <a:gd name="connsiteY3" fmla="*/ 1353869 h 1353869"/>
            </a:gdLst>
            <a:ahLst/>
            <a:cxnLst>
              <a:cxn ang="0">
                <a:pos x="connsiteX0" y="connsiteY0"/>
              </a:cxn>
              <a:cxn ang="0">
                <a:pos x="connsiteX1" y="connsiteY1"/>
              </a:cxn>
              <a:cxn ang="0">
                <a:pos x="connsiteX2" y="connsiteY2"/>
              </a:cxn>
              <a:cxn ang="0">
                <a:pos x="connsiteX3" y="connsiteY3"/>
              </a:cxn>
            </a:cxnLst>
            <a:rect l="l" t="t" r="r" b="b"/>
            <a:pathLst>
              <a:path w="12192000" h="1353869">
                <a:moveTo>
                  <a:pt x="0" y="0"/>
                </a:moveTo>
                <a:lnTo>
                  <a:pt x="12192000" y="0"/>
                </a:lnTo>
                <a:lnTo>
                  <a:pt x="12192000" y="1353869"/>
                </a:lnTo>
                <a:lnTo>
                  <a:pt x="0" y="1353869"/>
                </a:lnTo>
                <a:close/>
              </a:path>
            </a:pathLst>
          </a:custGeom>
        </p:spPr>
      </p:pic>
      <p:grpSp>
        <p:nvGrpSpPr>
          <p:cNvPr id="12" name="组合 11"/>
          <p:cNvGrpSpPr/>
          <p:nvPr userDrawn="1"/>
        </p:nvGrpSpPr>
        <p:grpSpPr>
          <a:xfrm>
            <a:off x="3195459" y="351347"/>
            <a:ext cx="6155304" cy="6155304"/>
            <a:chOff x="3195459" y="351347"/>
            <a:chExt cx="6155304" cy="6155304"/>
          </a:xfrm>
        </p:grpSpPr>
        <p:sp>
          <p:nvSpPr>
            <p:cNvPr id="13" name="椭圆 12"/>
            <p:cNvSpPr/>
            <p:nvPr userDrawn="1"/>
          </p:nvSpPr>
          <p:spPr>
            <a:xfrm>
              <a:off x="3415611" y="531996"/>
              <a:ext cx="5715000" cy="5715000"/>
            </a:xfrm>
            <a:prstGeom prst="ellipse">
              <a:avLst/>
            </a:prstGeom>
            <a:noFill/>
            <a:ln w="57150">
              <a:solidFill>
                <a:schemeClr val="accent1">
                  <a:shade val="50000"/>
                  <a:alpha val="26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3195459" y="351347"/>
              <a:ext cx="6155304" cy="6155304"/>
            </a:xfrm>
            <a:prstGeom prst="ellipse">
              <a:avLst/>
            </a:prstGeom>
            <a:noFill/>
            <a:ln w="57150">
              <a:solidFill>
                <a:schemeClr val="accent1">
                  <a:shade val="50000"/>
                  <a:alpha val="1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userDrawn="1"/>
        </p:nvGrpSpPr>
        <p:grpSpPr>
          <a:xfrm>
            <a:off x="1245243" y="-1417133"/>
            <a:ext cx="9613257" cy="9613257"/>
            <a:chOff x="3195459" y="351347"/>
            <a:chExt cx="6155304" cy="6155304"/>
          </a:xfrm>
        </p:grpSpPr>
        <p:sp>
          <p:nvSpPr>
            <p:cNvPr id="17" name="椭圆 16"/>
            <p:cNvSpPr/>
            <p:nvPr userDrawn="1"/>
          </p:nvSpPr>
          <p:spPr>
            <a:xfrm>
              <a:off x="3415611" y="531996"/>
              <a:ext cx="5715000" cy="5715000"/>
            </a:xfrm>
            <a:prstGeom prst="ellipse">
              <a:avLst/>
            </a:prstGeom>
            <a:noFill/>
            <a:ln w="57150">
              <a:solidFill>
                <a:schemeClr val="accent1">
                  <a:shade val="50000"/>
                  <a:alpha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userDrawn="1"/>
          </p:nvSpPr>
          <p:spPr>
            <a:xfrm>
              <a:off x="3195459" y="351347"/>
              <a:ext cx="6155304" cy="6155304"/>
            </a:xfrm>
            <a:prstGeom prst="ellipse">
              <a:avLst/>
            </a:prstGeom>
            <a:noFill/>
            <a:ln w="57150">
              <a:solidFill>
                <a:schemeClr val="accent1">
                  <a:shade val="50000"/>
                  <a:alpha val="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147001" y="80396"/>
            <a:ext cx="863600" cy="863600"/>
          </a:xfrm>
          <a:prstGeom prst="rect">
            <a:avLst/>
          </a:prstGeom>
        </p:spPr>
      </p:pic>
      <p:sp>
        <p:nvSpPr>
          <p:cNvPr id="10" name="文本框 9"/>
          <p:cNvSpPr txBox="1"/>
          <p:nvPr userDrawn="1"/>
        </p:nvSpPr>
        <p:spPr>
          <a:xfrm>
            <a:off x="9677400" y="6550223"/>
            <a:ext cx="2362200" cy="307777"/>
          </a:xfrm>
          <a:prstGeom prst="rect">
            <a:avLst/>
          </a:prstGeom>
          <a:noFill/>
        </p:spPr>
        <p:txBody>
          <a:bodyPr wrap="square" rtlCol="0">
            <a:spAutoFit/>
          </a:bodyPr>
          <a:lstStyle/>
          <a:p>
            <a:pPr algn="dist"/>
            <a:r>
              <a:rPr lang="zh-CN" altLang="en-US" sz="1400" dirty="0">
                <a:solidFill>
                  <a:schemeClr val="bg1"/>
                </a:solidFill>
                <a:latin typeface="方正姚体" panose="02010601030101010101" pitchFamily="2" charset="-122"/>
                <a:ea typeface="方正姚体" panose="02010601030101010101" pitchFamily="2" charset="-122"/>
              </a:rPr>
              <a:t>允公允能 日新月异</a:t>
            </a:r>
            <a:endParaRPr lang="zh-CN" altLang="en-US" sz="1400" dirty="0">
              <a:solidFill>
                <a:schemeClr val="bg1"/>
              </a:solidFill>
              <a:latin typeface="方正姚体" panose="02010601030101010101" pitchFamily="2" charset="-122"/>
              <a:ea typeface="方正姚体" panose="02010601030101010101" pitchFamily="2" charset="-122"/>
            </a:endParaRPr>
          </a:p>
        </p:txBody>
      </p:sp>
      <p:sp>
        <p:nvSpPr>
          <p:cNvPr id="11" name="椭圆 10"/>
          <p:cNvSpPr/>
          <p:nvPr userDrawn="1"/>
        </p:nvSpPr>
        <p:spPr>
          <a:xfrm>
            <a:off x="279400" y="277246"/>
            <a:ext cx="469900" cy="4699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23944" y="747146"/>
            <a:ext cx="6544112" cy="6134100"/>
          </a:xfrm>
          <a:prstGeom prst="rect">
            <a:avLst/>
          </a:prstGeom>
        </p:spPr>
      </p:pic>
      <p:sp>
        <p:nvSpPr>
          <p:cNvPr id="3" name="图片占位符 2"/>
          <p:cNvSpPr>
            <a:spLocks noGrp="1"/>
          </p:cNvSpPr>
          <p:nvPr>
            <p:ph type="pic" sz="quarter" idx="10"/>
          </p:nvPr>
        </p:nvSpPr>
        <p:spPr>
          <a:xfrm>
            <a:off x="3454400" y="1485900"/>
            <a:ext cx="5422900" cy="3048000"/>
          </a:xfrm>
        </p:spPr>
        <p:txBody>
          <a:body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A7170A4-4E3B-4F56-8FDD-F1EB4BDF678E}" type="datetime2">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1605DDA-53DD-4495-A1F6-B439BDA050E0}" type="datetime2">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F4C606B-CFB8-465D-A34A-AC76AB192DCE}" type="datetime2">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6539A2B-D617-4E97-B74E-572C8892BBDF}" type="datetime2">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5071933-39CF-414B-8F3E-1FA80C540CBD}" type="datetime2">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73B35B4-13DE-41D0-989F-92F8B73463C4}" type="datetime2">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799EA381-2652-4789-B703-8168BBF1FDD9}" type="datetime2">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29D340-5E09-4D59-97A7-00D321553642}" type="datetime2">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8.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8.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image" Target="../media/image18.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hyperlink" Target="https://www.feistyduck.com/books/openssl-cookbook/"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8.xml"/><Relationship Id="rId1"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8.xml"/><Relationship Id="rId1" Type="http://schemas.openxmlformats.org/officeDocument/2006/relationships/image" Target="../media/image27.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8.xml"/><Relationship Id="rId1"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image" Target="../media/image29.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8.xml"/><Relationship Id="rId2" Type="http://schemas.openxmlformats.org/officeDocument/2006/relationships/image" Target="../media/image31.png"/><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14"/>
          <p:cNvSpPr txBox="1"/>
          <p:nvPr/>
        </p:nvSpPr>
        <p:spPr>
          <a:xfrm>
            <a:off x="1517396" y="1753802"/>
            <a:ext cx="9157208" cy="225605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60000"/>
              </a:lnSpc>
            </a:pPr>
            <a:r>
              <a:rPr lang="zh-CN" altLang="en-US" sz="4800" dirty="0">
                <a:effectLst>
                  <a:outerShdw blurRad="38100" dist="38100" dir="2700000" algn="tl">
                    <a:srgbClr val="000000">
                      <a:alpha val="43137"/>
                    </a:srgbClr>
                  </a:outerShdw>
                </a:effectLst>
                <a:ea typeface="微软雅黑" panose="020B0503020204020204" pitchFamily="34" charset="-122"/>
              </a:rPr>
              <a:t>信息安全综合实验</a:t>
            </a:r>
            <a:endParaRPr lang="en-US" altLang="zh-CN" sz="4800" dirty="0">
              <a:effectLst>
                <a:outerShdw blurRad="38100" dist="38100" dir="2700000" algn="tl">
                  <a:srgbClr val="000000">
                    <a:alpha val="43137"/>
                  </a:srgbClr>
                </a:outerShdw>
              </a:effectLst>
              <a:ea typeface="微软雅黑" panose="020B0503020204020204" pitchFamily="34" charset="-122"/>
            </a:endParaRPr>
          </a:p>
          <a:p>
            <a:pPr algn="ctr">
              <a:lnSpc>
                <a:spcPct val="160000"/>
              </a:lnSpc>
            </a:pPr>
            <a:endParaRPr lang="zh-CN" altLang="en-US" sz="4800" dirty="0">
              <a:effectLst>
                <a:outerShdw blurRad="38100" dist="38100" dir="2700000" algn="tl">
                  <a:srgbClr val="000000">
                    <a:alpha val="43137"/>
                  </a:srgbClr>
                </a:outerShdw>
              </a:effectLst>
              <a:ea typeface="微软雅黑" panose="020B0503020204020204" pitchFamily="34" charset="-122"/>
            </a:endParaRPr>
          </a:p>
        </p:txBody>
      </p:sp>
      <p:sp>
        <p:nvSpPr>
          <p:cNvPr id="22" name="内容占位符 14"/>
          <p:cNvSpPr txBox="1"/>
          <p:nvPr/>
        </p:nvSpPr>
        <p:spPr>
          <a:xfrm>
            <a:off x="2859872" y="3992857"/>
            <a:ext cx="6472255" cy="1043362"/>
          </a:xfrm>
          <a:prstGeom prst="rect">
            <a:avLst/>
          </a:prstGeom>
        </p:spPr>
        <p:txBody>
          <a:bodyPr>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pPr>
            <a:r>
              <a:rPr lang="zh-CN" altLang="en-US" sz="2400" dirty="0">
                <a:ea typeface="微软雅黑" panose="020B0503020204020204" pitchFamily="34" charset="-122"/>
              </a:rPr>
              <a:t>邓琮弋</a:t>
            </a:r>
            <a:endParaRPr lang="en-US" altLang="zh-CN" sz="2400" dirty="0">
              <a:ea typeface="微软雅黑" panose="020B0503020204020204" pitchFamily="34" charset="-122"/>
            </a:endParaRPr>
          </a:p>
          <a:p>
            <a:pPr algn="ctr">
              <a:lnSpc>
                <a:spcPct val="130000"/>
              </a:lnSpc>
            </a:pPr>
            <a:r>
              <a:rPr lang="en-US" altLang="zh-CN" sz="2400" dirty="0">
                <a:ea typeface="微软雅黑" panose="020B0503020204020204" pitchFamily="34" charset="-122"/>
              </a:rPr>
              <a:t>2026</a:t>
            </a:r>
            <a:r>
              <a:rPr lang="zh-CN" altLang="en-US" sz="2400" dirty="0">
                <a:ea typeface="微软雅黑" panose="020B0503020204020204" pitchFamily="34" charset="-122"/>
              </a:rPr>
              <a:t>年</a:t>
            </a:r>
            <a:r>
              <a:rPr lang="en-US" altLang="zh-CN" sz="2400" dirty="0">
                <a:ea typeface="微软雅黑" panose="020B0503020204020204" pitchFamily="34" charset="-122"/>
              </a:rPr>
              <a:t>2</a:t>
            </a:r>
            <a:r>
              <a:rPr lang="zh-CN" altLang="en-US" sz="2400" dirty="0">
                <a:ea typeface="微软雅黑" panose="020B0503020204020204" pitchFamily="34" charset="-122"/>
              </a:rPr>
              <a:t>月</a:t>
            </a:r>
            <a:endParaRPr lang="zh-CN" altLang="en-US" sz="2400" dirty="0">
              <a:ea typeface="微软雅黑" panose="020B0503020204020204" pitchFamily="34" charset="-122"/>
            </a:endParaRPr>
          </a:p>
        </p:txBody>
      </p:sp>
      <p:grpSp>
        <p:nvGrpSpPr>
          <p:cNvPr id="2" name="组合 1"/>
          <p:cNvGrpSpPr/>
          <p:nvPr/>
        </p:nvGrpSpPr>
        <p:grpSpPr>
          <a:xfrm>
            <a:off x="8210295" y="3395010"/>
            <a:ext cx="1661328" cy="324811"/>
            <a:chOff x="7670799" y="3233111"/>
            <a:chExt cx="1661328" cy="324811"/>
          </a:xfrm>
        </p:grpSpPr>
        <p:cxnSp>
          <p:nvCxnSpPr>
            <p:cNvPr id="28" name="直接连接符 27"/>
            <p:cNvCxnSpPr/>
            <p:nvPr/>
          </p:nvCxnSpPr>
          <p:spPr>
            <a:xfrm>
              <a:off x="8199455" y="3410911"/>
              <a:ext cx="1003300" cy="0"/>
            </a:xfrm>
            <a:prstGeom prst="line">
              <a:avLst/>
            </a:prstGeom>
            <a:ln w="76200">
              <a:gradFill>
                <a:gsLst>
                  <a:gs pos="0">
                    <a:schemeClr val="accent1">
                      <a:alpha val="0"/>
                    </a:schemeClr>
                  </a:gs>
                  <a:gs pos="100000">
                    <a:schemeClr val="accent1"/>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328827" y="3557922"/>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670799" y="3233111"/>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gr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90156" y="586122"/>
            <a:ext cx="863600" cy="863600"/>
          </a:xfrm>
          <a:prstGeom prst="rect">
            <a:avLst/>
          </a:prstGeom>
        </p:spPr>
      </p:pic>
      <p:grpSp>
        <p:nvGrpSpPr>
          <p:cNvPr id="3" name="组合 2"/>
          <p:cNvGrpSpPr/>
          <p:nvPr/>
        </p:nvGrpSpPr>
        <p:grpSpPr>
          <a:xfrm>
            <a:off x="1338244" y="1287316"/>
            <a:ext cx="1661328" cy="324811"/>
            <a:chOff x="2201844" y="1429711"/>
            <a:chExt cx="1661328" cy="324811"/>
          </a:xfrm>
        </p:grpSpPr>
        <p:cxnSp>
          <p:nvCxnSpPr>
            <p:cNvPr id="24" name="直接连接符 23"/>
            <p:cNvCxnSpPr/>
            <p:nvPr/>
          </p:nvCxnSpPr>
          <p:spPr>
            <a:xfrm>
              <a:off x="2730500" y="1607511"/>
              <a:ext cx="1003300" cy="0"/>
            </a:xfrm>
            <a:prstGeom prst="line">
              <a:avLst/>
            </a:prstGeom>
            <a:ln w="76200">
              <a:gradFill>
                <a:gsLst>
                  <a:gs pos="0">
                    <a:schemeClr val="accent1">
                      <a:alpha val="0"/>
                    </a:schemeClr>
                  </a:gs>
                  <a:gs pos="100000">
                    <a:schemeClr val="accent1"/>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859872" y="1754522"/>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2201844" y="1429711"/>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14"/>
          <p:cNvSpPr txBox="1"/>
          <p:nvPr/>
        </p:nvSpPr>
        <p:spPr>
          <a:xfrm>
            <a:off x="6187271" y="2726062"/>
            <a:ext cx="4635499" cy="809946"/>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4400" dirty="0">
                <a:ea typeface="微软雅黑" panose="020B0503020204020204" pitchFamily="34" charset="-122"/>
              </a:rPr>
              <a:t>课 程 介 绍</a:t>
            </a:r>
            <a:endParaRPr lang="zh-CN" altLang="en-US" sz="4400" dirty="0">
              <a:ea typeface="微软雅黑" panose="020B0503020204020204" pitchFamily="34" charset="-122"/>
            </a:endParaRPr>
          </a:p>
        </p:txBody>
      </p:sp>
      <p:sp>
        <p:nvSpPr>
          <p:cNvPr id="8" name="文本框 7"/>
          <p:cNvSpPr txBox="1"/>
          <p:nvPr/>
        </p:nvSpPr>
        <p:spPr>
          <a:xfrm>
            <a:off x="4449017" y="1947721"/>
            <a:ext cx="1549400" cy="2215991"/>
          </a:xfrm>
          <a:prstGeom prst="rect">
            <a:avLst/>
          </a:prstGeom>
          <a:noFill/>
        </p:spPr>
        <p:txBody>
          <a:bodyPr wrap="square" rtlCol="0">
            <a:spAutoFit/>
          </a:bodyPr>
          <a:lstStyle/>
          <a:p>
            <a:r>
              <a:rPr lang="en-US" altLang="zh-CN" sz="13800" dirty="0">
                <a:solidFill>
                  <a:schemeClr val="accent1"/>
                </a:solidFill>
                <a:ea typeface="微软雅黑" panose="020B0503020204020204" pitchFamily="34" charset="-122"/>
              </a:rPr>
              <a:t>0</a:t>
            </a:r>
            <a:endParaRPr lang="zh-CN" altLang="en-US" sz="13800" dirty="0">
              <a:solidFill>
                <a:schemeClr val="accent1"/>
              </a:solidFill>
              <a:ea typeface="微软雅黑" panose="020B0503020204020204" pitchFamily="34" charset="-122"/>
            </a:endParaRPr>
          </a:p>
        </p:txBody>
      </p:sp>
      <p:sp>
        <p:nvSpPr>
          <p:cNvPr id="9" name="文本框 8"/>
          <p:cNvSpPr txBox="1"/>
          <p:nvPr/>
        </p:nvSpPr>
        <p:spPr>
          <a:xfrm>
            <a:off x="5403592" y="1964005"/>
            <a:ext cx="1549400" cy="2215991"/>
          </a:xfrm>
          <a:prstGeom prst="rect">
            <a:avLst/>
          </a:prstGeom>
          <a:noFill/>
        </p:spPr>
        <p:txBody>
          <a:bodyPr wrap="square" rtlCol="0">
            <a:spAutoFit/>
          </a:bodyPr>
          <a:lstStyle/>
          <a:p>
            <a:r>
              <a:rPr lang="en-US" altLang="zh-CN" sz="13800" dirty="0">
                <a:solidFill>
                  <a:schemeClr val="accent1"/>
                </a:solidFill>
                <a:ea typeface="微软雅黑" panose="020B0503020204020204" pitchFamily="34" charset="-122"/>
              </a:rPr>
              <a:t>0</a:t>
            </a:r>
            <a:endParaRPr lang="zh-CN" altLang="en-US" sz="13800" dirty="0">
              <a:solidFill>
                <a:schemeClr val="accent1"/>
              </a:solidFill>
              <a:ea typeface="微软雅黑" panose="020B0503020204020204" pitchFamily="34" charset="-122"/>
            </a:endParaRPr>
          </a:p>
        </p:txBody>
      </p:sp>
      <p:cxnSp>
        <p:nvCxnSpPr>
          <p:cNvPr id="10" name="直接连接符 9"/>
          <p:cNvCxnSpPr/>
          <p:nvPr/>
        </p:nvCxnSpPr>
        <p:spPr>
          <a:xfrm>
            <a:off x="6187271" y="3493007"/>
            <a:ext cx="4696628" cy="0"/>
          </a:xfrm>
          <a:prstGeom prst="line">
            <a:avLst/>
          </a:prstGeom>
          <a:ln w="38100">
            <a:solidFill>
              <a:srgbClr val="7E0C6E">
                <a:alpha val="19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2689" y="1329095"/>
            <a:ext cx="10719881" cy="4861560"/>
          </a:xfrm>
          <a:prstGeom prst="rect">
            <a:avLst/>
          </a:prstGeom>
          <a:noFill/>
        </p:spPr>
        <p:txBody>
          <a:bodyPr wrap="square" rtlCol="0">
            <a:spAutoFit/>
          </a:bodyPr>
          <a:lstStyle/>
          <a:p>
            <a:pPr marL="457200" indent="-457200">
              <a:lnSpc>
                <a:spcPct val="250000"/>
              </a:lnSpc>
              <a:buFont typeface="Wingdings" panose="05000000000000000000" pitchFamily="2" charset="2"/>
              <a:buChar char="ü"/>
            </a:pPr>
            <a:r>
              <a:rPr lang="zh-CN" altLang="en-US" sz="3200" b="1" dirty="0">
                <a:solidFill>
                  <a:schemeClr val="tx1">
                    <a:lumMod val="65000"/>
                    <a:lumOff val="35000"/>
                  </a:schemeClr>
                </a:solidFill>
              </a:rPr>
              <a:t>针对信息安全专业开设的本科专业选修课程</a:t>
            </a:r>
            <a:endParaRPr lang="en-US" altLang="zh-CN" sz="3200" b="1" dirty="0">
              <a:solidFill>
                <a:schemeClr val="tx1">
                  <a:lumMod val="65000"/>
                  <a:lumOff val="35000"/>
                </a:schemeClr>
              </a:solidFill>
            </a:endParaRPr>
          </a:p>
          <a:p>
            <a:pPr marL="457200" indent="-457200">
              <a:lnSpc>
                <a:spcPct val="250000"/>
              </a:lnSpc>
              <a:buFont typeface="Wingdings" panose="05000000000000000000" pitchFamily="2" charset="2"/>
              <a:buChar char="ü"/>
            </a:pPr>
            <a:r>
              <a:rPr lang="zh-CN" altLang="en-US" sz="3200" b="1" dirty="0">
                <a:solidFill>
                  <a:schemeClr val="tx1">
                    <a:lumMod val="65000"/>
                    <a:lumOff val="35000"/>
                  </a:schemeClr>
                </a:solidFill>
              </a:rPr>
              <a:t>共</a:t>
            </a:r>
            <a:r>
              <a:rPr lang="en-US" altLang="zh-CN" sz="3200" b="1" dirty="0">
                <a:solidFill>
                  <a:schemeClr val="tx1">
                    <a:lumMod val="65000"/>
                    <a:lumOff val="35000"/>
                  </a:schemeClr>
                </a:solidFill>
              </a:rPr>
              <a:t>48</a:t>
            </a:r>
            <a:r>
              <a:rPr lang="zh-CN" altLang="en-US" sz="3200" b="1" dirty="0">
                <a:solidFill>
                  <a:schemeClr val="tx1">
                    <a:lumMod val="65000"/>
                    <a:lumOff val="35000"/>
                  </a:schemeClr>
                </a:solidFill>
              </a:rPr>
              <a:t>个实践课时，</a:t>
            </a:r>
            <a:r>
              <a:rPr lang="en-US" altLang="zh-CN" sz="3200" b="1" dirty="0">
                <a:solidFill>
                  <a:schemeClr val="tx1">
                    <a:lumMod val="65000"/>
                    <a:lumOff val="35000"/>
                  </a:schemeClr>
                </a:solidFill>
              </a:rPr>
              <a:t>2</a:t>
            </a:r>
            <a:r>
              <a:rPr lang="zh-CN" altLang="en-US" sz="3200" b="1" dirty="0">
                <a:solidFill>
                  <a:schemeClr val="tx1">
                    <a:lumMod val="65000"/>
                    <a:lumOff val="35000"/>
                  </a:schemeClr>
                </a:solidFill>
              </a:rPr>
              <a:t>学分</a:t>
            </a:r>
            <a:endParaRPr lang="en-US" altLang="zh-CN" sz="3200" b="1" dirty="0">
              <a:solidFill>
                <a:schemeClr val="tx1">
                  <a:lumMod val="65000"/>
                  <a:lumOff val="35000"/>
                </a:schemeClr>
              </a:solidFill>
            </a:endParaRPr>
          </a:p>
          <a:p>
            <a:pPr marL="457200" indent="-457200">
              <a:lnSpc>
                <a:spcPct val="250000"/>
              </a:lnSpc>
              <a:buFont typeface="Wingdings" panose="05000000000000000000" pitchFamily="2" charset="2"/>
              <a:buChar char="ü"/>
            </a:pPr>
            <a:r>
              <a:rPr lang="zh-CN" altLang="en-US" sz="3200" b="1" dirty="0">
                <a:solidFill>
                  <a:schemeClr val="tx1">
                    <a:lumMod val="65000"/>
                    <a:lumOff val="35000"/>
                  </a:schemeClr>
                </a:solidFill>
              </a:rPr>
              <a:t>考核制</a:t>
            </a:r>
            <a:endParaRPr lang="en-US" altLang="zh-CN" sz="3200" b="1" dirty="0">
              <a:solidFill>
                <a:schemeClr val="tx1">
                  <a:lumMod val="65000"/>
                  <a:lumOff val="35000"/>
                </a:schemeClr>
              </a:solidFill>
            </a:endParaRPr>
          </a:p>
          <a:p>
            <a:pPr>
              <a:lnSpc>
                <a:spcPct val="250000"/>
              </a:lnSpc>
            </a:pPr>
            <a:r>
              <a:rPr lang="en-US" altLang="zh-CN" sz="2800" b="1" dirty="0">
                <a:solidFill>
                  <a:schemeClr val="tx1">
                    <a:lumMod val="65000"/>
                    <a:lumOff val="35000"/>
                  </a:schemeClr>
                </a:solidFill>
              </a:rPr>
              <a:t>	</a:t>
            </a:r>
            <a:r>
              <a:rPr lang="en-US" altLang="zh-CN" sz="2800" b="1" dirty="0">
                <a:solidFill>
                  <a:srgbClr val="C00000"/>
                </a:solidFill>
                <a:latin typeface="仿宋" panose="02010609060101010101" pitchFamily="49" charset="-122"/>
                <a:ea typeface="仿宋" panose="02010609060101010101" pitchFamily="49" charset="-122"/>
              </a:rPr>
              <a:t>——</a:t>
            </a:r>
            <a:r>
              <a:rPr lang="zh-CN" altLang="en-US" sz="2800" b="1" dirty="0">
                <a:solidFill>
                  <a:srgbClr val="C00000"/>
                </a:solidFill>
                <a:latin typeface="仿宋" panose="02010609060101010101" pitchFamily="49" charset="-122"/>
                <a:ea typeface="仿宋" panose="02010609060101010101" pitchFamily="49" charset="-122"/>
              </a:rPr>
              <a:t>课堂表现</a:t>
            </a:r>
            <a:r>
              <a:rPr lang="en-US" altLang="zh-CN" sz="2800" b="1" dirty="0">
                <a:solidFill>
                  <a:srgbClr val="C00000"/>
                </a:solidFill>
                <a:latin typeface="仿宋" panose="02010609060101010101" pitchFamily="49" charset="-122"/>
                <a:ea typeface="仿宋" panose="02010609060101010101" pitchFamily="49" charset="-122"/>
              </a:rPr>
              <a:t>10%</a:t>
            </a:r>
            <a:r>
              <a:rPr lang="zh-CN" altLang="en-US" sz="2800" b="1" dirty="0">
                <a:solidFill>
                  <a:srgbClr val="C00000"/>
                </a:solidFill>
                <a:latin typeface="仿宋" panose="02010609060101010101" pitchFamily="49" charset="-122"/>
                <a:ea typeface="仿宋" panose="02010609060101010101" pitchFamily="49" charset="-122"/>
              </a:rPr>
              <a:t>，小实验</a:t>
            </a:r>
            <a:r>
              <a:rPr lang="en-US" altLang="zh-CN" sz="2800" b="1" dirty="0">
                <a:solidFill>
                  <a:srgbClr val="C00000"/>
                </a:solidFill>
                <a:latin typeface="仿宋" panose="02010609060101010101" pitchFamily="49" charset="-122"/>
                <a:ea typeface="仿宋" panose="02010609060101010101" pitchFamily="49" charset="-122"/>
              </a:rPr>
              <a:t>60%</a:t>
            </a:r>
            <a:r>
              <a:rPr lang="zh-CN" altLang="en-US" sz="2800" b="1" dirty="0">
                <a:solidFill>
                  <a:srgbClr val="C00000"/>
                </a:solidFill>
                <a:latin typeface="仿宋" panose="02010609060101010101" pitchFamily="49" charset="-122"/>
                <a:ea typeface="仿宋" panose="02010609060101010101" pitchFamily="49" charset="-122"/>
              </a:rPr>
              <a:t>，大实验</a:t>
            </a:r>
            <a:r>
              <a:rPr lang="en-US" altLang="zh-CN" sz="2800" b="1" dirty="0">
                <a:solidFill>
                  <a:srgbClr val="C00000"/>
                </a:solidFill>
                <a:latin typeface="仿宋" panose="02010609060101010101" pitchFamily="49" charset="-122"/>
                <a:ea typeface="仿宋" panose="02010609060101010101" pitchFamily="49" charset="-122"/>
              </a:rPr>
              <a:t>30%</a:t>
            </a:r>
            <a:endParaRPr lang="zh-CN" altLang="en-US" sz="2800" b="1" dirty="0">
              <a:solidFill>
                <a:srgbClr val="C00000"/>
              </a:solidFill>
              <a:latin typeface="仿宋" panose="02010609060101010101" pitchFamily="49" charset="-122"/>
              <a:ea typeface="仿宋"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94944" y="336874"/>
            <a:ext cx="10719881" cy="5569585"/>
          </a:xfrm>
          <a:prstGeom prst="rect">
            <a:avLst/>
          </a:prstGeom>
          <a:noFill/>
        </p:spPr>
        <p:txBody>
          <a:bodyPr wrap="square" rtlCol="0">
            <a:spAutoFit/>
          </a:bodyPr>
          <a:lstStyle/>
          <a:p>
            <a:pPr>
              <a:lnSpc>
                <a:spcPct val="250000"/>
              </a:lnSpc>
            </a:pPr>
            <a:r>
              <a:rPr lang="zh-CN" altLang="en-US" sz="2800" b="1" dirty="0">
                <a:solidFill>
                  <a:schemeClr val="tx1">
                    <a:lumMod val="65000"/>
                    <a:lumOff val="35000"/>
                  </a:schemeClr>
                </a:solidFill>
              </a:rPr>
              <a:t>小实验 </a:t>
            </a:r>
            <a:r>
              <a:rPr lang="en-US" altLang="zh-CN" sz="2800" b="1" dirty="0">
                <a:solidFill>
                  <a:schemeClr val="tx1">
                    <a:lumMod val="65000"/>
                    <a:lumOff val="35000"/>
                  </a:schemeClr>
                </a:solidFill>
              </a:rPr>
              <a:t>* 6</a:t>
            </a:r>
            <a:endParaRPr lang="en-US" altLang="zh-CN" sz="2800" b="1" dirty="0">
              <a:solidFill>
                <a:schemeClr val="tx1">
                  <a:lumMod val="65000"/>
                  <a:lumOff val="35000"/>
                </a:schemeClr>
              </a:solidFill>
            </a:endParaRPr>
          </a:p>
          <a:p>
            <a:pPr marL="342900" indent="-342900">
              <a:lnSpc>
                <a:spcPct val="150000"/>
              </a:lnSpc>
              <a:buFont typeface="Arial" panose="020B0604020202020204" pitchFamily="34" charset="0"/>
              <a:buChar char="•"/>
            </a:pPr>
            <a:r>
              <a:rPr lang="zh-CN" altLang="en-US" sz="2400" b="1" dirty="0">
                <a:solidFill>
                  <a:srgbClr val="C00000"/>
                </a:solidFill>
                <a:latin typeface="仿宋" panose="02010609060101010101" pitchFamily="49" charset="-122"/>
                <a:ea typeface="仿宋" panose="02010609060101010101" pitchFamily="49" charset="-122"/>
              </a:rPr>
              <a:t>个人独立</a:t>
            </a: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完成</a:t>
            </a:r>
            <a:endParaRPr lang="en-US" altLang="zh-CN" sz="2400" b="1" dirty="0">
              <a:solidFill>
                <a:schemeClr val="tx1">
                  <a:lumMod val="65000"/>
                  <a:lumOff val="35000"/>
                </a:schemeClr>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完成时间</a:t>
            </a:r>
            <a:r>
              <a:rPr lang="en-US" altLang="zh-CN" sz="2400" b="1" dirty="0">
                <a:solidFill>
                  <a:schemeClr val="tx1">
                    <a:lumMod val="65000"/>
                    <a:lumOff val="35000"/>
                  </a:schemeClr>
                </a:solidFill>
                <a:latin typeface="仿宋" panose="02010609060101010101" pitchFamily="49" charset="-122"/>
                <a:ea typeface="仿宋" panose="02010609060101010101" pitchFamily="49" charset="-122"/>
              </a:rPr>
              <a:t>2</a:t>
            </a: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周</a:t>
            </a:r>
            <a:endParaRPr lang="zh-CN" altLang="en-US" sz="2400" b="1" dirty="0">
              <a:solidFill>
                <a:schemeClr val="tx1">
                  <a:lumMod val="65000"/>
                  <a:lumOff val="35000"/>
                </a:schemeClr>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实验报告及</a:t>
            </a: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代码（如有）</a:t>
            </a:r>
            <a:endParaRPr lang="en-US" altLang="zh-CN" sz="2400" b="1" dirty="0">
              <a:solidFill>
                <a:schemeClr val="tx1">
                  <a:lumMod val="65000"/>
                  <a:lumOff val="35000"/>
                </a:schemeClr>
              </a:solidFill>
              <a:latin typeface="仿宋" panose="02010609060101010101" pitchFamily="49" charset="-122"/>
              <a:ea typeface="仿宋" panose="02010609060101010101" pitchFamily="49" charset="-122"/>
            </a:endParaRPr>
          </a:p>
          <a:p>
            <a:pPr>
              <a:lnSpc>
                <a:spcPct val="250000"/>
              </a:lnSpc>
            </a:pPr>
            <a:r>
              <a:rPr lang="zh-CN" altLang="en-US" sz="2800" b="1" dirty="0">
                <a:solidFill>
                  <a:schemeClr val="tx1">
                    <a:lumMod val="65000"/>
                    <a:lumOff val="35000"/>
                  </a:schemeClr>
                </a:solidFill>
              </a:rPr>
              <a:t>大实验 </a:t>
            </a:r>
            <a:r>
              <a:rPr lang="en-US" altLang="zh-CN" sz="2800" b="1" dirty="0">
                <a:solidFill>
                  <a:schemeClr val="tx1">
                    <a:lumMod val="65000"/>
                    <a:lumOff val="35000"/>
                  </a:schemeClr>
                </a:solidFill>
              </a:rPr>
              <a:t>* 1</a:t>
            </a:r>
            <a:endParaRPr lang="en-US" altLang="zh-CN" sz="2800" b="1" dirty="0">
              <a:solidFill>
                <a:schemeClr val="tx1">
                  <a:lumMod val="65000"/>
                  <a:lumOff val="35000"/>
                </a:schemeClr>
              </a:solidFill>
            </a:endParaRPr>
          </a:p>
          <a:p>
            <a:pPr marL="342900" indent="-342900">
              <a:lnSpc>
                <a:spcPct val="150000"/>
              </a:lnSpc>
              <a:buFont typeface="Arial" panose="020B0604020202020204" pitchFamily="34" charset="0"/>
              <a:buChar char="•"/>
            </a:pPr>
            <a:r>
              <a:rPr lang="zh-CN" altLang="en-US" sz="2400" b="1" dirty="0">
                <a:solidFill>
                  <a:srgbClr val="C00000"/>
                </a:solidFill>
                <a:latin typeface="仿宋" panose="02010609060101010101" pitchFamily="49" charset="-122"/>
                <a:ea typeface="仿宋" panose="02010609060101010101" pitchFamily="49" charset="-122"/>
              </a:rPr>
              <a:t>小组合作</a:t>
            </a: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完成（</a:t>
            </a:r>
            <a:r>
              <a:rPr lang="en-US" altLang="zh-CN" sz="2400" b="1" dirty="0">
                <a:solidFill>
                  <a:schemeClr val="tx1">
                    <a:lumMod val="65000"/>
                    <a:lumOff val="35000"/>
                  </a:schemeClr>
                </a:solidFill>
                <a:latin typeface="仿宋" panose="02010609060101010101" pitchFamily="49" charset="-122"/>
                <a:ea typeface="仿宋" panose="02010609060101010101" pitchFamily="49" charset="-122"/>
              </a:rPr>
              <a:t>2-3</a:t>
            </a: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人）</a:t>
            </a:r>
            <a:endParaRPr lang="en-US" altLang="zh-CN" sz="2400" b="1" dirty="0">
              <a:solidFill>
                <a:schemeClr val="tx1">
                  <a:lumMod val="65000"/>
                  <a:lumOff val="35000"/>
                </a:schemeClr>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完成时间</a:t>
            </a:r>
            <a:r>
              <a:rPr lang="en-US" altLang="zh-CN" sz="2400" b="1" dirty="0">
                <a:solidFill>
                  <a:schemeClr val="tx1">
                    <a:lumMod val="65000"/>
                    <a:lumOff val="35000"/>
                  </a:schemeClr>
                </a:solidFill>
                <a:latin typeface="仿宋" panose="02010609060101010101" pitchFamily="49" charset="-122"/>
                <a:ea typeface="仿宋" panose="02010609060101010101" pitchFamily="49" charset="-122"/>
              </a:rPr>
              <a:t>4</a:t>
            </a: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周</a:t>
            </a:r>
            <a:endParaRPr lang="en-US" altLang="zh-CN" sz="2400" b="1" dirty="0">
              <a:solidFill>
                <a:schemeClr val="tx1">
                  <a:lumMod val="65000"/>
                  <a:lumOff val="35000"/>
                </a:schemeClr>
              </a:solidFill>
              <a:latin typeface="仿宋" panose="02010609060101010101" pitchFamily="49" charset="-122"/>
              <a:ea typeface="仿宋" panose="02010609060101010101" pitchFamily="49" charset="-122"/>
            </a:endParaRPr>
          </a:p>
          <a:p>
            <a:pPr marL="342900" indent="-342900">
              <a:lnSpc>
                <a:spcPct val="150000"/>
              </a:lnSpc>
              <a:buFont typeface="Arial" panose="020B0604020202020204" pitchFamily="34" charset="0"/>
              <a:buChar char="•"/>
            </a:pP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中期汇报</a:t>
            </a:r>
            <a:r>
              <a:rPr lang="en-US" altLang="zh-CN" sz="2400" b="1" dirty="0">
                <a:solidFill>
                  <a:schemeClr val="tx1">
                    <a:lumMod val="65000"/>
                    <a:lumOff val="35000"/>
                  </a:schemeClr>
                </a:solidFill>
                <a:latin typeface="仿宋" panose="02010609060101010101" pitchFamily="49" charset="-122"/>
                <a:ea typeface="仿宋" panose="02010609060101010101" pitchFamily="49" charset="-122"/>
              </a:rPr>
              <a:t>+</a:t>
            </a: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成果展示</a:t>
            </a:r>
            <a:r>
              <a:rPr lang="en-US" altLang="zh-CN" sz="2400" b="1" dirty="0">
                <a:solidFill>
                  <a:schemeClr val="tx1">
                    <a:lumMod val="65000"/>
                    <a:lumOff val="35000"/>
                  </a:schemeClr>
                </a:solidFill>
                <a:latin typeface="仿宋" panose="02010609060101010101" pitchFamily="49" charset="-122"/>
                <a:ea typeface="仿宋" panose="02010609060101010101" pitchFamily="49" charset="-122"/>
              </a:rPr>
              <a:t>+</a:t>
            </a:r>
            <a:r>
              <a:rPr lang="zh-CN" altLang="en-US" sz="2400" b="1" dirty="0">
                <a:solidFill>
                  <a:schemeClr val="tx1">
                    <a:lumMod val="65000"/>
                    <a:lumOff val="35000"/>
                  </a:schemeClr>
                </a:solidFill>
                <a:latin typeface="仿宋" panose="02010609060101010101" pitchFamily="49" charset="-122"/>
                <a:ea typeface="仿宋" panose="02010609060101010101" pitchFamily="49" charset="-122"/>
              </a:rPr>
              <a:t>实验报告及代码</a:t>
            </a:r>
            <a:r>
              <a:rPr lang="zh-CN" altLang="en-US" sz="2400" b="1" dirty="0">
                <a:solidFill>
                  <a:srgbClr val="C00000"/>
                </a:solidFill>
                <a:latin typeface="仿宋" panose="02010609060101010101" pitchFamily="49" charset="-122"/>
                <a:ea typeface="仿宋" panose="02010609060101010101" pitchFamily="49" charset="-122"/>
              </a:rPr>
              <a:t>（每人提交一份）</a:t>
            </a:r>
            <a:endParaRPr lang="en-US" altLang="zh-CN" sz="2400" b="1" dirty="0">
              <a:solidFill>
                <a:srgbClr val="C00000"/>
              </a:solidFill>
              <a:latin typeface="仿宋" panose="02010609060101010101" pitchFamily="49" charset="-122"/>
              <a:ea typeface="仿宋" panose="02010609060101010101" pitchFamily="49" charset="-122"/>
            </a:endParaRPr>
          </a:p>
        </p:txBody>
      </p:sp>
      <p:sp>
        <p:nvSpPr>
          <p:cNvPr id="3" name="文本框 2"/>
          <p:cNvSpPr txBox="1"/>
          <p:nvPr/>
        </p:nvSpPr>
        <p:spPr>
          <a:xfrm>
            <a:off x="6027906" y="2969566"/>
            <a:ext cx="6040876" cy="1866858"/>
          </a:xfrm>
          <a:prstGeom prst="rect">
            <a:avLst/>
          </a:prstGeom>
          <a:noFill/>
        </p:spPr>
        <p:txBody>
          <a:bodyPr wrap="square" rtlCol="0">
            <a:spAutoFit/>
          </a:bodyPr>
          <a:lstStyle/>
          <a:p>
            <a:pPr>
              <a:lnSpc>
                <a:spcPct val="150000"/>
              </a:lnSpc>
            </a:pPr>
            <a:r>
              <a:rPr lang="zh-CN" altLang="en-US" sz="2000" b="1" dirty="0">
                <a:solidFill>
                  <a:schemeClr val="tx2">
                    <a:lumMod val="75000"/>
                  </a:schemeClr>
                </a:solidFill>
                <a:latin typeface="仿宋" panose="02010609060101010101" pitchFamily="49" charset="-122"/>
                <a:ea typeface="仿宋" panose="02010609060101010101" pitchFamily="49" charset="-122"/>
              </a:rPr>
              <a:t>①从案例库中选择课题</a:t>
            </a:r>
            <a:endParaRPr lang="en-US" altLang="zh-CN" sz="2000" b="1" dirty="0">
              <a:solidFill>
                <a:schemeClr val="tx2">
                  <a:lumMod val="75000"/>
                </a:schemeClr>
              </a:solidFill>
              <a:latin typeface="仿宋" panose="02010609060101010101" pitchFamily="49" charset="-122"/>
              <a:ea typeface="仿宋" panose="02010609060101010101" pitchFamily="49" charset="-122"/>
            </a:endParaRPr>
          </a:p>
          <a:p>
            <a:pPr>
              <a:lnSpc>
                <a:spcPct val="150000"/>
              </a:lnSpc>
            </a:pPr>
            <a:r>
              <a:rPr lang="zh-CN" altLang="en-US" sz="2000" b="1" dirty="0">
                <a:solidFill>
                  <a:schemeClr val="tx2">
                    <a:lumMod val="75000"/>
                  </a:schemeClr>
                </a:solidFill>
                <a:latin typeface="仿宋" panose="02010609060101010101" pitchFamily="49" charset="-122"/>
                <a:ea typeface="仿宋" panose="02010609060101010101" pitchFamily="49" charset="-122"/>
              </a:rPr>
              <a:t>②自行选取其他感兴趣的课题</a:t>
            </a:r>
            <a:endParaRPr lang="en-US" altLang="zh-CN" sz="2000" b="1" dirty="0">
              <a:solidFill>
                <a:schemeClr val="tx2">
                  <a:lumMod val="75000"/>
                </a:schemeClr>
              </a:solidFill>
              <a:latin typeface="仿宋" panose="02010609060101010101" pitchFamily="49" charset="-122"/>
              <a:ea typeface="仿宋" panose="02010609060101010101" pitchFamily="49" charset="-122"/>
            </a:endParaRPr>
          </a:p>
          <a:p>
            <a:pPr>
              <a:lnSpc>
                <a:spcPct val="150000"/>
              </a:lnSpc>
            </a:pPr>
            <a:r>
              <a:rPr lang="zh-CN" altLang="en-US" sz="2000" b="1" dirty="0">
                <a:solidFill>
                  <a:schemeClr val="tx2">
                    <a:lumMod val="75000"/>
                  </a:schemeClr>
                </a:solidFill>
                <a:latin typeface="仿宋" panose="02010609060101010101" pitchFamily="49" charset="-122"/>
                <a:ea typeface="仿宋" panose="02010609060101010101" pitchFamily="49" charset="-122"/>
              </a:rPr>
              <a:t>③国创、百项、其他竞赛作品</a:t>
            </a:r>
            <a:r>
              <a:rPr lang="en-US" altLang="zh-CN" sz="2000" b="1" dirty="0">
                <a:solidFill>
                  <a:schemeClr val="tx2">
                    <a:lumMod val="75000"/>
                  </a:schemeClr>
                </a:solidFill>
                <a:latin typeface="仿宋" panose="02010609060101010101" pitchFamily="49" charset="-122"/>
                <a:ea typeface="仿宋" panose="02010609060101010101" pitchFamily="49" charset="-122"/>
              </a:rPr>
              <a:t>……</a:t>
            </a:r>
            <a:endParaRPr lang="en-US" altLang="zh-CN" sz="2000" b="1" dirty="0">
              <a:solidFill>
                <a:schemeClr val="tx2">
                  <a:lumMod val="75000"/>
                </a:schemeClr>
              </a:solidFill>
              <a:latin typeface="仿宋" panose="02010609060101010101" pitchFamily="49" charset="-122"/>
              <a:ea typeface="仿宋" panose="02010609060101010101" pitchFamily="49" charset="-122"/>
            </a:endParaRPr>
          </a:p>
          <a:p>
            <a:pPr>
              <a:lnSpc>
                <a:spcPct val="150000"/>
              </a:lnSpc>
            </a:pPr>
            <a:r>
              <a:rPr lang="zh-CN" altLang="en-US" sz="2000" b="1" dirty="0">
                <a:solidFill>
                  <a:schemeClr val="tx2">
                    <a:lumMod val="75000"/>
                  </a:schemeClr>
                </a:solidFill>
                <a:latin typeface="仿宋" panose="02010609060101010101" pitchFamily="49" charset="-122"/>
                <a:ea typeface="仿宋" panose="02010609060101010101" pitchFamily="49" charset="-122"/>
              </a:rPr>
              <a:t>（符合主题，且完成度要求高）</a:t>
            </a:r>
            <a:endParaRPr lang="zh-CN" altLang="en-US" sz="2000" b="1" dirty="0">
              <a:solidFill>
                <a:schemeClr val="tx2">
                  <a:lumMod val="75000"/>
                </a:schemeClr>
              </a:solidFill>
              <a:latin typeface="仿宋" panose="02010609060101010101" pitchFamily="49" charset="-122"/>
              <a:ea typeface="仿宋" panose="02010609060101010101" pitchFamily="49" charset="-122"/>
            </a:endParaRPr>
          </a:p>
        </p:txBody>
      </p:sp>
      <p:sp>
        <p:nvSpPr>
          <p:cNvPr id="4" name="箭头: 右 3"/>
          <p:cNvSpPr/>
          <p:nvPr/>
        </p:nvSpPr>
        <p:spPr>
          <a:xfrm>
            <a:off x="3492229" y="3669531"/>
            <a:ext cx="2081719" cy="233464"/>
          </a:xfrm>
          <a:prstGeom prst="rightArrow">
            <a:avLst/>
          </a:prstGeom>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14"/>
          <p:cNvSpPr txBox="1"/>
          <p:nvPr/>
        </p:nvSpPr>
        <p:spPr>
          <a:xfrm>
            <a:off x="1517396" y="1753802"/>
            <a:ext cx="9157208" cy="2256054"/>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60000"/>
              </a:lnSpc>
            </a:pPr>
            <a:r>
              <a:rPr lang="zh-CN" altLang="en-US" sz="4800" dirty="0">
                <a:effectLst>
                  <a:outerShdw blurRad="38100" dist="38100" dir="2700000" algn="tl">
                    <a:srgbClr val="000000">
                      <a:alpha val="43137"/>
                    </a:srgbClr>
                  </a:outerShdw>
                </a:effectLst>
                <a:ea typeface="微软雅黑" panose="020B0503020204020204" pitchFamily="34" charset="-122"/>
              </a:rPr>
              <a:t>私有</a:t>
            </a:r>
            <a:r>
              <a:rPr lang="en-US" altLang="zh-CN" sz="4800" dirty="0">
                <a:effectLst>
                  <a:outerShdw blurRad="38100" dist="38100" dir="2700000" algn="tl">
                    <a:srgbClr val="000000">
                      <a:alpha val="43137"/>
                    </a:srgbClr>
                  </a:outerShdw>
                </a:effectLst>
                <a:ea typeface="微软雅黑" panose="020B0503020204020204" pitchFamily="34" charset="-122"/>
              </a:rPr>
              <a:t>CA</a:t>
            </a:r>
            <a:r>
              <a:rPr lang="zh-CN" altLang="en-US" sz="4800" dirty="0">
                <a:effectLst>
                  <a:outerShdw blurRad="38100" dist="38100" dir="2700000" algn="tl">
                    <a:srgbClr val="000000">
                      <a:alpha val="43137"/>
                    </a:srgbClr>
                  </a:outerShdw>
                </a:effectLst>
                <a:ea typeface="微软雅黑" panose="020B0503020204020204" pitchFamily="34" charset="-122"/>
              </a:rPr>
              <a:t>证书签发的简单实现</a:t>
            </a:r>
            <a:endParaRPr lang="zh-CN" altLang="en-US" sz="4800" dirty="0">
              <a:effectLst>
                <a:outerShdw blurRad="38100" dist="38100" dir="2700000" algn="tl">
                  <a:srgbClr val="000000">
                    <a:alpha val="43137"/>
                  </a:srgbClr>
                </a:outerShdw>
              </a:effectLst>
              <a:ea typeface="微软雅黑" panose="020B0503020204020204" pitchFamily="34" charset="-122"/>
            </a:endParaRPr>
          </a:p>
        </p:txBody>
      </p:sp>
      <p:sp>
        <p:nvSpPr>
          <p:cNvPr id="22" name="内容占位符 14"/>
          <p:cNvSpPr txBox="1"/>
          <p:nvPr/>
        </p:nvSpPr>
        <p:spPr>
          <a:xfrm>
            <a:off x="2897718" y="4116665"/>
            <a:ext cx="6472255" cy="1043362"/>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30000"/>
              </a:lnSpc>
            </a:pPr>
            <a:r>
              <a:rPr lang="en-US" altLang="zh-CN" sz="2000" dirty="0">
                <a:ea typeface="微软雅黑" panose="020B0503020204020204" pitchFamily="34" charset="-122"/>
              </a:rPr>
              <a:t>2026</a:t>
            </a:r>
            <a:r>
              <a:rPr lang="zh-CN" altLang="en-US" sz="2000" dirty="0">
                <a:ea typeface="微软雅黑" panose="020B0503020204020204" pitchFamily="34" charset="-122"/>
              </a:rPr>
              <a:t>年</a:t>
            </a:r>
            <a:r>
              <a:rPr lang="en-US" altLang="zh-CN" sz="2000" dirty="0">
                <a:ea typeface="微软雅黑" panose="020B0503020204020204" pitchFamily="34" charset="-122"/>
              </a:rPr>
              <a:t>2</a:t>
            </a:r>
            <a:r>
              <a:rPr lang="zh-CN" altLang="en-US" sz="2000" dirty="0">
                <a:ea typeface="微软雅黑" panose="020B0503020204020204" pitchFamily="34" charset="-122"/>
              </a:rPr>
              <a:t>月</a:t>
            </a:r>
            <a:endParaRPr lang="zh-CN" altLang="en-US" sz="2000" dirty="0">
              <a:ea typeface="微软雅黑" panose="020B0503020204020204" pitchFamily="34" charset="-122"/>
            </a:endParaRPr>
          </a:p>
        </p:txBody>
      </p:sp>
      <p:grpSp>
        <p:nvGrpSpPr>
          <p:cNvPr id="2" name="组合 1"/>
          <p:cNvGrpSpPr/>
          <p:nvPr/>
        </p:nvGrpSpPr>
        <p:grpSpPr>
          <a:xfrm>
            <a:off x="8210295" y="3395010"/>
            <a:ext cx="1661328" cy="324811"/>
            <a:chOff x="7670799" y="3233111"/>
            <a:chExt cx="1661328" cy="324811"/>
          </a:xfrm>
        </p:grpSpPr>
        <p:cxnSp>
          <p:nvCxnSpPr>
            <p:cNvPr id="28" name="直接连接符 27"/>
            <p:cNvCxnSpPr/>
            <p:nvPr/>
          </p:nvCxnSpPr>
          <p:spPr>
            <a:xfrm>
              <a:off x="8199455" y="3410911"/>
              <a:ext cx="1003300" cy="0"/>
            </a:xfrm>
            <a:prstGeom prst="line">
              <a:avLst/>
            </a:prstGeom>
            <a:ln w="76200">
              <a:gradFill>
                <a:gsLst>
                  <a:gs pos="0">
                    <a:schemeClr val="accent1">
                      <a:alpha val="0"/>
                    </a:schemeClr>
                  </a:gs>
                  <a:gs pos="100000">
                    <a:schemeClr val="accent1"/>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328827" y="3557922"/>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7670799" y="3233111"/>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gr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990156" y="586122"/>
            <a:ext cx="863600" cy="863600"/>
          </a:xfrm>
          <a:prstGeom prst="rect">
            <a:avLst/>
          </a:prstGeom>
        </p:spPr>
      </p:pic>
      <p:grpSp>
        <p:nvGrpSpPr>
          <p:cNvPr id="3" name="组合 2"/>
          <p:cNvGrpSpPr/>
          <p:nvPr/>
        </p:nvGrpSpPr>
        <p:grpSpPr>
          <a:xfrm>
            <a:off x="1338244" y="1287316"/>
            <a:ext cx="1661328" cy="324811"/>
            <a:chOff x="2201844" y="1429711"/>
            <a:chExt cx="1661328" cy="324811"/>
          </a:xfrm>
        </p:grpSpPr>
        <p:cxnSp>
          <p:nvCxnSpPr>
            <p:cNvPr id="24" name="直接连接符 23"/>
            <p:cNvCxnSpPr/>
            <p:nvPr/>
          </p:nvCxnSpPr>
          <p:spPr>
            <a:xfrm>
              <a:off x="2730500" y="1607511"/>
              <a:ext cx="1003300" cy="0"/>
            </a:xfrm>
            <a:prstGeom prst="line">
              <a:avLst/>
            </a:prstGeom>
            <a:ln w="76200">
              <a:gradFill>
                <a:gsLst>
                  <a:gs pos="0">
                    <a:schemeClr val="accent1">
                      <a:alpha val="0"/>
                    </a:schemeClr>
                  </a:gs>
                  <a:gs pos="100000">
                    <a:schemeClr val="accent1"/>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859872" y="1754522"/>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2201844" y="1429711"/>
              <a:ext cx="1003300" cy="0"/>
            </a:xfrm>
            <a:prstGeom prst="line">
              <a:avLst/>
            </a:prstGeom>
            <a:ln w="57150">
              <a:gradFill>
                <a:gsLst>
                  <a:gs pos="0">
                    <a:schemeClr val="accent3">
                      <a:lumMod val="20000"/>
                      <a:lumOff val="80000"/>
                      <a:alpha val="0"/>
                    </a:schemeClr>
                  </a:gs>
                  <a:gs pos="100000">
                    <a:schemeClr val="accent2"/>
                  </a:gs>
                </a:gsLst>
                <a:lin ang="0" scaled="0"/>
              </a:gra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14"/>
          <p:cNvSpPr txBox="1"/>
          <p:nvPr/>
        </p:nvSpPr>
        <p:spPr>
          <a:xfrm>
            <a:off x="6187271" y="2726062"/>
            <a:ext cx="4635499" cy="809946"/>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4400" dirty="0">
                <a:ea typeface="微软雅黑" panose="020B0503020204020204" pitchFamily="34" charset="-122"/>
              </a:rPr>
              <a:t>基 本 概 念</a:t>
            </a:r>
            <a:endParaRPr lang="zh-CN" altLang="en-US" sz="4400" dirty="0">
              <a:ea typeface="微软雅黑" panose="020B0503020204020204" pitchFamily="34" charset="-122"/>
            </a:endParaRPr>
          </a:p>
        </p:txBody>
      </p:sp>
      <p:sp>
        <p:nvSpPr>
          <p:cNvPr id="8" name="文本框 7"/>
          <p:cNvSpPr txBox="1"/>
          <p:nvPr/>
        </p:nvSpPr>
        <p:spPr>
          <a:xfrm>
            <a:off x="4449017" y="1947721"/>
            <a:ext cx="1549400" cy="2215991"/>
          </a:xfrm>
          <a:prstGeom prst="rect">
            <a:avLst/>
          </a:prstGeom>
          <a:noFill/>
        </p:spPr>
        <p:txBody>
          <a:bodyPr wrap="square" rtlCol="0">
            <a:spAutoFit/>
          </a:bodyPr>
          <a:lstStyle/>
          <a:p>
            <a:r>
              <a:rPr lang="en-US" altLang="zh-CN" sz="13800" dirty="0">
                <a:solidFill>
                  <a:schemeClr val="accent1"/>
                </a:solidFill>
                <a:ea typeface="微软雅黑" panose="020B0503020204020204" pitchFamily="34" charset="-122"/>
              </a:rPr>
              <a:t>0</a:t>
            </a:r>
            <a:endParaRPr lang="zh-CN" altLang="en-US" sz="13800" dirty="0">
              <a:solidFill>
                <a:schemeClr val="accent1"/>
              </a:solidFill>
              <a:ea typeface="微软雅黑" panose="020B0503020204020204" pitchFamily="34" charset="-122"/>
            </a:endParaRPr>
          </a:p>
        </p:txBody>
      </p:sp>
      <p:sp>
        <p:nvSpPr>
          <p:cNvPr id="9" name="文本框 8"/>
          <p:cNvSpPr txBox="1"/>
          <p:nvPr/>
        </p:nvSpPr>
        <p:spPr>
          <a:xfrm>
            <a:off x="5403592" y="1964005"/>
            <a:ext cx="1549400" cy="2215991"/>
          </a:xfrm>
          <a:prstGeom prst="rect">
            <a:avLst/>
          </a:prstGeom>
          <a:noFill/>
        </p:spPr>
        <p:txBody>
          <a:bodyPr wrap="square" rtlCol="0">
            <a:spAutoFit/>
          </a:bodyPr>
          <a:lstStyle/>
          <a:p>
            <a:r>
              <a:rPr lang="en-US" altLang="zh-CN" sz="13800" dirty="0">
                <a:solidFill>
                  <a:schemeClr val="accent1"/>
                </a:solidFill>
                <a:ea typeface="微软雅黑" panose="020B0503020204020204" pitchFamily="34" charset="-122"/>
              </a:rPr>
              <a:t>1</a:t>
            </a:r>
            <a:endParaRPr lang="zh-CN" altLang="en-US" sz="13800" dirty="0">
              <a:solidFill>
                <a:schemeClr val="accent1"/>
              </a:solidFill>
              <a:ea typeface="微软雅黑" panose="020B0503020204020204" pitchFamily="34" charset="-122"/>
            </a:endParaRPr>
          </a:p>
        </p:txBody>
      </p:sp>
      <p:cxnSp>
        <p:nvCxnSpPr>
          <p:cNvPr id="10" name="直接连接符 9"/>
          <p:cNvCxnSpPr/>
          <p:nvPr/>
        </p:nvCxnSpPr>
        <p:spPr>
          <a:xfrm>
            <a:off x="6187271" y="3493007"/>
            <a:ext cx="4696628" cy="0"/>
          </a:xfrm>
          <a:prstGeom prst="line">
            <a:avLst/>
          </a:prstGeom>
          <a:ln w="38100">
            <a:solidFill>
              <a:srgbClr val="7E0C6E">
                <a:alpha val="19000"/>
              </a:srgbClr>
            </a:solidFill>
          </a:ln>
        </p:spPr>
        <p:style>
          <a:lnRef idx="1">
            <a:schemeClr val="accent1"/>
          </a:lnRef>
          <a:fillRef idx="0">
            <a:schemeClr val="accent1"/>
          </a:fillRef>
          <a:effectRef idx="0">
            <a:schemeClr val="accent1"/>
          </a:effectRef>
          <a:fontRef idx="minor">
            <a:schemeClr val="tx1"/>
          </a:fontRef>
        </p:style>
      </p:cxnSp>
      <p:sp>
        <p:nvSpPr>
          <p:cNvPr id="12" name="内容占位符 14"/>
          <p:cNvSpPr txBox="1"/>
          <p:nvPr/>
        </p:nvSpPr>
        <p:spPr>
          <a:xfrm>
            <a:off x="6773117" y="3633518"/>
            <a:ext cx="3629886" cy="43268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dist">
              <a:lnSpc>
                <a:spcPct val="100000"/>
              </a:lnSpc>
            </a:pPr>
            <a:r>
              <a:rPr lang="en-US" altLang="zh-CN" sz="2000" b="0" dirty="0">
                <a:solidFill>
                  <a:schemeClr val="bg1">
                    <a:lumMod val="75000"/>
                    <a:alpha val="55000"/>
                  </a:schemeClr>
                </a:solidFill>
                <a:ea typeface="微软雅黑" panose="020B0503020204020204" pitchFamily="34" charset="-122"/>
              </a:rPr>
              <a:t>PKI</a:t>
            </a:r>
            <a:r>
              <a:rPr lang="zh-CN" altLang="en-US" sz="2000" b="0" dirty="0">
                <a:solidFill>
                  <a:schemeClr val="bg1">
                    <a:lumMod val="75000"/>
                    <a:alpha val="55000"/>
                  </a:schemeClr>
                </a:solidFill>
                <a:ea typeface="微软雅黑" panose="020B0503020204020204" pitchFamily="34" charset="-122"/>
              </a:rPr>
              <a:t>、</a:t>
            </a:r>
            <a:r>
              <a:rPr lang="en-US" altLang="zh-CN" sz="2000" b="0" dirty="0">
                <a:solidFill>
                  <a:schemeClr val="bg1">
                    <a:lumMod val="75000"/>
                    <a:alpha val="55000"/>
                  </a:schemeClr>
                </a:solidFill>
                <a:ea typeface="微软雅黑" panose="020B0503020204020204" pitchFamily="34" charset="-122"/>
              </a:rPr>
              <a:t>CA</a:t>
            </a:r>
            <a:r>
              <a:rPr lang="zh-CN" altLang="en-US" sz="2000" b="0" dirty="0">
                <a:solidFill>
                  <a:schemeClr val="bg1">
                    <a:lumMod val="75000"/>
                    <a:alpha val="55000"/>
                  </a:schemeClr>
                </a:solidFill>
                <a:ea typeface="微软雅黑" panose="020B0503020204020204" pitchFamily="34" charset="-122"/>
              </a:rPr>
              <a:t>、公钥证书</a:t>
            </a:r>
            <a:endParaRPr lang="zh-CN" altLang="en-US" sz="2000" b="0" dirty="0">
              <a:solidFill>
                <a:schemeClr val="bg1">
                  <a:lumMod val="75000"/>
                  <a:alpha val="55000"/>
                </a:schemeClr>
              </a:solidFill>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公钥基础设施</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pic>
        <p:nvPicPr>
          <p:cNvPr id="29" name="图片占位符 28"/>
          <p:cNvPicPr>
            <a:picLocks noGrp="1" noChangeAspect="1"/>
          </p:cNvPicPr>
          <p:nvPr>
            <p:ph type="pic" sz="quarter" idx="10"/>
          </p:nvPr>
        </p:nvPicPr>
        <p:blipFill rotWithShape="1">
          <a:blip r:embed="rId1" cstate="print">
            <a:extLst>
              <a:ext uri="{28A0092B-C50C-407E-A947-70E740481C1C}">
                <a14:useLocalDpi xmlns:a14="http://schemas.microsoft.com/office/drawing/2010/main" val="0"/>
              </a:ext>
            </a:extLst>
          </a:blip>
          <a:srcRect t="4885" b="4885"/>
          <a:stretch>
            <a:fillRect/>
          </a:stretch>
        </p:blipFill>
        <p:spPr>
          <a:xfrm>
            <a:off x="339199" y="2529662"/>
            <a:ext cx="3121819" cy="1798675"/>
          </a:xfrm>
          <a:ln>
            <a:solidFill>
              <a:srgbClr val="963A89">
                <a:alpha val="27000"/>
              </a:srgbClr>
            </a:solidFill>
          </a:ln>
        </p:spPr>
      </p:pic>
      <p:sp>
        <p:nvSpPr>
          <p:cNvPr id="30" name="文本框 29"/>
          <p:cNvSpPr txBox="1"/>
          <p:nvPr/>
        </p:nvSpPr>
        <p:spPr>
          <a:xfrm>
            <a:off x="3716364" y="1724269"/>
            <a:ext cx="8292133" cy="3409459"/>
          </a:xfrm>
          <a:prstGeom prst="rect">
            <a:avLst/>
          </a:prstGeom>
          <a:noFill/>
        </p:spPr>
        <p:txBody>
          <a:bodyPr wrap="square" rtlCol="0">
            <a:spAutoFit/>
          </a:bodyPr>
          <a:lstStyle/>
          <a:p>
            <a:pPr>
              <a:lnSpc>
                <a:spcPct val="200000"/>
              </a:lnSpc>
            </a:pPr>
            <a:r>
              <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PKI</a:t>
            </a:r>
            <a:r>
              <a:rPr lang="zh-CN" altLang="en-US"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a:t>
            </a:r>
            <a:r>
              <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Public Key Infrastructure</a:t>
            </a:r>
            <a:r>
              <a:rPr lang="zh-CN" altLang="en-US"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a:t>
            </a:r>
            <a:endParaRPr lang="en-US" altLang="zh-CN" sz="2800" b="1" dirty="0">
              <a:solidFill>
                <a:srgbClr val="404244"/>
              </a:solidFill>
              <a:effectLst/>
              <a:latin typeface="+mn-ea"/>
              <a:cs typeface="Helvetica" panose="020B0604020202020204" pitchFamily="34" charset="0"/>
            </a:endParaRPr>
          </a:p>
          <a:p>
            <a:pPr marL="285750" indent="-285750">
              <a:lnSpc>
                <a:spcPct val="200000"/>
              </a:lnSpc>
              <a:buFont typeface="Arial" panose="020B0604020202020204" pitchFamily="34" charset="0"/>
              <a:buChar char="•"/>
            </a:pPr>
            <a:r>
              <a:rPr lang="zh-CN" altLang="zh-CN" sz="2800" b="1" dirty="0">
                <a:solidFill>
                  <a:srgbClr val="404244"/>
                </a:solidFill>
                <a:effectLst/>
                <a:latin typeface="+mn-ea"/>
                <a:cs typeface="Helvetica" panose="020B0604020202020204" pitchFamily="34" charset="0"/>
              </a:rPr>
              <a:t>一种遵循既定标准的密钥管理平台</a:t>
            </a:r>
            <a:endParaRPr lang="en-US" altLang="zh-CN" sz="2800" b="1" dirty="0">
              <a:solidFill>
                <a:srgbClr val="404244"/>
              </a:solidFill>
              <a:effectLst/>
              <a:latin typeface="+mn-ea"/>
              <a:cs typeface="Helvetica" panose="020B0604020202020204" pitchFamily="34" charset="0"/>
            </a:endParaRPr>
          </a:p>
          <a:p>
            <a:pPr marL="285750" indent="-285750">
              <a:lnSpc>
                <a:spcPct val="200000"/>
              </a:lnSpc>
              <a:buFont typeface="Arial" panose="020B0604020202020204" pitchFamily="34" charset="0"/>
              <a:buChar char="•"/>
            </a:pPr>
            <a:r>
              <a:rPr lang="zh-CN" altLang="zh-CN" sz="2800" b="1" dirty="0">
                <a:solidFill>
                  <a:srgbClr val="404244"/>
                </a:solidFill>
                <a:effectLst/>
                <a:latin typeface="+mn-ea"/>
                <a:cs typeface="Helvetica" panose="020B0604020202020204" pitchFamily="34" charset="0"/>
              </a:rPr>
              <a:t>能够为所有网络应用提供加密和数字签名等密码服务及所必须的密钥和证书管理体系</a:t>
            </a:r>
            <a:endParaRPr lang="zh-CN" altLang="en-US" sz="2800" b="1" dirty="0">
              <a:latin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公钥基础设施</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pic>
        <p:nvPicPr>
          <p:cNvPr id="29" name="图片占位符 28"/>
          <p:cNvPicPr>
            <a:picLocks noGrp="1" noChangeAspect="1"/>
          </p:cNvPicPr>
          <p:nvPr>
            <p:ph type="pic" sz="quarter" idx="10"/>
          </p:nvPr>
        </p:nvPicPr>
        <p:blipFill rotWithShape="1">
          <a:blip r:embed="rId1" cstate="print">
            <a:extLst>
              <a:ext uri="{28A0092B-C50C-407E-A947-70E740481C1C}">
                <a14:useLocalDpi xmlns:a14="http://schemas.microsoft.com/office/drawing/2010/main" val="0"/>
              </a:ext>
            </a:extLst>
          </a:blip>
          <a:srcRect t="4885" b="4885"/>
          <a:stretch>
            <a:fillRect/>
          </a:stretch>
        </p:blipFill>
        <p:spPr>
          <a:xfrm>
            <a:off x="339199" y="2529662"/>
            <a:ext cx="3121819" cy="1798675"/>
          </a:xfrm>
          <a:ln>
            <a:solidFill>
              <a:srgbClr val="963A89">
                <a:alpha val="27000"/>
              </a:srgbClr>
            </a:solidFill>
          </a:ln>
        </p:spPr>
      </p:pic>
      <p:sp>
        <p:nvSpPr>
          <p:cNvPr id="30" name="文本框 29"/>
          <p:cNvSpPr txBox="1"/>
          <p:nvPr/>
        </p:nvSpPr>
        <p:spPr>
          <a:xfrm>
            <a:off x="3763680" y="3623552"/>
            <a:ext cx="8292133" cy="1685911"/>
          </a:xfrm>
          <a:prstGeom prst="rect">
            <a:avLst/>
          </a:prstGeom>
          <a:noFill/>
        </p:spPr>
        <p:txBody>
          <a:bodyPr wrap="square" rtlCol="0">
            <a:spAutoFit/>
          </a:bodyPr>
          <a:lstStyle/>
          <a:p>
            <a:pPr>
              <a:lnSpc>
                <a:spcPct val="200000"/>
              </a:lnSpc>
            </a:pPr>
            <a:r>
              <a:rPr lang="zh-CN" altLang="en-US" sz="2800" dirty="0">
                <a:solidFill>
                  <a:srgbClr val="404244"/>
                </a:solidFill>
                <a:effectLst/>
                <a:latin typeface="+mn-ea"/>
                <a:cs typeface="Helvetica" panose="020B0604020202020204" pitchFamily="34" charset="0"/>
              </a:rPr>
              <a:t>非对称密码技术</a:t>
            </a:r>
            <a:r>
              <a:rPr lang="en-US" altLang="zh-CN" sz="2800" dirty="0">
                <a:solidFill>
                  <a:srgbClr val="404244"/>
                </a:solidFill>
                <a:effectLst/>
                <a:latin typeface="+mn-ea"/>
                <a:cs typeface="Helvetica" panose="020B0604020202020204" pitchFamily="34" charset="0"/>
              </a:rPr>
              <a:t>——</a:t>
            </a:r>
            <a:r>
              <a:rPr lang="zh-CN" altLang="en-US" sz="2800" dirty="0">
                <a:solidFill>
                  <a:srgbClr val="404244"/>
                </a:solidFill>
                <a:effectLst/>
                <a:latin typeface="+mn-ea"/>
                <a:cs typeface="Helvetica" panose="020B0604020202020204" pitchFamily="34" charset="0"/>
              </a:rPr>
              <a:t>利用公私钥对天然的</a:t>
            </a:r>
            <a:r>
              <a:rPr lang="zh-CN" altLang="en-US" sz="2800" b="1" i="1" dirty="0">
                <a:solidFill>
                  <a:srgbClr val="404244"/>
                </a:solidFill>
                <a:effectLst/>
                <a:latin typeface="+mn-ea"/>
                <a:cs typeface="Helvetica" panose="020B0604020202020204" pitchFamily="34" charset="0"/>
              </a:rPr>
              <a:t>不对称性</a:t>
            </a:r>
            <a:endParaRPr lang="en-US" altLang="zh-CN" sz="2800" b="1" i="1" dirty="0">
              <a:solidFill>
                <a:srgbClr val="404244"/>
              </a:solidFill>
              <a:effectLst/>
              <a:latin typeface="+mn-ea"/>
              <a:cs typeface="Helvetica" panose="020B0604020202020204" pitchFamily="34" charset="0"/>
            </a:endParaRPr>
          </a:p>
          <a:p>
            <a:pPr>
              <a:lnSpc>
                <a:spcPct val="200000"/>
              </a:lnSpc>
            </a:pPr>
            <a:r>
              <a:rPr lang="zh-CN" altLang="en-US" sz="2800" b="1" dirty="0">
                <a:solidFill>
                  <a:srgbClr val="C00000"/>
                </a:solidFill>
                <a:latin typeface="+mn-ea"/>
                <a:cs typeface="Helvetica" panose="020B0604020202020204" pitchFamily="34" charset="0"/>
              </a:rPr>
              <a:t>关键问题：依赖方如何确定公钥的真实性？</a:t>
            </a:r>
            <a:endParaRPr lang="zh-CN" altLang="en-US" sz="2800" b="1" dirty="0">
              <a:solidFill>
                <a:srgbClr val="C00000"/>
              </a:solidFill>
              <a:latin typeface="+mn-ea"/>
            </a:endParaRPr>
          </a:p>
        </p:txBody>
      </p:sp>
      <p:sp>
        <p:nvSpPr>
          <p:cNvPr id="16" name="文本框 15"/>
          <p:cNvSpPr txBox="1"/>
          <p:nvPr/>
        </p:nvSpPr>
        <p:spPr>
          <a:xfrm>
            <a:off x="4114183" y="1678119"/>
            <a:ext cx="7335272" cy="178138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zh-CN" altLang="en-US" sz="2400" dirty="0">
                <a:solidFill>
                  <a:srgbClr val="404244"/>
                </a:solidFill>
                <a:latin typeface="+mn-ea"/>
                <a:cs typeface="Helvetica" panose="020B0604020202020204" pitchFamily="34" charset="0"/>
              </a:rPr>
              <a:t>身份认证</a:t>
            </a:r>
            <a:endParaRPr lang="en-US" altLang="zh-CN" sz="2400" dirty="0">
              <a:solidFill>
                <a:srgbClr val="404244"/>
              </a:solidFill>
              <a:latin typeface="+mn-ea"/>
              <a:cs typeface="Helvetica" panose="020B0604020202020204" pitchFamily="34" charset="0"/>
            </a:endParaRPr>
          </a:p>
          <a:p>
            <a:pPr marL="457200" indent="-457200">
              <a:lnSpc>
                <a:spcPct val="150000"/>
              </a:lnSpc>
              <a:buFont typeface="Arial" panose="020B0604020202020204" pitchFamily="34" charset="0"/>
              <a:buChar char="•"/>
            </a:pPr>
            <a:r>
              <a:rPr lang="zh-CN" altLang="en-US" sz="2400" dirty="0">
                <a:solidFill>
                  <a:srgbClr val="404244"/>
                </a:solidFill>
                <a:latin typeface="+mn-ea"/>
                <a:cs typeface="Helvetica" panose="020B0604020202020204" pitchFamily="34" charset="0"/>
              </a:rPr>
              <a:t>防抵赖</a:t>
            </a:r>
            <a:r>
              <a:rPr lang="en-US" altLang="zh-CN" sz="2400" dirty="0">
                <a:solidFill>
                  <a:srgbClr val="404244"/>
                </a:solidFill>
                <a:latin typeface="+mn-ea"/>
                <a:cs typeface="Helvetica" panose="020B0604020202020204" pitchFamily="34" charset="0"/>
              </a:rPr>
              <a:t>			</a:t>
            </a:r>
            <a:r>
              <a:rPr lang="zh-CN" altLang="en-US" sz="2800" b="1" dirty="0">
                <a:solidFill>
                  <a:srgbClr val="404244"/>
                </a:solidFill>
                <a:latin typeface="+mn-ea"/>
                <a:cs typeface="Helvetica" panose="020B0604020202020204" pitchFamily="34" charset="0"/>
              </a:rPr>
              <a:t>非对称密码技术</a:t>
            </a:r>
            <a:endParaRPr lang="en-US" altLang="zh-CN" sz="2800" b="1" dirty="0">
              <a:solidFill>
                <a:srgbClr val="404244"/>
              </a:solidFill>
              <a:latin typeface="+mn-ea"/>
              <a:cs typeface="Helvetica" panose="020B0604020202020204" pitchFamily="34" charset="0"/>
            </a:endParaRPr>
          </a:p>
          <a:p>
            <a:pPr marL="457200" indent="-457200">
              <a:lnSpc>
                <a:spcPct val="150000"/>
              </a:lnSpc>
              <a:buFont typeface="Arial" panose="020B0604020202020204" pitchFamily="34" charset="0"/>
              <a:buChar char="•"/>
            </a:pPr>
            <a:r>
              <a:rPr lang="zh-CN" altLang="en-US" sz="2400" dirty="0">
                <a:solidFill>
                  <a:srgbClr val="404244"/>
                </a:solidFill>
                <a:latin typeface="+mn-ea"/>
                <a:cs typeface="Helvetica" panose="020B0604020202020204" pitchFamily="34" charset="0"/>
              </a:rPr>
              <a:t>信息完整性鉴别</a:t>
            </a:r>
            <a:endParaRPr lang="zh-CN" altLang="en-US" sz="2400" dirty="0">
              <a:solidFill>
                <a:srgbClr val="404244"/>
              </a:solidFill>
              <a:latin typeface="+mn-ea"/>
              <a:cs typeface="Helvetica" panose="020B0604020202020204" pitchFamily="34" charset="0"/>
            </a:endParaRPr>
          </a:p>
        </p:txBody>
      </p:sp>
      <p:sp>
        <p:nvSpPr>
          <p:cNvPr id="15" name="右大括号 14"/>
          <p:cNvSpPr/>
          <p:nvPr/>
        </p:nvSpPr>
        <p:spPr>
          <a:xfrm>
            <a:off x="7296581" y="1743088"/>
            <a:ext cx="307911" cy="1685911"/>
          </a:xfrm>
          <a:prstGeom prst="rightBrace">
            <a:avLst>
              <a:gd name="adj1" fmla="val 93181"/>
              <a:gd name="adj2" fmla="val 50000"/>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公钥基础设施</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pic>
        <p:nvPicPr>
          <p:cNvPr id="29" name="图片占位符 28"/>
          <p:cNvPicPr>
            <a:picLocks noGrp="1" noChangeAspect="1"/>
          </p:cNvPicPr>
          <p:nvPr>
            <p:ph type="pic" sz="quarter" idx="10"/>
          </p:nvPr>
        </p:nvPicPr>
        <p:blipFill rotWithShape="1">
          <a:blip r:embed="rId1" cstate="print">
            <a:extLst>
              <a:ext uri="{28A0092B-C50C-407E-A947-70E740481C1C}">
                <a14:useLocalDpi xmlns:a14="http://schemas.microsoft.com/office/drawing/2010/main" val="0"/>
              </a:ext>
            </a:extLst>
          </a:blip>
          <a:srcRect l="19564" t="14510" r="16979" b="18587"/>
          <a:stretch>
            <a:fillRect/>
          </a:stretch>
        </p:blipFill>
        <p:spPr>
          <a:xfrm>
            <a:off x="7847878" y="2178697"/>
            <a:ext cx="2961654" cy="2500605"/>
          </a:xfrm>
          <a:ln>
            <a:solidFill>
              <a:srgbClr val="963A89">
                <a:alpha val="27000"/>
              </a:srgbClr>
            </a:solidFill>
          </a:ln>
        </p:spPr>
      </p:pic>
      <p:pic>
        <p:nvPicPr>
          <p:cNvPr id="2" name="图片占位符 28"/>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1382468" y="2178697"/>
            <a:ext cx="2700148" cy="2500605"/>
          </a:xfrm>
          <a:prstGeom prst="rect">
            <a:avLst/>
          </a:prstGeom>
          <a:ln w="38100">
            <a:solidFill>
              <a:srgbClr val="963A89">
                <a:alpha val="27000"/>
              </a:srgbClr>
            </a:solidFill>
          </a:ln>
        </p:spPr>
      </p:pic>
      <p:sp>
        <p:nvSpPr>
          <p:cNvPr id="17" name="文本框 16"/>
          <p:cNvSpPr txBox="1"/>
          <p:nvPr/>
        </p:nvSpPr>
        <p:spPr>
          <a:xfrm>
            <a:off x="2281422" y="4795896"/>
            <a:ext cx="902240" cy="369332"/>
          </a:xfrm>
          <a:prstGeom prst="rect">
            <a:avLst/>
          </a:prstGeom>
          <a:noFill/>
        </p:spPr>
        <p:txBody>
          <a:bodyPr wrap="square">
            <a:spAutoFit/>
          </a:bodyPr>
          <a:lstStyle/>
          <a:p>
            <a:pPr algn="ctr"/>
            <a:r>
              <a:rPr lang="zh-CN" altLang="en-US" dirty="0">
                <a:solidFill>
                  <a:srgbClr val="404244"/>
                </a:solidFill>
                <a:latin typeface="+mn-ea"/>
                <a:cs typeface="Helvetica" panose="020B0604020202020204" pitchFamily="34" charset="0"/>
              </a:rPr>
              <a:t>公钥</a:t>
            </a:r>
            <a:endParaRPr lang="zh-CN" altLang="en-US" dirty="0"/>
          </a:p>
        </p:txBody>
      </p:sp>
      <p:sp>
        <p:nvSpPr>
          <p:cNvPr id="18" name="文本框 17"/>
          <p:cNvSpPr txBox="1"/>
          <p:nvPr/>
        </p:nvSpPr>
        <p:spPr>
          <a:xfrm>
            <a:off x="8877585" y="4795896"/>
            <a:ext cx="902240" cy="369332"/>
          </a:xfrm>
          <a:prstGeom prst="rect">
            <a:avLst/>
          </a:prstGeom>
          <a:noFill/>
        </p:spPr>
        <p:txBody>
          <a:bodyPr wrap="square">
            <a:spAutoFit/>
          </a:bodyPr>
          <a:lstStyle/>
          <a:p>
            <a:pPr algn="ctr"/>
            <a:r>
              <a:rPr lang="zh-CN" altLang="en-US" dirty="0"/>
              <a:t>实体</a:t>
            </a:r>
            <a:endParaRPr lang="zh-CN" altLang="en-US" dirty="0"/>
          </a:p>
        </p:txBody>
      </p:sp>
      <p:pic>
        <p:nvPicPr>
          <p:cNvPr id="24" name="图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729873">
            <a:off x="5278664" y="2811283"/>
            <a:ext cx="1634672" cy="1634672"/>
          </a:xfrm>
          <a:prstGeom prst="rect">
            <a:avLst/>
          </a:prstGeom>
        </p:spPr>
      </p:pic>
      <p:grpSp>
        <p:nvGrpSpPr>
          <p:cNvPr id="28" name="组合 27"/>
          <p:cNvGrpSpPr/>
          <p:nvPr/>
        </p:nvGrpSpPr>
        <p:grpSpPr>
          <a:xfrm>
            <a:off x="5549224" y="1556744"/>
            <a:ext cx="1093552" cy="1462884"/>
            <a:chOff x="5549224" y="1556744"/>
            <a:chExt cx="1093552" cy="1462884"/>
          </a:xfrm>
        </p:grpSpPr>
        <p:pic>
          <p:nvPicPr>
            <p:cNvPr id="26" name="图片 2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49224" y="1926076"/>
              <a:ext cx="1093552" cy="1093552"/>
            </a:xfrm>
            <a:prstGeom prst="rect">
              <a:avLst/>
            </a:prstGeom>
          </p:spPr>
        </p:pic>
        <p:sp>
          <p:nvSpPr>
            <p:cNvPr id="27" name="文本框 26"/>
            <p:cNvSpPr txBox="1"/>
            <p:nvPr/>
          </p:nvSpPr>
          <p:spPr>
            <a:xfrm>
              <a:off x="5644880" y="1556744"/>
              <a:ext cx="902240" cy="369332"/>
            </a:xfrm>
            <a:prstGeom prst="rect">
              <a:avLst/>
            </a:prstGeom>
            <a:noFill/>
          </p:spPr>
          <p:txBody>
            <a:bodyPr wrap="square">
              <a:spAutoFit/>
            </a:bodyPr>
            <a:lstStyle/>
            <a:p>
              <a:pPr algn="ctr"/>
              <a:r>
                <a:rPr lang="zh-CN" altLang="en-US" dirty="0">
                  <a:solidFill>
                    <a:srgbClr val="404244"/>
                  </a:solidFill>
                  <a:latin typeface="+mn-ea"/>
                  <a:cs typeface="Helvetica" panose="020B0604020202020204" pitchFamily="34" charset="0"/>
                </a:rPr>
                <a:t>证书</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ppt_x"/>
                                          </p:val>
                                        </p:tav>
                                        <p:tav tm="100000">
                                          <p:val>
                                            <p:strVal val="#ppt_x"/>
                                          </p:val>
                                        </p:tav>
                                      </p:tavLst>
                                    </p:anim>
                                    <p:anim calcmode="lin" valueType="num">
                                      <p:cBhvr additive="base">
                                        <p:cTn id="1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公钥基础设施</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468634" y="972007"/>
            <a:ext cx="11254732" cy="5539465"/>
          </a:xfrm>
          <a:prstGeom prst="rect">
            <a:avLst/>
          </a:prstGeom>
          <a:noFill/>
        </p:spPr>
        <p:txBody>
          <a:bodyPr wrap="square" rtlCol="0">
            <a:spAutoFit/>
          </a:bodyPr>
          <a:lstStyle/>
          <a:p>
            <a:pPr>
              <a:lnSpc>
                <a:spcPct val="200000"/>
              </a:lnSpc>
            </a:pPr>
            <a:r>
              <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PKI</a:t>
            </a:r>
            <a:r>
              <a:rPr lang="zh-CN" altLang="en-US"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的基本组成</a:t>
            </a:r>
            <a:endPar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a:p>
            <a:pPr>
              <a:lnSpc>
                <a:spcPct val="200000"/>
              </a:lnSpc>
            </a:pPr>
            <a:r>
              <a:rPr lang="en-US" altLang="zh-CN" sz="2000" b="1" dirty="0">
                <a:solidFill>
                  <a:srgbClr val="404244"/>
                </a:solidFill>
                <a:latin typeface="+mn-ea"/>
                <a:cs typeface="Helvetica" panose="020B0604020202020204" pitchFamily="34" charset="0"/>
              </a:rPr>
              <a:t>1. </a:t>
            </a:r>
            <a:r>
              <a:rPr lang="zh-CN" altLang="en-US" sz="2000" b="1" dirty="0">
                <a:solidFill>
                  <a:srgbClr val="404244"/>
                </a:solidFill>
                <a:latin typeface="+mn-ea"/>
                <a:cs typeface="Helvetica" panose="020B0604020202020204" pitchFamily="34" charset="0"/>
              </a:rPr>
              <a:t>公钥证书（</a:t>
            </a:r>
            <a:r>
              <a:rPr lang="en-US" altLang="zh-CN" sz="2000" b="1" i="0" dirty="0">
                <a:solidFill>
                  <a:srgbClr val="333333"/>
                </a:solidFill>
                <a:effectLst/>
                <a:latin typeface="微软雅黑" panose="020B0503020204020204" pitchFamily="34" charset="-122"/>
                <a:ea typeface="微软雅黑" panose="020B0503020204020204" pitchFamily="34" charset="-122"/>
              </a:rPr>
              <a:t>PKC</a:t>
            </a:r>
            <a:r>
              <a:rPr lang="zh-CN" altLang="en-US" sz="2000" b="1" i="0" dirty="0">
                <a:solidFill>
                  <a:srgbClr val="333333"/>
                </a:solidFill>
                <a:effectLst/>
                <a:latin typeface="微软雅黑" panose="020B0503020204020204" pitchFamily="34" charset="-122"/>
                <a:ea typeface="微软雅黑" panose="020B0503020204020204" pitchFamily="34" charset="-122"/>
              </a:rPr>
              <a:t>，</a:t>
            </a:r>
            <a:r>
              <a:rPr lang="en-US" altLang="zh-CN" sz="2000" b="1" i="0" dirty="0">
                <a:solidFill>
                  <a:srgbClr val="333333"/>
                </a:solidFill>
                <a:effectLst/>
                <a:latin typeface="微软雅黑" panose="020B0503020204020204" pitchFamily="34" charset="-122"/>
                <a:ea typeface="微软雅黑" panose="020B0503020204020204" pitchFamily="34" charset="-122"/>
              </a:rPr>
              <a:t> Public Key Certificate</a:t>
            </a:r>
            <a:r>
              <a:rPr lang="zh-CN" altLang="en-US" sz="2000" b="1" dirty="0">
                <a:solidFill>
                  <a:srgbClr val="404244"/>
                </a:solidFill>
                <a:latin typeface="+mn-ea"/>
                <a:cs typeface="Helvetica" panose="020B0604020202020204" pitchFamily="34" charset="0"/>
              </a:rPr>
              <a:t>）</a:t>
            </a:r>
            <a:endParaRPr lang="en-US" altLang="zh-CN" sz="2000" b="1" dirty="0">
              <a:solidFill>
                <a:srgbClr val="404244"/>
              </a:solidFill>
              <a:latin typeface="+mn-ea"/>
              <a:cs typeface="Helvetica" panose="020B0604020202020204" pitchFamily="34" charset="0"/>
            </a:endParaRPr>
          </a:p>
          <a:p>
            <a:pPr>
              <a:lnSpc>
                <a:spcPct val="200000"/>
              </a:lnSpc>
            </a:pPr>
            <a:r>
              <a:rPr lang="en-US"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PKI</a:t>
            </a: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的基本部件，由可信实体签名的电子记录，记录将公钥和密钥（公私钥对）所有者的身份捆绑在一起。</a:t>
            </a:r>
            <a:endParaRPr lang="en-US" altLang="zh-CN" dirty="0">
              <a:solidFill>
                <a:srgbClr val="404244"/>
              </a:solidFill>
              <a:latin typeface="宋体" panose="02010600030101010101" pitchFamily="2" charset="-122"/>
              <a:ea typeface="宋体" panose="02010600030101010101" pitchFamily="2" charset="-122"/>
              <a:cs typeface="Helvetica" panose="020B0604020202020204" pitchFamily="34" charset="0"/>
            </a:endParaRPr>
          </a:p>
          <a:p>
            <a:pPr lvl="0">
              <a:lnSpc>
                <a:spcPct val="200000"/>
              </a:lnSpc>
            </a:pPr>
            <a:r>
              <a:rPr lang="en-US" altLang="zh-CN" sz="2000" b="1" dirty="0">
                <a:solidFill>
                  <a:srgbClr val="404244"/>
                </a:solidFill>
                <a:latin typeface="+mn-ea"/>
                <a:cs typeface="Helvetica" panose="020B0604020202020204" pitchFamily="34" charset="0"/>
              </a:rPr>
              <a:t>2. </a:t>
            </a:r>
            <a:r>
              <a:rPr lang="zh-CN" altLang="zh-CN" sz="2000" b="1" dirty="0">
                <a:solidFill>
                  <a:srgbClr val="404244"/>
                </a:solidFill>
                <a:latin typeface="+mn-ea"/>
                <a:cs typeface="Helvetica" panose="020B0604020202020204" pitchFamily="34" charset="0"/>
              </a:rPr>
              <a:t>证书作废列表（</a:t>
            </a:r>
            <a:r>
              <a:rPr lang="en-US" altLang="zh-CN" sz="2000" b="1" dirty="0">
                <a:solidFill>
                  <a:srgbClr val="404244"/>
                </a:solidFill>
                <a:latin typeface="+mn-ea"/>
                <a:cs typeface="Helvetica" panose="020B0604020202020204" pitchFamily="34" charset="0"/>
              </a:rPr>
              <a:t>CRL</a:t>
            </a:r>
            <a:r>
              <a:rPr lang="zh-CN" altLang="en-US" sz="2000" b="1" dirty="0">
                <a:solidFill>
                  <a:srgbClr val="404244"/>
                </a:solidFill>
                <a:latin typeface="+mn-ea"/>
                <a:cs typeface="Helvetica" panose="020B0604020202020204" pitchFamily="34" charset="0"/>
              </a:rPr>
              <a:t>，</a:t>
            </a:r>
            <a:r>
              <a:rPr lang="en-US" altLang="zh-CN" sz="2000" b="1" dirty="0">
                <a:solidFill>
                  <a:srgbClr val="404244"/>
                </a:solidFill>
                <a:latin typeface="+mn-ea"/>
                <a:cs typeface="Helvetica" panose="020B0604020202020204" pitchFamily="34" charset="0"/>
              </a:rPr>
              <a:t>Certificate Revocation List</a:t>
            </a:r>
            <a:r>
              <a:rPr lang="zh-CN" altLang="zh-CN" sz="2000" b="1" dirty="0">
                <a:solidFill>
                  <a:srgbClr val="404244"/>
                </a:solidFill>
                <a:latin typeface="+mn-ea"/>
                <a:cs typeface="Helvetica" panose="020B0604020202020204" pitchFamily="34" charset="0"/>
              </a:rPr>
              <a:t>）</a:t>
            </a:r>
            <a:endParaRPr lang="en-US" altLang="zh-CN" sz="2000" b="1" dirty="0">
              <a:solidFill>
                <a:srgbClr val="404244"/>
              </a:solidFill>
              <a:latin typeface="+mn-ea"/>
              <a:cs typeface="Helvetica" panose="020B0604020202020204" pitchFamily="34" charset="0"/>
            </a:endParaRPr>
          </a:p>
          <a:p>
            <a:pPr lvl="0">
              <a:lnSpc>
                <a:spcPct val="200000"/>
              </a:lnSpc>
            </a:pPr>
            <a:r>
              <a:rPr lang="zh-CN"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证书作废列表通常由</a:t>
            </a:r>
            <a:r>
              <a:rPr lang="zh-CN" altLang="zh-CN" dirty="0">
                <a:solidFill>
                  <a:srgbClr val="C00000"/>
                </a:solidFill>
                <a:latin typeface="宋体" panose="02010600030101010101" pitchFamily="2" charset="-122"/>
                <a:ea typeface="宋体" panose="02010600030101010101" pitchFamily="2" charset="-122"/>
                <a:cs typeface="Helvetica" panose="020B0604020202020204" pitchFamily="34" charset="0"/>
              </a:rPr>
              <a:t>同一个</a:t>
            </a: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可信</a:t>
            </a:r>
            <a:r>
              <a:rPr lang="zh-CN"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发证实体签名。当公钥的所有者丢失私钥，或者改换</a:t>
            </a: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名称</a:t>
            </a:r>
            <a:r>
              <a:rPr lang="zh-CN"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时，需要将原有证书作废</a:t>
            </a: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并更新证书作废列表</a:t>
            </a:r>
            <a:r>
              <a:rPr lang="zh-CN"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a:t>
            </a:r>
            <a:endParaRPr lang="en-US" altLang="zh-CN" dirty="0">
              <a:solidFill>
                <a:srgbClr val="404244"/>
              </a:solidFill>
              <a:latin typeface="宋体" panose="02010600030101010101" pitchFamily="2" charset="-122"/>
              <a:ea typeface="宋体" panose="02010600030101010101" pitchFamily="2" charset="-122"/>
              <a:cs typeface="Helvetica" panose="020B0604020202020204" pitchFamily="34" charset="0"/>
            </a:endParaRPr>
          </a:p>
          <a:p>
            <a:pPr>
              <a:lnSpc>
                <a:spcPct val="200000"/>
              </a:lnSpc>
            </a:pPr>
            <a:r>
              <a:rPr lang="en-US" altLang="zh-CN" sz="2000" b="1" dirty="0">
                <a:solidFill>
                  <a:srgbClr val="404244"/>
                </a:solidFill>
                <a:latin typeface="+mn-ea"/>
                <a:cs typeface="Helvetica" panose="020B0604020202020204" pitchFamily="34" charset="0"/>
              </a:rPr>
              <a:t>3. </a:t>
            </a:r>
            <a:r>
              <a:rPr lang="zh-CN" altLang="en-US" sz="2000" b="1" dirty="0">
                <a:solidFill>
                  <a:srgbClr val="404244"/>
                </a:solidFill>
                <a:latin typeface="+mn-ea"/>
                <a:cs typeface="Helvetica" panose="020B0604020202020204" pitchFamily="34" charset="0"/>
              </a:rPr>
              <a:t>证书存档（</a:t>
            </a:r>
            <a:r>
              <a:rPr lang="en-US" altLang="zh-CN" sz="2000" b="1" dirty="0">
                <a:solidFill>
                  <a:srgbClr val="404244"/>
                </a:solidFill>
                <a:latin typeface="+mn-ea"/>
                <a:cs typeface="Helvetica" panose="020B0604020202020204" pitchFamily="34" charset="0"/>
              </a:rPr>
              <a:t>Repository</a:t>
            </a:r>
            <a:r>
              <a:rPr lang="zh-CN" altLang="en-US" sz="2000" b="1" dirty="0">
                <a:solidFill>
                  <a:srgbClr val="404244"/>
                </a:solidFill>
                <a:latin typeface="+mn-ea"/>
                <a:cs typeface="Helvetica" panose="020B0604020202020204" pitchFamily="34" charset="0"/>
              </a:rPr>
              <a:t>）</a:t>
            </a:r>
            <a:endParaRPr lang="en-US" altLang="zh-CN" sz="2000" b="1" dirty="0">
              <a:solidFill>
                <a:srgbClr val="404244"/>
              </a:solidFill>
              <a:latin typeface="+mn-ea"/>
              <a:cs typeface="Helvetica" panose="020B0604020202020204" pitchFamily="34" charset="0"/>
            </a:endParaRPr>
          </a:p>
          <a:p>
            <a:pPr>
              <a:lnSpc>
                <a:spcPct val="200000"/>
              </a:lnSpc>
            </a:pP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是存放公钥证书和作废证书列表的电子站点。</a:t>
            </a:r>
            <a:endParaRPr lang="en-US" altLang="zh-CN" dirty="0">
              <a:solidFill>
                <a:srgbClr val="404244"/>
              </a:solidFill>
              <a:latin typeface="宋体" panose="02010600030101010101" pitchFamily="2" charset="-122"/>
              <a:ea typeface="宋体" panose="02010600030101010101" pitchFamily="2" charset="-122"/>
              <a:cs typeface="Helvetica" panose="020B0604020202020204" pitchFamily="34" charset="0"/>
            </a:endParaRPr>
          </a:p>
          <a:p>
            <a:pPr>
              <a:lnSpc>
                <a:spcPct val="200000"/>
              </a:lnSpc>
            </a:pPr>
            <a:endParaRPr lang="zh-CN" altLang="en-US" sz="2000" dirty="0">
              <a:latin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公钥基础设施</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457370" y="1008052"/>
            <a:ext cx="5165217" cy="1476815"/>
          </a:xfrm>
          <a:prstGeom prst="rect">
            <a:avLst/>
          </a:prstGeom>
          <a:noFill/>
        </p:spPr>
        <p:txBody>
          <a:bodyPr wrap="square" rtlCol="0">
            <a:spAutoFit/>
          </a:bodyPr>
          <a:lstStyle/>
          <a:p>
            <a:pPr>
              <a:lnSpc>
                <a:spcPct val="200000"/>
              </a:lnSpc>
            </a:pPr>
            <a:r>
              <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PKI</a:t>
            </a:r>
            <a:r>
              <a:rPr lang="zh-CN" altLang="en-US"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的基本组成</a:t>
            </a:r>
            <a:endPar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a:p>
            <a:pPr>
              <a:lnSpc>
                <a:spcPct val="200000"/>
              </a:lnSpc>
            </a:pPr>
            <a:endParaRPr lang="zh-CN" altLang="en-US" sz="2000" dirty="0">
              <a:latin typeface="+mn-ea"/>
            </a:endParaRPr>
          </a:p>
        </p:txBody>
      </p:sp>
      <p:sp>
        <p:nvSpPr>
          <p:cNvPr id="20" name="文本框 19"/>
          <p:cNvSpPr txBox="1"/>
          <p:nvPr/>
        </p:nvSpPr>
        <p:spPr>
          <a:xfrm>
            <a:off x="457370" y="2375454"/>
            <a:ext cx="11329801" cy="2885855"/>
          </a:xfrm>
          <a:prstGeom prst="rect">
            <a:avLst/>
          </a:prstGeom>
          <a:noFill/>
        </p:spPr>
        <p:txBody>
          <a:bodyPr wrap="square">
            <a:spAutoFit/>
          </a:bodyPr>
          <a:lstStyle/>
          <a:p>
            <a:pPr>
              <a:lnSpc>
                <a:spcPct val="200000"/>
              </a:lnSpc>
            </a:pPr>
            <a:r>
              <a:rPr lang="en-US" altLang="zh-CN" sz="2000" b="1" dirty="0">
                <a:solidFill>
                  <a:srgbClr val="404244"/>
                </a:solidFill>
                <a:effectLst/>
                <a:latin typeface="+mn-ea"/>
                <a:cs typeface="Helvetica" panose="020B0604020202020204" pitchFamily="34" charset="0"/>
              </a:rPr>
              <a:t>4. </a:t>
            </a:r>
            <a:r>
              <a:rPr lang="zh-CN" altLang="en-US" sz="2000" b="1" dirty="0">
                <a:solidFill>
                  <a:srgbClr val="404244"/>
                </a:solidFill>
                <a:effectLst/>
                <a:latin typeface="+mn-ea"/>
                <a:cs typeface="Helvetica" panose="020B0604020202020204" pitchFamily="34" charset="0"/>
              </a:rPr>
              <a:t>认证机构（</a:t>
            </a:r>
            <a:r>
              <a:rPr lang="en-US" altLang="zh-CN" sz="2000" b="1" dirty="0">
                <a:solidFill>
                  <a:srgbClr val="404244"/>
                </a:solidFill>
                <a:effectLst/>
                <a:latin typeface="+mn-ea"/>
                <a:cs typeface="Helvetica" panose="020B0604020202020204" pitchFamily="34" charset="0"/>
              </a:rPr>
              <a:t>CA</a:t>
            </a:r>
            <a:r>
              <a:rPr lang="zh-CN" altLang="en-US" sz="2000" b="1" dirty="0">
                <a:solidFill>
                  <a:srgbClr val="404244"/>
                </a:solidFill>
                <a:effectLst/>
                <a:latin typeface="+mn-ea"/>
                <a:cs typeface="Helvetica" panose="020B0604020202020204" pitchFamily="34" charset="0"/>
              </a:rPr>
              <a:t>，</a:t>
            </a:r>
            <a:r>
              <a:rPr lang="en-US" altLang="zh-CN" sz="2000" b="1" dirty="0">
                <a:solidFill>
                  <a:srgbClr val="404244"/>
                </a:solidFill>
                <a:latin typeface="+mn-ea"/>
                <a:cs typeface="Helvetica" panose="020B0604020202020204" pitchFamily="34" charset="0"/>
              </a:rPr>
              <a:t>Certificate Authority</a:t>
            </a:r>
            <a:r>
              <a:rPr lang="zh-CN" altLang="en-US" sz="2000" b="1" dirty="0">
                <a:solidFill>
                  <a:srgbClr val="404244"/>
                </a:solidFill>
                <a:effectLst/>
                <a:latin typeface="+mn-ea"/>
                <a:cs typeface="Helvetica" panose="020B0604020202020204" pitchFamily="34" charset="0"/>
              </a:rPr>
              <a:t>）</a:t>
            </a:r>
            <a:endParaRPr lang="en-US" altLang="zh-CN" sz="2000" b="1" dirty="0">
              <a:solidFill>
                <a:srgbClr val="404244"/>
              </a:solidFill>
              <a:effectLst/>
              <a:latin typeface="+mn-ea"/>
              <a:cs typeface="Helvetica" panose="020B0604020202020204" pitchFamily="34" charset="0"/>
            </a:endParaRPr>
          </a:p>
          <a:p>
            <a:pPr>
              <a:lnSpc>
                <a:spcPct val="200000"/>
              </a:lnSpc>
            </a:pP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一个</a:t>
            </a:r>
            <a:r>
              <a:rPr lang="zh-CN" altLang="zh-CN" sz="1800" b="1" dirty="0">
                <a:solidFill>
                  <a:srgbClr val="C00000"/>
                </a:solidFill>
                <a:effectLst/>
                <a:latin typeface="宋体" panose="02010600030101010101" pitchFamily="2" charset="-122"/>
                <a:ea typeface="宋体" panose="02010600030101010101" pitchFamily="2" charset="-122"/>
                <a:cs typeface="Helvetica" panose="020B0604020202020204" pitchFamily="34" charset="0"/>
              </a:rPr>
              <a:t>可信实体</a:t>
            </a: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，发放和作废公钥证书，并对作废证书列表签名。</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nSpc>
                <a:spcPct val="200000"/>
              </a:lnSpc>
            </a:pPr>
            <a:r>
              <a:rPr lang="en-US" altLang="zh-CN" sz="2000" b="1" dirty="0">
                <a:solidFill>
                  <a:srgbClr val="404244"/>
                </a:solidFill>
                <a:latin typeface="+mn-ea"/>
                <a:cs typeface="Helvetica" panose="020B0604020202020204" pitchFamily="34" charset="0"/>
              </a:rPr>
              <a:t>5. </a:t>
            </a:r>
            <a:r>
              <a:rPr lang="zh-CN" altLang="zh-CN" sz="2000" b="1" dirty="0">
                <a:solidFill>
                  <a:srgbClr val="404244"/>
                </a:solidFill>
                <a:latin typeface="+mn-ea"/>
                <a:cs typeface="Helvetica" panose="020B0604020202020204" pitchFamily="34" charset="0"/>
              </a:rPr>
              <a:t>注册机构（</a:t>
            </a:r>
            <a:r>
              <a:rPr lang="en-US" altLang="zh-CN" sz="2000" b="1" dirty="0">
                <a:solidFill>
                  <a:srgbClr val="404244"/>
                </a:solidFill>
                <a:latin typeface="+mn-ea"/>
                <a:cs typeface="Helvetica" panose="020B0604020202020204" pitchFamily="34" charset="0"/>
              </a:rPr>
              <a:t>RA</a:t>
            </a:r>
            <a:r>
              <a:rPr lang="zh-CN" altLang="en-US" sz="2000" b="1" dirty="0">
                <a:solidFill>
                  <a:srgbClr val="404244"/>
                </a:solidFill>
                <a:latin typeface="+mn-ea"/>
                <a:cs typeface="Helvetica" panose="020B0604020202020204" pitchFamily="34" charset="0"/>
              </a:rPr>
              <a:t>，</a:t>
            </a:r>
            <a:r>
              <a:rPr lang="en-US" altLang="zh-CN" sz="2000" b="1" dirty="0">
                <a:solidFill>
                  <a:srgbClr val="404244"/>
                </a:solidFill>
                <a:latin typeface="+mn-ea"/>
                <a:cs typeface="Helvetica" panose="020B0604020202020204" pitchFamily="34" charset="0"/>
              </a:rPr>
              <a:t>Registration Authority</a:t>
            </a:r>
            <a:r>
              <a:rPr lang="zh-CN" altLang="zh-CN" sz="2000" b="1" dirty="0">
                <a:solidFill>
                  <a:srgbClr val="404244"/>
                </a:solidFill>
                <a:latin typeface="+mn-ea"/>
                <a:cs typeface="Helvetica" panose="020B0604020202020204" pitchFamily="34" charset="0"/>
              </a:rPr>
              <a:t>）</a:t>
            </a:r>
            <a:endParaRPr lang="zh-CN" altLang="zh-CN" sz="2000" b="1" dirty="0">
              <a:solidFill>
                <a:srgbClr val="404244"/>
              </a:solidFill>
              <a:latin typeface="+mn-ea"/>
              <a:cs typeface="Helvetica" panose="020B0604020202020204" pitchFamily="34" charset="0"/>
            </a:endParaRPr>
          </a:p>
          <a:p>
            <a:pPr>
              <a:lnSpc>
                <a:spcPct val="200000"/>
              </a:lnSpc>
            </a:pP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一个可选</a:t>
            </a:r>
            <a:r>
              <a:rPr lang="en-US"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PKI</a:t>
            </a: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实体，与</a:t>
            </a:r>
            <a:r>
              <a:rPr lang="en-US"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CA</a:t>
            </a: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分开，不对数字证书或证书作废</a:t>
            </a: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列表</a:t>
            </a: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签名</a:t>
            </a:r>
            <a:r>
              <a:rPr lang="zh-CN" altLang="en-US"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a:t>
            </a: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而</a:t>
            </a:r>
            <a:r>
              <a:rPr lang="zh-CN" altLang="en-US"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是</a:t>
            </a: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负责记录和验证部分或所有有关信息（特别是主体的身份）</a:t>
            </a:r>
            <a:r>
              <a:rPr lang="zh-CN" altLang="en-US"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的</a:t>
            </a:r>
            <a:r>
              <a:rPr lang="zh-CN"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证书管理机构。</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p:txBody>
      </p:sp>
      <p:grpSp>
        <p:nvGrpSpPr>
          <p:cNvPr id="17" name="组合 16"/>
          <p:cNvGrpSpPr/>
          <p:nvPr/>
        </p:nvGrpSpPr>
        <p:grpSpPr>
          <a:xfrm>
            <a:off x="7310212" y="2699151"/>
            <a:ext cx="4639468" cy="1459698"/>
            <a:chOff x="7257671" y="2309769"/>
            <a:chExt cx="4639468" cy="1459698"/>
          </a:xfrm>
        </p:grpSpPr>
        <p:sp>
          <p:nvSpPr>
            <p:cNvPr id="14" name="右大括号 13"/>
            <p:cNvSpPr/>
            <p:nvPr/>
          </p:nvSpPr>
          <p:spPr>
            <a:xfrm>
              <a:off x="7257671" y="2309769"/>
              <a:ext cx="307911" cy="1459698"/>
            </a:xfrm>
            <a:prstGeom prst="rightBrace">
              <a:avLst>
                <a:gd name="adj1" fmla="val 93181"/>
                <a:gd name="adj2" fmla="val 50000"/>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文本框 14"/>
            <p:cNvSpPr txBox="1"/>
            <p:nvPr/>
          </p:nvSpPr>
          <p:spPr>
            <a:xfrm>
              <a:off x="7713354" y="2569138"/>
              <a:ext cx="4183785" cy="1200329"/>
            </a:xfrm>
            <a:prstGeom prst="rect">
              <a:avLst/>
            </a:prstGeom>
            <a:noFill/>
          </p:spPr>
          <p:txBody>
            <a:bodyPr wrap="square" rtlCol="0">
              <a:spAutoFit/>
            </a:bodyPr>
            <a:lstStyle/>
            <a:p>
              <a:pPr>
                <a:lnSpc>
                  <a:spcPct val="150000"/>
                </a:lnSpc>
              </a:pPr>
              <a:r>
                <a:rPr lang="zh-CN" altLang="en-US" sz="1800" b="1" dirty="0">
                  <a:solidFill>
                    <a:srgbClr val="404244"/>
                  </a:solidFill>
                  <a:effectLst/>
                  <a:latin typeface="+mn-ea"/>
                  <a:cs typeface="Helvetica" panose="020B0604020202020204" pitchFamily="34" charset="0"/>
                </a:rPr>
                <a:t>证书管理机构（</a:t>
              </a:r>
              <a:r>
                <a:rPr lang="en-US" altLang="zh-CN" sz="1800" b="1" dirty="0">
                  <a:solidFill>
                    <a:srgbClr val="404244"/>
                  </a:solidFill>
                  <a:effectLst/>
                  <a:latin typeface="+mn-ea"/>
                  <a:cs typeface="Helvetica" panose="020B0604020202020204" pitchFamily="34" charset="0"/>
                </a:rPr>
                <a:t>CMA</a:t>
              </a:r>
              <a:r>
                <a:rPr lang="zh-CN" altLang="en-US" sz="1800" b="1" dirty="0">
                  <a:solidFill>
                    <a:srgbClr val="404244"/>
                  </a:solidFill>
                  <a:effectLst/>
                  <a:latin typeface="+mn-ea"/>
                  <a:cs typeface="Helvetica" panose="020B0604020202020204" pitchFamily="34" charset="0"/>
                </a:rPr>
                <a:t>， </a:t>
              </a:r>
              <a:r>
                <a:rPr lang="en-US" altLang="zh-CN" sz="1800" b="1" dirty="0">
                  <a:solidFill>
                    <a:srgbClr val="404244"/>
                  </a:solidFill>
                  <a:effectLst/>
                  <a:latin typeface="+mn-ea"/>
                  <a:cs typeface="Helvetica" panose="020B0604020202020204" pitchFamily="34" charset="0"/>
                </a:rPr>
                <a:t>Certificate Management Authority</a:t>
              </a:r>
              <a:r>
                <a:rPr lang="zh-CN" altLang="en-US" sz="1800" b="1" dirty="0">
                  <a:solidFill>
                    <a:srgbClr val="404244"/>
                  </a:solidFill>
                  <a:effectLst/>
                  <a:latin typeface="+mn-ea"/>
                  <a:cs typeface="Helvetica" panose="020B0604020202020204" pitchFamily="34" charset="0"/>
                </a:rPr>
                <a:t>）</a:t>
              </a:r>
              <a:endParaRPr lang="zh-CN" altLang="en-US" sz="1800" b="1" dirty="0">
                <a:solidFill>
                  <a:srgbClr val="404244"/>
                </a:solidFill>
                <a:effectLst/>
                <a:latin typeface="+mn-ea"/>
                <a:cs typeface="Helvetica" panose="020B0604020202020204" pitchFamily="34" charset="0"/>
              </a:endParaRPr>
            </a:p>
            <a:p>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公钥基础设施</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457370" y="1008052"/>
            <a:ext cx="5165217" cy="1476815"/>
          </a:xfrm>
          <a:prstGeom prst="rect">
            <a:avLst/>
          </a:prstGeom>
          <a:noFill/>
        </p:spPr>
        <p:txBody>
          <a:bodyPr wrap="square" rtlCol="0">
            <a:spAutoFit/>
          </a:bodyPr>
          <a:lstStyle/>
          <a:p>
            <a:pPr>
              <a:lnSpc>
                <a:spcPct val="200000"/>
              </a:lnSpc>
            </a:pPr>
            <a:r>
              <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PKI</a:t>
            </a:r>
            <a:r>
              <a:rPr lang="zh-CN" altLang="en-US"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的基本组成</a:t>
            </a:r>
            <a:endPar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a:p>
            <a:pPr>
              <a:lnSpc>
                <a:spcPct val="200000"/>
              </a:lnSpc>
            </a:pPr>
            <a:endParaRPr lang="zh-CN" altLang="en-US" sz="2000" dirty="0">
              <a:latin typeface="+mn-ea"/>
            </a:endParaRPr>
          </a:p>
        </p:txBody>
      </p:sp>
      <p:sp>
        <p:nvSpPr>
          <p:cNvPr id="20" name="文本框 19"/>
          <p:cNvSpPr txBox="1"/>
          <p:nvPr/>
        </p:nvSpPr>
        <p:spPr>
          <a:xfrm>
            <a:off x="404829" y="1986072"/>
            <a:ext cx="11329801" cy="4055406"/>
          </a:xfrm>
          <a:prstGeom prst="rect">
            <a:avLst/>
          </a:prstGeom>
          <a:noFill/>
        </p:spPr>
        <p:txBody>
          <a:bodyPr wrap="square">
            <a:spAutoFit/>
          </a:bodyPr>
          <a:lstStyle/>
          <a:p>
            <a:pPr>
              <a:lnSpc>
                <a:spcPct val="200000"/>
              </a:lnSpc>
            </a:pPr>
            <a:r>
              <a:rPr lang="en-US" altLang="zh-CN" sz="2000" b="1" dirty="0">
                <a:solidFill>
                  <a:srgbClr val="404244"/>
                </a:solidFill>
                <a:effectLst/>
                <a:latin typeface="+mn-ea"/>
                <a:cs typeface="Helvetica" panose="020B0604020202020204" pitchFamily="34" charset="0"/>
              </a:rPr>
              <a:t>6. </a:t>
            </a:r>
            <a:r>
              <a:rPr lang="zh-CN" altLang="en-US" sz="2000" b="1" dirty="0">
                <a:solidFill>
                  <a:srgbClr val="404244"/>
                </a:solidFill>
                <a:latin typeface="+mn-ea"/>
                <a:cs typeface="Helvetica" panose="020B0604020202020204" pitchFamily="34" charset="0"/>
              </a:rPr>
              <a:t>署名用户（</a:t>
            </a:r>
            <a:r>
              <a:rPr lang="en-US" altLang="zh-CN" sz="2000" b="1" dirty="0">
                <a:solidFill>
                  <a:srgbClr val="404244"/>
                </a:solidFill>
                <a:latin typeface="+mn-ea"/>
                <a:cs typeface="Helvetica" panose="020B0604020202020204" pitchFamily="34" charset="0"/>
              </a:rPr>
              <a:t>Subscriber</a:t>
            </a:r>
            <a:r>
              <a:rPr lang="zh-CN" altLang="en-US" sz="2000" b="1" dirty="0">
                <a:solidFill>
                  <a:srgbClr val="404244"/>
                </a:solidFill>
                <a:latin typeface="+mn-ea"/>
                <a:cs typeface="Helvetica" panose="020B0604020202020204" pitchFamily="34" charset="0"/>
              </a:rPr>
              <a:t>）</a:t>
            </a:r>
            <a:endParaRPr lang="en-US" altLang="zh-CN" sz="2000" b="1" dirty="0">
              <a:solidFill>
                <a:srgbClr val="404244"/>
              </a:solidFill>
              <a:latin typeface="+mn-ea"/>
              <a:cs typeface="Helvetica" panose="020B0604020202020204" pitchFamily="34" charset="0"/>
            </a:endParaRPr>
          </a:p>
          <a:p>
            <a:pPr>
              <a:lnSpc>
                <a:spcPct val="200000"/>
              </a:lnSpc>
            </a:pPr>
            <a:r>
              <a:rPr lang="zh-CN" altLang="en-US"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作为主体署名证书并依据策略使用证书和密钥的实体。</a:t>
            </a:r>
            <a:endParaRPr lang="en-US"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endParaRPr>
          </a:p>
          <a:p>
            <a:pPr>
              <a:lnSpc>
                <a:spcPct val="200000"/>
              </a:lnSpc>
            </a:pPr>
            <a:r>
              <a:rPr lang="en-US" altLang="zh-CN" sz="2000" b="1" dirty="0">
                <a:solidFill>
                  <a:srgbClr val="404244"/>
                </a:solidFill>
                <a:latin typeface="+mn-ea"/>
                <a:cs typeface="Helvetica" panose="020B0604020202020204" pitchFamily="34" charset="0"/>
              </a:rPr>
              <a:t>7. </a:t>
            </a:r>
            <a:r>
              <a:rPr lang="zh-CN" altLang="en-US" sz="2000" b="1" dirty="0">
                <a:solidFill>
                  <a:srgbClr val="404244"/>
                </a:solidFill>
                <a:latin typeface="+mn-ea"/>
                <a:cs typeface="Helvetica" panose="020B0604020202020204" pitchFamily="34" charset="0"/>
              </a:rPr>
              <a:t>依赖方</a:t>
            </a:r>
            <a:r>
              <a:rPr lang="zh-CN" altLang="zh-CN" sz="2000" b="1" dirty="0">
                <a:solidFill>
                  <a:srgbClr val="404244"/>
                </a:solidFill>
                <a:latin typeface="+mn-ea"/>
                <a:cs typeface="Helvetica" panose="020B0604020202020204" pitchFamily="34" charset="0"/>
              </a:rPr>
              <a:t>（</a:t>
            </a:r>
            <a:r>
              <a:rPr lang="en-US" altLang="zh-CN" sz="2000" b="1" dirty="0">
                <a:solidFill>
                  <a:srgbClr val="404244"/>
                </a:solidFill>
                <a:latin typeface="+mn-ea"/>
                <a:cs typeface="Helvetica" panose="020B0604020202020204" pitchFamily="34" charset="0"/>
              </a:rPr>
              <a:t>Relying Party</a:t>
            </a:r>
            <a:r>
              <a:rPr lang="zh-CN" altLang="zh-CN" sz="2000" b="1" dirty="0">
                <a:solidFill>
                  <a:srgbClr val="404244"/>
                </a:solidFill>
                <a:latin typeface="+mn-ea"/>
                <a:cs typeface="Helvetica" panose="020B0604020202020204" pitchFamily="34" charset="0"/>
              </a:rPr>
              <a:t>）</a:t>
            </a:r>
            <a:endParaRPr lang="zh-CN" altLang="zh-CN" sz="2000" b="1" dirty="0">
              <a:solidFill>
                <a:srgbClr val="404244"/>
              </a:solidFill>
              <a:latin typeface="+mn-ea"/>
              <a:cs typeface="Helvetica" panose="020B0604020202020204" pitchFamily="34" charset="0"/>
            </a:endParaRPr>
          </a:p>
          <a:p>
            <a:pPr>
              <a:lnSpc>
                <a:spcPct val="200000"/>
              </a:lnSpc>
            </a:pPr>
            <a:r>
              <a:rPr lang="zh-CN" altLang="en-US"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一个接收包括证书和签名信息的人或机构，利用证书提供的公钥验证其有效性，与持证人建立保密通信。依赖方与署名用户统称最终用户（</a:t>
            </a:r>
            <a:r>
              <a:rPr lang="en-US"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End-User</a:t>
            </a:r>
            <a:r>
              <a:rPr lang="zh-CN" altLang="en-US"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rPr>
              <a:t>）。</a:t>
            </a:r>
            <a:endParaRPr lang="en-US" altLang="zh-CN" sz="1800" dirty="0">
              <a:solidFill>
                <a:srgbClr val="404244"/>
              </a:solidFill>
              <a:effectLst/>
              <a:latin typeface="宋体" panose="02010600030101010101" pitchFamily="2" charset="-122"/>
              <a:ea typeface="宋体" panose="02010600030101010101" pitchFamily="2" charset="-122"/>
              <a:cs typeface="Helvetica" panose="020B0604020202020204" pitchFamily="34" charset="0"/>
            </a:endParaRPr>
          </a:p>
          <a:p>
            <a:pPr lvl="0">
              <a:lnSpc>
                <a:spcPct val="200000"/>
              </a:lnSpc>
            </a:pPr>
            <a:r>
              <a:rPr lang="en-US" altLang="zh-CN" sz="2000" b="1" dirty="0">
                <a:solidFill>
                  <a:srgbClr val="404244"/>
                </a:solidFill>
                <a:latin typeface="+mn-ea"/>
                <a:cs typeface="Helvetica" panose="020B0604020202020204" pitchFamily="34" charset="0"/>
              </a:rPr>
              <a:t>8. </a:t>
            </a:r>
            <a:r>
              <a:rPr lang="zh-CN" altLang="zh-CN" sz="2000" b="1" dirty="0">
                <a:solidFill>
                  <a:srgbClr val="404244"/>
                </a:solidFill>
                <a:latin typeface="+mn-ea"/>
                <a:cs typeface="Helvetica" panose="020B0604020202020204" pitchFamily="34" charset="0"/>
              </a:rPr>
              <a:t>策略管理机构（</a:t>
            </a:r>
            <a:r>
              <a:rPr lang="en-US" altLang="zh-CN" sz="2000" b="1" dirty="0">
                <a:solidFill>
                  <a:srgbClr val="404244"/>
                </a:solidFill>
                <a:latin typeface="+mn-ea"/>
                <a:cs typeface="Helvetica" panose="020B0604020202020204" pitchFamily="34" charset="0"/>
              </a:rPr>
              <a:t>PMA</a:t>
            </a:r>
            <a:r>
              <a:rPr lang="zh-CN" altLang="en-US" sz="2000" b="1" dirty="0">
                <a:solidFill>
                  <a:srgbClr val="404244"/>
                </a:solidFill>
                <a:latin typeface="+mn-ea"/>
                <a:cs typeface="Helvetica" panose="020B0604020202020204" pitchFamily="34" charset="0"/>
              </a:rPr>
              <a:t>，</a:t>
            </a:r>
            <a:r>
              <a:rPr lang="en-US" altLang="zh-CN" sz="2000" b="1" dirty="0">
                <a:solidFill>
                  <a:srgbClr val="404244"/>
                </a:solidFill>
                <a:latin typeface="+mn-ea"/>
                <a:cs typeface="Helvetica" panose="020B0604020202020204" pitchFamily="34" charset="0"/>
              </a:rPr>
              <a:t>Policy Management Authority</a:t>
            </a:r>
            <a:r>
              <a:rPr lang="zh-CN" altLang="zh-CN" sz="2000" b="1" dirty="0">
                <a:solidFill>
                  <a:srgbClr val="404244"/>
                </a:solidFill>
                <a:latin typeface="+mn-ea"/>
                <a:cs typeface="Helvetica" panose="020B0604020202020204" pitchFamily="34" charset="0"/>
              </a:rPr>
              <a:t>）</a:t>
            </a:r>
            <a:endParaRPr lang="zh-CN" altLang="zh-CN" sz="2000" b="1" dirty="0">
              <a:solidFill>
                <a:srgbClr val="404244"/>
              </a:solidFill>
              <a:latin typeface="+mn-ea"/>
              <a:cs typeface="Helvetica" panose="020B0604020202020204" pitchFamily="34" charset="0"/>
            </a:endParaRPr>
          </a:p>
          <a:p>
            <a:pPr>
              <a:lnSpc>
                <a:spcPct val="200000"/>
              </a:lnSpc>
            </a:pPr>
            <a:r>
              <a:rPr lang="zh-CN"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监督证书策略的产生和更新，管理</a:t>
            </a:r>
            <a:r>
              <a:rPr lang="en-US"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PKI</a:t>
            </a:r>
            <a:r>
              <a:rPr lang="zh-CN"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证书策略。</a:t>
            </a:r>
            <a:endParaRPr lang="zh-CN" altLang="zh-CN" dirty="0">
              <a:solidFill>
                <a:srgbClr val="404244"/>
              </a:solidFill>
              <a:latin typeface="宋体" panose="02010600030101010101" pitchFamily="2" charset="-122"/>
              <a:ea typeface="宋体" panose="02010600030101010101" pitchFamily="2" charset="-122"/>
              <a:cs typeface="Helvetica"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公钥基础设施</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457370" y="1008052"/>
            <a:ext cx="5165217" cy="823431"/>
          </a:xfrm>
          <a:prstGeom prst="rect">
            <a:avLst/>
          </a:prstGeom>
          <a:noFill/>
        </p:spPr>
        <p:txBody>
          <a:bodyPr wrap="square" rtlCol="0">
            <a:spAutoFit/>
          </a:bodyPr>
          <a:lstStyle/>
          <a:p>
            <a:pPr>
              <a:lnSpc>
                <a:spcPct val="200000"/>
              </a:lnSpc>
            </a:pPr>
            <a:r>
              <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PKI</a:t>
            </a:r>
            <a:r>
              <a:rPr lang="zh-CN" altLang="en-US"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的主要运行流程</a:t>
            </a:r>
            <a:endParaRPr lang="zh-CN" altLang="en-US" sz="2000" dirty="0">
              <a:latin typeface="+mn-ea"/>
            </a:endParaRPr>
          </a:p>
        </p:txBody>
      </p:sp>
      <p:grpSp>
        <p:nvGrpSpPr>
          <p:cNvPr id="19" name="组合 18"/>
          <p:cNvGrpSpPr/>
          <p:nvPr/>
        </p:nvGrpSpPr>
        <p:grpSpPr>
          <a:xfrm>
            <a:off x="2141444" y="4210760"/>
            <a:ext cx="1014409" cy="1436110"/>
            <a:chOff x="1470517" y="3124408"/>
            <a:chExt cx="1014409" cy="1436110"/>
          </a:xfrm>
        </p:grpSpPr>
        <p:pic>
          <p:nvPicPr>
            <p:cNvPr id="14" name="图片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70517" y="3124408"/>
              <a:ext cx="1014409" cy="1014409"/>
            </a:xfrm>
            <a:prstGeom prst="rect">
              <a:avLst/>
            </a:prstGeom>
          </p:spPr>
        </p:pic>
        <p:sp>
          <p:nvSpPr>
            <p:cNvPr id="18" name="文本框 17"/>
            <p:cNvSpPr txBox="1"/>
            <p:nvPr/>
          </p:nvSpPr>
          <p:spPr>
            <a:xfrm>
              <a:off x="1470517" y="4221964"/>
              <a:ext cx="1014409" cy="338554"/>
            </a:xfrm>
            <a:prstGeom prst="rect">
              <a:avLst/>
            </a:prstGeom>
            <a:noFill/>
          </p:spPr>
          <p:txBody>
            <a:bodyPr wrap="square">
              <a:spAutoFit/>
            </a:bodyPr>
            <a:lstStyle/>
            <a:p>
              <a:pPr algn="ctr"/>
              <a:r>
                <a:rPr lang="zh-CN" altLang="en-US" sz="1600" dirty="0">
                  <a:solidFill>
                    <a:srgbClr val="404244"/>
                  </a:solidFill>
                  <a:latin typeface="+mn-ea"/>
                  <a:cs typeface="Helvetica" panose="020B0604020202020204" pitchFamily="34" charset="0"/>
                </a:rPr>
                <a:t>署名用户</a:t>
              </a:r>
              <a:endParaRPr lang="zh-CN" altLang="en-US" sz="1600" dirty="0"/>
            </a:p>
          </p:txBody>
        </p:sp>
      </p:grpSp>
      <p:grpSp>
        <p:nvGrpSpPr>
          <p:cNvPr id="22" name="组合 21"/>
          <p:cNvGrpSpPr/>
          <p:nvPr/>
        </p:nvGrpSpPr>
        <p:grpSpPr>
          <a:xfrm>
            <a:off x="8468577" y="4115944"/>
            <a:ext cx="1014409" cy="1436109"/>
            <a:chOff x="8533321" y="3124409"/>
            <a:chExt cx="1014409" cy="1436109"/>
          </a:xfrm>
        </p:grpSpPr>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3321" y="3124409"/>
              <a:ext cx="1014409" cy="1014409"/>
            </a:xfrm>
            <a:prstGeom prst="rect">
              <a:avLst/>
            </a:prstGeom>
          </p:spPr>
        </p:pic>
        <p:sp>
          <p:nvSpPr>
            <p:cNvPr id="21" name="文本框 20"/>
            <p:cNvSpPr txBox="1"/>
            <p:nvPr/>
          </p:nvSpPr>
          <p:spPr>
            <a:xfrm>
              <a:off x="8533321" y="4221964"/>
              <a:ext cx="1014409" cy="338554"/>
            </a:xfrm>
            <a:prstGeom prst="rect">
              <a:avLst/>
            </a:prstGeom>
            <a:noFill/>
          </p:spPr>
          <p:txBody>
            <a:bodyPr wrap="square">
              <a:spAutoFit/>
            </a:bodyPr>
            <a:lstStyle/>
            <a:p>
              <a:pPr algn="ctr"/>
              <a:r>
                <a:rPr lang="zh-CN" altLang="en-US" sz="1600" dirty="0"/>
                <a:t>依赖方</a:t>
              </a:r>
              <a:endParaRPr lang="zh-CN" altLang="en-US" sz="1600" dirty="0"/>
            </a:p>
          </p:txBody>
        </p:sp>
      </p:grpSp>
      <p:grpSp>
        <p:nvGrpSpPr>
          <p:cNvPr id="26" name="组合 25"/>
          <p:cNvGrpSpPr/>
          <p:nvPr/>
        </p:nvGrpSpPr>
        <p:grpSpPr>
          <a:xfrm>
            <a:off x="3528061" y="2197829"/>
            <a:ext cx="1139198" cy="1471722"/>
            <a:chOff x="3898360" y="2208179"/>
            <a:chExt cx="1139198" cy="1471722"/>
          </a:xfrm>
        </p:grpSpPr>
        <p:pic>
          <p:nvPicPr>
            <p:cNvPr id="24" name="图片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8360" y="2208179"/>
              <a:ext cx="1139198" cy="1139198"/>
            </a:xfrm>
            <a:prstGeom prst="rect">
              <a:avLst/>
            </a:prstGeom>
          </p:spPr>
        </p:pic>
        <p:sp>
          <p:nvSpPr>
            <p:cNvPr id="25" name="文本框 24"/>
            <p:cNvSpPr txBox="1"/>
            <p:nvPr/>
          </p:nvSpPr>
          <p:spPr>
            <a:xfrm>
              <a:off x="3960754" y="3341347"/>
              <a:ext cx="1014409" cy="338554"/>
            </a:xfrm>
            <a:prstGeom prst="rect">
              <a:avLst/>
            </a:prstGeom>
            <a:noFill/>
          </p:spPr>
          <p:txBody>
            <a:bodyPr wrap="square">
              <a:spAutoFit/>
            </a:bodyPr>
            <a:lstStyle/>
            <a:p>
              <a:pPr algn="ctr"/>
              <a:r>
                <a:rPr lang="en-US" altLang="zh-CN" sz="1600" b="1" dirty="0">
                  <a:solidFill>
                    <a:srgbClr val="404244"/>
                  </a:solidFill>
                  <a:latin typeface="+mn-ea"/>
                  <a:cs typeface="Helvetica" panose="020B0604020202020204" pitchFamily="34" charset="0"/>
                </a:rPr>
                <a:t>RA</a:t>
              </a:r>
              <a:endParaRPr lang="zh-CN" altLang="en-US" sz="1600" b="1" dirty="0"/>
            </a:p>
          </p:txBody>
        </p:sp>
      </p:grpSp>
      <p:grpSp>
        <p:nvGrpSpPr>
          <p:cNvPr id="27" name="组合 26"/>
          <p:cNvGrpSpPr/>
          <p:nvPr/>
        </p:nvGrpSpPr>
        <p:grpSpPr>
          <a:xfrm>
            <a:off x="6676777" y="2179914"/>
            <a:ext cx="1139198" cy="1471722"/>
            <a:chOff x="3898360" y="2208179"/>
            <a:chExt cx="1139198" cy="1471722"/>
          </a:xfrm>
        </p:grpSpPr>
        <p:pic>
          <p:nvPicPr>
            <p:cNvPr id="28" name="图片 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8360" y="2208179"/>
              <a:ext cx="1139198" cy="1139198"/>
            </a:xfrm>
            <a:prstGeom prst="rect">
              <a:avLst/>
            </a:prstGeom>
          </p:spPr>
        </p:pic>
        <p:sp>
          <p:nvSpPr>
            <p:cNvPr id="29" name="文本框 28"/>
            <p:cNvSpPr txBox="1"/>
            <p:nvPr/>
          </p:nvSpPr>
          <p:spPr>
            <a:xfrm>
              <a:off x="3960754" y="3341347"/>
              <a:ext cx="1014409" cy="338554"/>
            </a:xfrm>
            <a:prstGeom prst="rect">
              <a:avLst/>
            </a:prstGeom>
            <a:noFill/>
          </p:spPr>
          <p:txBody>
            <a:bodyPr wrap="square">
              <a:spAutoFit/>
            </a:bodyPr>
            <a:lstStyle/>
            <a:p>
              <a:pPr algn="ctr"/>
              <a:r>
                <a:rPr lang="en-US" altLang="zh-CN" sz="1600" b="1" dirty="0">
                  <a:solidFill>
                    <a:srgbClr val="C00000"/>
                  </a:solidFill>
                  <a:latin typeface="+mn-ea"/>
                  <a:cs typeface="Helvetica" panose="020B0604020202020204" pitchFamily="34" charset="0"/>
                </a:rPr>
                <a:t>CA</a:t>
              </a:r>
              <a:endParaRPr lang="zh-CN" altLang="en-US" sz="1600" b="1" dirty="0">
                <a:solidFill>
                  <a:srgbClr val="C00000"/>
                </a:solidFill>
              </a:endParaRPr>
            </a:p>
          </p:txBody>
        </p:sp>
      </p:grpSp>
      <p:grpSp>
        <p:nvGrpSpPr>
          <p:cNvPr id="33" name="组合 32"/>
          <p:cNvGrpSpPr/>
          <p:nvPr/>
        </p:nvGrpSpPr>
        <p:grpSpPr>
          <a:xfrm>
            <a:off x="8539310" y="1008052"/>
            <a:ext cx="1014409" cy="1386130"/>
            <a:chOff x="9139897" y="912562"/>
            <a:chExt cx="1014410" cy="1352964"/>
          </a:xfrm>
        </p:grpSpPr>
        <p:pic>
          <p:nvPicPr>
            <p:cNvPr id="31" name="图片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9897" y="912562"/>
              <a:ext cx="1014410" cy="1014410"/>
            </a:xfrm>
            <a:prstGeom prst="rect">
              <a:avLst/>
            </a:prstGeom>
          </p:spPr>
        </p:pic>
        <p:sp>
          <p:nvSpPr>
            <p:cNvPr id="32" name="文本框 31"/>
            <p:cNvSpPr txBox="1"/>
            <p:nvPr/>
          </p:nvSpPr>
          <p:spPr>
            <a:xfrm>
              <a:off x="9139898" y="1926972"/>
              <a:ext cx="1014409" cy="338554"/>
            </a:xfrm>
            <a:prstGeom prst="rect">
              <a:avLst/>
            </a:prstGeom>
            <a:noFill/>
          </p:spPr>
          <p:txBody>
            <a:bodyPr wrap="square">
              <a:spAutoFit/>
            </a:bodyPr>
            <a:lstStyle/>
            <a:p>
              <a:pPr algn="ctr"/>
              <a:r>
                <a:rPr lang="zh-CN" altLang="en-US" sz="1600" dirty="0">
                  <a:solidFill>
                    <a:srgbClr val="404244"/>
                  </a:solidFill>
                  <a:latin typeface="+mn-ea"/>
                  <a:cs typeface="Helvetica" panose="020B0604020202020204" pitchFamily="34" charset="0"/>
                </a:rPr>
                <a:t>证书存档</a:t>
              </a:r>
              <a:endParaRPr lang="zh-CN" altLang="en-US" sz="1600" dirty="0"/>
            </a:p>
          </p:txBody>
        </p:sp>
      </p:grpSp>
      <p:sp>
        <p:nvSpPr>
          <p:cNvPr id="42" name="文本框 41"/>
          <p:cNvSpPr txBox="1"/>
          <p:nvPr/>
        </p:nvSpPr>
        <p:spPr>
          <a:xfrm>
            <a:off x="3806820" y="1794753"/>
            <a:ext cx="293153" cy="369332"/>
          </a:xfrm>
          <a:prstGeom prst="rect">
            <a:avLst/>
          </a:prstGeom>
          <a:noFill/>
        </p:spPr>
        <p:txBody>
          <a:bodyPr wrap="square" rtlCol="0">
            <a:spAutoFit/>
          </a:bodyPr>
          <a:lstStyle/>
          <a:p>
            <a:r>
              <a:rPr lang="zh-CN" altLang="en-US" dirty="0"/>
              <a:t>②</a:t>
            </a:r>
            <a:endParaRPr lang="zh-CN" altLang="en-US" dirty="0"/>
          </a:p>
        </p:txBody>
      </p:sp>
      <p:grpSp>
        <p:nvGrpSpPr>
          <p:cNvPr id="46" name="组合 45"/>
          <p:cNvGrpSpPr/>
          <p:nvPr/>
        </p:nvGrpSpPr>
        <p:grpSpPr>
          <a:xfrm>
            <a:off x="4667259" y="2274617"/>
            <a:ext cx="2009518" cy="492811"/>
            <a:chOff x="4667259" y="2274617"/>
            <a:chExt cx="2009518" cy="492811"/>
          </a:xfrm>
        </p:grpSpPr>
        <p:cxnSp>
          <p:nvCxnSpPr>
            <p:cNvPr id="44" name="直接箭头连接符 43"/>
            <p:cNvCxnSpPr>
              <a:stCxn id="24" idx="3"/>
              <a:endCxn id="28" idx="1"/>
            </p:cNvCxnSpPr>
            <p:nvPr/>
          </p:nvCxnSpPr>
          <p:spPr>
            <a:xfrm flipV="1">
              <a:off x="4667259" y="2749513"/>
              <a:ext cx="2009518" cy="17915"/>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5476010" y="2274617"/>
              <a:ext cx="293153" cy="369332"/>
            </a:xfrm>
            <a:prstGeom prst="rect">
              <a:avLst/>
            </a:prstGeom>
            <a:noFill/>
          </p:spPr>
          <p:txBody>
            <a:bodyPr wrap="square" rtlCol="0">
              <a:spAutoFit/>
            </a:bodyPr>
            <a:lstStyle/>
            <a:p>
              <a:r>
                <a:rPr lang="zh-CN" altLang="en-US" dirty="0"/>
                <a:t>③</a:t>
              </a:r>
              <a:endParaRPr lang="zh-CN" altLang="en-US" dirty="0"/>
            </a:p>
          </p:txBody>
        </p:sp>
      </p:grpSp>
      <p:grpSp>
        <p:nvGrpSpPr>
          <p:cNvPr id="53" name="组合 52"/>
          <p:cNvGrpSpPr/>
          <p:nvPr/>
        </p:nvGrpSpPr>
        <p:grpSpPr>
          <a:xfrm rot="19262377">
            <a:off x="7483826" y="1575809"/>
            <a:ext cx="956400" cy="462560"/>
            <a:chOff x="4747242" y="2056430"/>
            <a:chExt cx="1929535" cy="693083"/>
          </a:xfrm>
        </p:grpSpPr>
        <p:cxnSp>
          <p:nvCxnSpPr>
            <p:cNvPr id="54" name="直接箭头连接符 53"/>
            <p:cNvCxnSpPr/>
            <p:nvPr/>
          </p:nvCxnSpPr>
          <p:spPr>
            <a:xfrm>
              <a:off x="4747242" y="2743756"/>
              <a:ext cx="1929535" cy="5757"/>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rot="2337624">
              <a:off x="5275015" y="2056430"/>
              <a:ext cx="669166" cy="553394"/>
            </a:xfrm>
            <a:prstGeom prst="rect">
              <a:avLst/>
            </a:prstGeom>
            <a:noFill/>
          </p:spPr>
          <p:txBody>
            <a:bodyPr wrap="square" rtlCol="0">
              <a:spAutoFit/>
            </a:bodyPr>
            <a:lstStyle/>
            <a:p>
              <a:r>
                <a:rPr lang="zh-CN" altLang="en-US" dirty="0"/>
                <a:t>⑤</a:t>
              </a:r>
              <a:endParaRPr lang="zh-CN" altLang="en-US" dirty="0"/>
            </a:p>
          </p:txBody>
        </p:sp>
      </p:grpSp>
      <p:grpSp>
        <p:nvGrpSpPr>
          <p:cNvPr id="56" name="组合 55"/>
          <p:cNvGrpSpPr/>
          <p:nvPr/>
        </p:nvGrpSpPr>
        <p:grpSpPr>
          <a:xfrm>
            <a:off x="3259088" y="4411002"/>
            <a:ext cx="5087243" cy="428754"/>
            <a:chOff x="4747242" y="2320759"/>
            <a:chExt cx="1929535" cy="428754"/>
          </a:xfrm>
        </p:grpSpPr>
        <p:cxnSp>
          <p:nvCxnSpPr>
            <p:cNvPr id="57" name="直接箭头连接符 56"/>
            <p:cNvCxnSpPr/>
            <p:nvPr/>
          </p:nvCxnSpPr>
          <p:spPr>
            <a:xfrm>
              <a:off x="4747242" y="2743756"/>
              <a:ext cx="1929535" cy="5757"/>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5650294" y="2320759"/>
              <a:ext cx="293153" cy="369332"/>
            </a:xfrm>
            <a:prstGeom prst="rect">
              <a:avLst/>
            </a:prstGeom>
            <a:noFill/>
          </p:spPr>
          <p:txBody>
            <a:bodyPr wrap="square" rtlCol="0">
              <a:spAutoFit/>
            </a:bodyPr>
            <a:lstStyle/>
            <a:p>
              <a:r>
                <a:rPr lang="zh-CN" altLang="en-US" dirty="0"/>
                <a:t>⑥</a:t>
              </a:r>
              <a:endParaRPr lang="zh-CN" altLang="en-US" dirty="0"/>
            </a:p>
          </p:txBody>
        </p:sp>
      </p:grpSp>
      <p:grpSp>
        <p:nvGrpSpPr>
          <p:cNvPr id="62" name="组合 61"/>
          <p:cNvGrpSpPr/>
          <p:nvPr/>
        </p:nvGrpSpPr>
        <p:grpSpPr>
          <a:xfrm rot="18209365">
            <a:off x="2215472" y="3140649"/>
            <a:ext cx="1414610" cy="446395"/>
            <a:chOff x="4747242" y="2031513"/>
            <a:chExt cx="1929535" cy="718000"/>
          </a:xfrm>
        </p:grpSpPr>
        <p:cxnSp>
          <p:nvCxnSpPr>
            <p:cNvPr id="63" name="直接箭头连接符 62"/>
            <p:cNvCxnSpPr/>
            <p:nvPr/>
          </p:nvCxnSpPr>
          <p:spPr>
            <a:xfrm>
              <a:off x="4747242" y="2743756"/>
              <a:ext cx="1929535" cy="5757"/>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a:xfrm rot="3390635">
              <a:off x="5307985" y="2026184"/>
              <a:ext cx="603228" cy="613885"/>
            </a:xfrm>
            <a:prstGeom prst="rect">
              <a:avLst/>
            </a:prstGeom>
            <a:noFill/>
          </p:spPr>
          <p:txBody>
            <a:bodyPr wrap="square" rtlCol="0">
              <a:spAutoFit/>
            </a:bodyPr>
            <a:lstStyle/>
            <a:p>
              <a:r>
                <a:rPr lang="zh-CN" altLang="en-US" dirty="0"/>
                <a:t>①</a:t>
              </a:r>
              <a:endParaRPr lang="zh-CN" altLang="en-US" dirty="0"/>
            </a:p>
          </p:txBody>
        </p:sp>
      </p:grpSp>
      <p:grpSp>
        <p:nvGrpSpPr>
          <p:cNvPr id="66" name="组合 65"/>
          <p:cNvGrpSpPr/>
          <p:nvPr/>
        </p:nvGrpSpPr>
        <p:grpSpPr>
          <a:xfrm rot="9787912">
            <a:off x="3036394" y="3560883"/>
            <a:ext cx="3788822" cy="409513"/>
            <a:chOff x="4747242" y="2743756"/>
            <a:chExt cx="1929535" cy="613599"/>
          </a:xfrm>
        </p:grpSpPr>
        <p:cxnSp>
          <p:nvCxnSpPr>
            <p:cNvPr id="67" name="直接箭头连接符 66"/>
            <p:cNvCxnSpPr/>
            <p:nvPr/>
          </p:nvCxnSpPr>
          <p:spPr>
            <a:xfrm>
              <a:off x="4747242" y="2743756"/>
              <a:ext cx="1929535" cy="5757"/>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rot="11812088">
              <a:off x="5423376" y="2803961"/>
              <a:ext cx="205028" cy="553394"/>
            </a:xfrm>
            <a:prstGeom prst="rect">
              <a:avLst/>
            </a:prstGeom>
            <a:noFill/>
          </p:spPr>
          <p:txBody>
            <a:bodyPr wrap="square" rtlCol="0">
              <a:spAutoFit/>
            </a:bodyPr>
            <a:lstStyle/>
            <a:p>
              <a:r>
                <a:rPr lang="zh-CN" altLang="en-US" dirty="0"/>
                <a:t>④</a:t>
              </a:r>
              <a:endParaRPr lang="zh-CN" altLang="en-US" dirty="0"/>
            </a:p>
          </p:txBody>
        </p:sp>
      </p:grpSp>
      <p:grpSp>
        <p:nvGrpSpPr>
          <p:cNvPr id="69" name="组合 68"/>
          <p:cNvGrpSpPr/>
          <p:nvPr/>
        </p:nvGrpSpPr>
        <p:grpSpPr>
          <a:xfrm rot="16200000">
            <a:off x="8117850" y="3024234"/>
            <a:ext cx="1399054" cy="471974"/>
            <a:chOff x="4747242" y="2042325"/>
            <a:chExt cx="1929535" cy="707188"/>
          </a:xfrm>
        </p:grpSpPr>
        <p:cxnSp>
          <p:nvCxnSpPr>
            <p:cNvPr id="70" name="直接箭头连接符 69"/>
            <p:cNvCxnSpPr/>
            <p:nvPr/>
          </p:nvCxnSpPr>
          <p:spPr>
            <a:xfrm>
              <a:off x="4747242" y="2743756"/>
              <a:ext cx="1929535" cy="5757"/>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a:xfrm rot="5400000">
              <a:off x="5318797" y="2014772"/>
              <a:ext cx="581603" cy="636710"/>
            </a:xfrm>
            <a:prstGeom prst="rect">
              <a:avLst/>
            </a:prstGeom>
            <a:noFill/>
          </p:spPr>
          <p:txBody>
            <a:bodyPr wrap="square" rtlCol="0">
              <a:spAutoFit/>
            </a:bodyPr>
            <a:lstStyle/>
            <a:p>
              <a:r>
                <a:rPr lang="zh-CN" altLang="en-US" dirty="0"/>
                <a:t>⑦</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additive="base">
                                        <p:cTn id="13" dur="500" fill="hold"/>
                                        <p:tgtEl>
                                          <p:spTgt spid="42"/>
                                        </p:tgtEl>
                                        <p:attrNameLst>
                                          <p:attrName>ppt_x</p:attrName>
                                        </p:attrNameLst>
                                      </p:cBhvr>
                                      <p:tavLst>
                                        <p:tav tm="0">
                                          <p:val>
                                            <p:strVal val="#ppt_x"/>
                                          </p:val>
                                        </p:tav>
                                        <p:tav tm="100000">
                                          <p:val>
                                            <p:strVal val="#ppt_x"/>
                                          </p:val>
                                        </p:tav>
                                      </p:tavLst>
                                    </p:anim>
                                    <p:anim calcmode="lin" valueType="num">
                                      <p:cBhvr additive="base">
                                        <p:cTn id="1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500" fill="hold"/>
                                        <p:tgtEl>
                                          <p:spTgt spid="46"/>
                                        </p:tgtEl>
                                        <p:attrNameLst>
                                          <p:attrName>ppt_x</p:attrName>
                                        </p:attrNameLst>
                                      </p:cBhvr>
                                      <p:tavLst>
                                        <p:tav tm="0">
                                          <p:val>
                                            <p:strVal val="#ppt_x"/>
                                          </p:val>
                                        </p:tav>
                                        <p:tav tm="100000">
                                          <p:val>
                                            <p:strVal val="#ppt_x"/>
                                          </p:val>
                                        </p:tav>
                                      </p:tavLst>
                                    </p:anim>
                                    <p:anim calcmode="lin" valueType="num">
                                      <p:cBhvr additive="base">
                                        <p:cTn id="20"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6"/>
                                        </p:tgtEl>
                                        <p:attrNameLst>
                                          <p:attrName>style.visibility</p:attrName>
                                        </p:attrNameLst>
                                      </p:cBhvr>
                                      <p:to>
                                        <p:strVal val="visible"/>
                                      </p:to>
                                    </p:set>
                                    <p:anim calcmode="lin" valueType="num">
                                      <p:cBhvr additive="base">
                                        <p:cTn id="25" dur="500" fill="hold"/>
                                        <p:tgtEl>
                                          <p:spTgt spid="66"/>
                                        </p:tgtEl>
                                        <p:attrNameLst>
                                          <p:attrName>ppt_x</p:attrName>
                                        </p:attrNameLst>
                                      </p:cBhvr>
                                      <p:tavLst>
                                        <p:tav tm="0">
                                          <p:val>
                                            <p:strVal val="#ppt_x"/>
                                          </p:val>
                                        </p:tav>
                                        <p:tav tm="100000">
                                          <p:val>
                                            <p:strVal val="#ppt_x"/>
                                          </p:val>
                                        </p:tav>
                                      </p:tavLst>
                                    </p:anim>
                                    <p:anim calcmode="lin" valueType="num">
                                      <p:cBhvr additive="base">
                                        <p:cTn id="26" dur="500" fill="hold"/>
                                        <p:tgtEl>
                                          <p:spTgt spid="6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500" fill="hold"/>
                                        <p:tgtEl>
                                          <p:spTgt spid="53"/>
                                        </p:tgtEl>
                                        <p:attrNameLst>
                                          <p:attrName>ppt_x</p:attrName>
                                        </p:attrNameLst>
                                      </p:cBhvr>
                                      <p:tavLst>
                                        <p:tav tm="0">
                                          <p:val>
                                            <p:strVal val="#ppt_x"/>
                                          </p:val>
                                        </p:tav>
                                        <p:tav tm="100000">
                                          <p:val>
                                            <p:strVal val="#ppt_x"/>
                                          </p:val>
                                        </p:tav>
                                      </p:tavLst>
                                    </p:anim>
                                    <p:anim calcmode="lin" valueType="num">
                                      <p:cBhvr additive="base">
                                        <p:cTn id="3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anim calcmode="lin" valueType="num">
                                      <p:cBhvr additive="base">
                                        <p:cTn id="37" dur="500" fill="hold"/>
                                        <p:tgtEl>
                                          <p:spTgt spid="56"/>
                                        </p:tgtEl>
                                        <p:attrNameLst>
                                          <p:attrName>ppt_x</p:attrName>
                                        </p:attrNameLst>
                                      </p:cBhvr>
                                      <p:tavLst>
                                        <p:tav tm="0">
                                          <p:val>
                                            <p:strVal val="#ppt_x"/>
                                          </p:val>
                                        </p:tav>
                                        <p:tav tm="100000">
                                          <p:val>
                                            <p:strVal val="#ppt_x"/>
                                          </p:val>
                                        </p:tav>
                                      </p:tavLst>
                                    </p:anim>
                                    <p:anim calcmode="lin" valueType="num">
                                      <p:cBhvr additive="base">
                                        <p:cTn id="3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69"/>
                                        </p:tgtEl>
                                        <p:attrNameLst>
                                          <p:attrName>style.visibility</p:attrName>
                                        </p:attrNameLst>
                                      </p:cBhvr>
                                      <p:to>
                                        <p:strVal val="visible"/>
                                      </p:to>
                                    </p:set>
                                    <p:anim calcmode="lin" valueType="num">
                                      <p:cBhvr additive="base">
                                        <p:cTn id="43" dur="500" fill="hold"/>
                                        <p:tgtEl>
                                          <p:spTgt spid="69"/>
                                        </p:tgtEl>
                                        <p:attrNameLst>
                                          <p:attrName>ppt_x</p:attrName>
                                        </p:attrNameLst>
                                      </p:cBhvr>
                                      <p:tavLst>
                                        <p:tav tm="0">
                                          <p:val>
                                            <p:strVal val="#ppt_x"/>
                                          </p:val>
                                        </p:tav>
                                        <p:tav tm="100000">
                                          <p:val>
                                            <p:strVal val="#ppt_x"/>
                                          </p:val>
                                        </p:tav>
                                      </p:tavLst>
                                    </p:anim>
                                    <p:anim calcmode="lin" valueType="num">
                                      <p:cBhvr additive="base">
                                        <p:cTn id="44"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公钥基础设施</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457370" y="1008052"/>
            <a:ext cx="5165217" cy="823431"/>
          </a:xfrm>
          <a:prstGeom prst="rect">
            <a:avLst/>
          </a:prstGeom>
          <a:noFill/>
        </p:spPr>
        <p:txBody>
          <a:bodyPr wrap="square" rtlCol="0">
            <a:spAutoFit/>
          </a:bodyPr>
          <a:lstStyle/>
          <a:p>
            <a:pPr>
              <a:lnSpc>
                <a:spcPct val="200000"/>
              </a:lnSpc>
            </a:pPr>
            <a:r>
              <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PKI</a:t>
            </a:r>
            <a:r>
              <a:rPr lang="zh-CN" altLang="en-US"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的主要运行流程</a:t>
            </a:r>
            <a:endParaRPr lang="zh-CN" altLang="en-US" sz="2000" dirty="0">
              <a:latin typeface="+mn-ea"/>
            </a:endParaRPr>
          </a:p>
        </p:txBody>
      </p:sp>
      <p:pic>
        <p:nvPicPr>
          <p:cNvPr id="23" name="图片 2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21519" y="2225674"/>
            <a:ext cx="4698290" cy="2967138"/>
          </a:xfrm>
          <a:prstGeom prst="rect">
            <a:avLst/>
          </a:prstGeom>
        </p:spPr>
      </p:pic>
      <p:sp>
        <p:nvSpPr>
          <p:cNvPr id="34" name="文本框 33"/>
          <p:cNvSpPr txBox="1"/>
          <p:nvPr/>
        </p:nvSpPr>
        <p:spPr>
          <a:xfrm>
            <a:off x="5725199" y="1208616"/>
            <a:ext cx="6094378" cy="4440767"/>
          </a:xfrm>
          <a:prstGeom prst="rect">
            <a:avLst/>
          </a:prstGeom>
          <a:noFill/>
        </p:spPr>
        <p:txBody>
          <a:bodyPr wrap="square">
            <a:spAutoFit/>
          </a:bodyPr>
          <a:lstStyle/>
          <a:p>
            <a:pPr marL="0" marR="0" lvl="0" indent="0" algn="l" defTabSz="914400" rtl="0" eaLnBrk="1" fontAlgn="auto" latinLnBrk="0" hangingPunct="1">
              <a:lnSpc>
                <a:spcPct val="200000"/>
              </a:lnSpc>
              <a:spcBef>
                <a:spcPts val="0"/>
              </a:spcBef>
              <a:buClrTx/>
              <a:buSzTx/>
              <a:buFontTx/>
              <a:buNone/>
              <a:defRPr/>
            </a:pPr>
            <a:r>
              <a:rPr lang="zh-CN" altLang="en-US" sz="1800" kern="100" dirty="0">
                <a:effectLst/>
                <a:latin typeface="+mj-ea"/>
                <a:ea typeface="+mj-ea"/>
                <a:cs typeface="Times New Roman" panose="02020603050405020304" pitchFamily="18" charset="0"/>
              </a:rPr>
              <a:t>①</a:t>
            </a:r>
            <a:r>
              <a:rPr lang="zh-CN" altLang="zh-CN" sz="1800" kern="100" dirty="0">
                <a:effectLst/>
                <a:latin typeface="+mj-ea"/>
                <a:ea typeface="+mj-ea"/>
                <a:cs typeface="Times New Roman" panose="02020603050405020304" pitchFamily="18" charset="0"/>
              </a:rPr>
              <a:t>署名用户向</a:t>
            </a:r>
            <a:r>
              <a:rPr lang="en-US" altLang="zh-CN" sz="1800" kern="100" dirty="0">
                <a:effectLst/>
                <a:latin typeface="+mj-ea"/>
                <a:ea typeface="+mj-ea"/>
                <a:cs typeface="Times New Roman" panose="02020603050405020304" pitchFamily="18" charset="0"/>
              </a:rPr>
              <a:t>RA</a:t>
            </a:r>
            <a:r>
              <a:rPr lang="zh-CN" altLang="zh-CN" sz="1800" kern="100" dirty="0">
                <a:effectLst/>
                <a:latin typeface="+mj-ea"/>
                <a:ea typeface="+mj-ea"/>
                <a:cs typeface="Times New Roman" panose="02020603050405020304" pitchFamily="18" charset="0"/>
              </a:rPr>
              <a:t>提出数字证书申请</a:t>
            </a:r>
            <a:endParaRPr lang="zh-CN" altLang="zh-CN" sz="1800" kern="100" dirty="0">
              <a:effectLst/>
              <a:latin typeface="+mj-ea"/>
              <a:ea typeface="+mj-ea"/>
              <a:cs typeface="Times New Roman" panose="02020603050405020304" pitchFamily="18" charset="0"/>
            </a:endParaRPr>
          </a:p>
          <a:p>
            <a:pPr marL="0" marR="0" lvl="0" indent="0" algn="l" defTabSz="914400" rtl="0" eaLnBrk="1" fontAlgn="auto" latinLnBrk="0" hangingPunct="1">
              <a:lnSpc>
                <a:spcPct val="200000"/>
              </a:lnSpc>
              <a:buClrTx/>
              <a:buSzTx/>
              <a:buFontTx/>
              <a:buNone/>
              <a:defRPr/>
            </a:pPr>
            <a:r>
              <a:rPr lang="zh-CN" altLang="en-US" sz="1800" dirty="0">
                <a:solidFill>
                  <a:srgbClr val="404244"/>
                </a:solidFill>
                <a:effectLst/>
                <a:latin typeface="+mj-ea"/>
                <a:ea typeface="+mj-ea"/>
                <a:cs typeface="Helvetica" panose="020B0604020202020204" pitchFamily="34" charset="0"/>
              </a:rPr>
              <a:t>②</a:t>
            </a:r>
            <a:r>
              <a:rPr lang="en-US" altLang="zh-CN" sz="1800" dirty="0">
                <a:effectLst/>
                <a:latin typeface="+mj-ea"/>
                <a:ea typeface="+mj-ea"/>
                <a:cs typeface="Times New Roman" panose="02020603050405020304" pitchFamily="18" charset="0"/>
              </a:rPr>
              <a:t>RA</a:t>
            </a:r>
            <a:r>
              <a:rPr lang="zh-CN" altLang="zh-CN" sz="1800" dirty="0">
                <a:effectLst/>
                <a:latin typeface="+mj-ea"/>
                <a:ea typeface="+mj-ea"/>
                <a:cs typeface="Times New Roman" panose="02020603050405020304" pitchFamily="18" charset="0"/>
              </a:rPr>
              <a:t>对署名用户进行身份确认</a:t>
            </a:r>
            <a:endParaRPr lang="en-US" altLang="zh-CN" sz="1800" dirty="0">
              <a:effectLst/>
              <a:latin typeface="+mj-ea"/>
              <a:ea typeface="+mj-ea"/>
              <a:cs typeface="Times New Roman" panose="02020603050405020304" pitchFamily="18" charset="0"/>
            </a:endParaRPr>
          </a:p>
          <a:p>
            <a:pPr marL="0" marR="0" lvl="0" indent="0" algn="l" defTabSz="914400" rtl="0" eaLnBrk="1" fontAlgn="auto" latinLnBrk="0" hangingPunct="1">
              <a:lnSpc>
                <a:spcPct val="200000"/>
              </a:lnSpc>
              <a:buClrTx/>
              <a:buSzTx/>
              <a:buFontTx/>
              <a:buNone/>
              <a:defRPr/>
            </a:pPr>
            <a:r>
              <a:rPr lang="zh-CN" altLang="en-US" kern="100" dirty="0">
                <a:solidFill>
                  <a:srgbClr val="404244"/>
                </a:solidFill>
                <a:latin typeface="+mj-ea"/>
                <a:ea typeface="+mj-ea"/>
                <a:cs typeface="Times New Roman" panose="02020603050405020304" pitchFamily="18" charset="0"/>
              </a:rPr>
              <a:t>③</a:t>
            </a:r>
            <a:r>
              <a:rPr lang="en-US" altLang="zh-CN" sz="1800" kern="100" dirty="0">
                <a:effectLst/>
                <a:latin typeface="+mj-ea"/>
                <a:ea typeface="+mj-ea"/>
                <a:cs typeface="Times New Roman" panose="02020603050405020304" pitchFamily="18" charset="0"/>
              </a:rPr>
              <a:t>RA</a:t>
            </a:r>
            <a:r>
              <a:rPr lang="zh-CN" altLang="zh-CN" sz="1800" kern="100" dirty="0">
                <a:effectLst/>
                <a:latin typeface="+mj-ea"/>
                <a:ea typeface="+mj-ea"/>
                <a:cs typeface="Times New Roman" panose="02020603050405020304" pitchFamily="18" charset="0"/>
              </a:rPr>
              <a:t>向</a:t>
            </a:r>
            <a:r>
              <a:rPr lang="en-US" altLang="zh-CN" sz="1800" kern="100" dirty="0">
                <a:effectLst/>
                <a:latin typeface="+mj-ea"/>
                <a:ea typeface="+mj-ea"/>
                <a:cs typeface="Times New Roman" panose="02020603050405020304" pitchFamily="18" charset="0"/>
              </a:rPr>
              <a:t>CA</a:t>
            </a:r>
            <a:r>
              <a:rPr lang="zh-CN" altLang="zh-CN" sz="1800" kern="100" dirty="0">
                <a:effectLst/>
                <a:latin typeface="+mj-ea"/>
                <a:ea typeface="+mj-ea"/>
                <a:cs typeface="Times New Roman" panose="02020603050405020304" pitchFamily="18" charset="0"/>
              </a:rPr>
              <a:t>提出发行申请</a:t>
            </a:r>
            <a:endParaRPr lang="zh-CN" altLang="zh-CN" sz="1800" kern="100" dirty="0">
              <a:effectLst/>
              <a:latin typeface="+mj-ea"/>
              <a:ea typeface="+mj-ea"/>
              <a:cs typeface="Times New Roman" panose="02020603050405020304" pitchFamily="18" charset="0"/>
            </a:endParaRPr>
          </a:p>
          <a:p>
            <a:pPr marL="0" lvl="0" indent="0" algn="just">
              <a:lnSpc>
                <a:spcPct val="200000"/>
              </a:lnSpc>
              <a:buFont typeface="+mj-lt"/>
              <a:buNone/>
            </a:pPr>
            <a:r>
              <a:rPr lang="zh-CN" altLang="en-US" sz="1800" kern="100" dirty="0">
                <a:effectLst/>
                <a:latin typeface="+mj-ea"/>
                <a:ea typeface="+mj-ea"/>
                <a:cs typeface="Times New Roman" panose="02020603050405020304" pitchFamily="18" charset="0"/>
              </a:rPr>
              <a:t>④</a:t>
            </a:r>
            <a:r>
              <a:rPr lang="en-US" altLang="zh-CN" sz="1800" kern="100" dirty="0">
                <a:effectLst/>
                <a:latin typeface="+mj-ea"/>
                <a:ea typeface="+mj-ea"/>
                <a:cs typeface="Times New Roman" panose="02020603050405020304" pitchFamily="18" charset="0"/>
              </a:rPr>
              <a:t>CA</a:t>
            </a:r>
            <a:r>
              <a:rPr lang="zh-CN" altLang="zh-CN" sz="1800" kern="100" dirty="0">
                <a:effectLst/>
                <a:latin typeface="+mj-ea"/>
                <a:ea typeface="+mj-ea"/>
                <a:cs typeface="Times New Roman" panose="02020603050405020304" pitchFamily="18" charset="0"/>
              </a:rPr>
              <a:t>对署名用户发行证书 </a:t>
            </a:r>
            <a:endParaRPr lang="zh-CN" altLang="zh-CN" sz="1800" kern="100" dirty="0">
              <a:effectLst/>
              <a:latin typeface="+mj-ea"/>
              <a:ea typeface="+mj-ea"/>
              <a:cs typeface="Times New Roman" panose="02020603050405020304" pitchFamily="18" charset="0"/>
            </a:endParaRPr>
          </a:p>
          <a:p>
            <a:pPr marL="0" lvl="0" indent="0" algn="just">
              <a:lnSpc>
                <a:spcPct val="200000"/>
              </a:lnSpc>
              <a:buFont typeface="+mj-lt"/>
              <a:buNone/>
            </a:pPr>
            <a:r>
              <a:rPr lang="zh-CN" altLang="en-US" sz="1800" kern="100" dirty="0">
                <a:effectLst/>
                <a:latin typeface="+mj-ea"/>
                <a:ea typeface="+mj-ea"/>
                <a:cs typeface="Times New Roman" panose="02020603050405020304" pitchFamily="18" charset="0"/>
              </a:rPr>
              <a:t>⑤</a:t>
            </a:r>
            <a:r>
              <a:rPr lang="en-US" altLang="zh-CN" sz="1800" kern="100" dirty="0">
                <a:effectLst/>
                <a:latin typeface="+mj-ea"/>
                <a:ea typeface="+mj-ea"/>
                <a:cs typeface="Times New Roman" panose="02020603050405020304" pitchFamily="18" charset="0"/>
              </a:rPr>
              <a:t>CA</a:t>
            </a:r>
            <a:r>
              <a:rPr lang="zh-CN" altLang="zh-CN" sz="1800" kern="100" dirty="0">
                <a:effectLst/>
                <a:latin typeface="+mj-ea"/>
                <a:ea typeface="+mj-ea"/>
                <a:cs typeface="Times New Roman" panose="02020603050405020304" pitchFamily="18" charset="0"/>
              </a:rPr>
              <a:t>在证书存档里公开发行的证书及作废列表</a:t>
            </a:r>
            <a:endParaRPr lang="zh-CN" altLang="zh-CN" sz="1800" kern="100" dirty="0">
              <a:effectLst/>
              <a:latin typeface="+mj-ea"/>
              <a:ea typeface="+mj-ea"/>
              <a:cs typeface="Times New Roman" panose="02020603050405020304" pitchFamily="18" charset="0"/>
            </a:endParaRPr>
          </a:p>
          <a:p>
            <a:pPr marL="0" lvl="0" indent="0" algn="just">
              <a:lnSpc>
                <a:spcPct val="200000"/>
              </a:lnSpc>
              <a:buFont typeface="+mj-lt"/>
              <a:buNone/>
            </a:pPr>
            <a:r>
              <a:rPr lang="zh-CN" altLang="en-US" sz="1800" kern="100" dirty="0">
                <a:effectLst/>
                <a:latin typeface="+mj-ea"/>
                <a:ea typeface="+mj-ea"/>
                <a:cs typeface="Times New Roman" panose="02020603050405020304" pitchFamily="18" charset="0"/>
              </a:rPr>
              <a:t>⑥</a:t>
            </a:r>
            <a:r>
              <a:rPr lang="zh-CN" altLang="zh-CN" sz="1800" kern="100" dirty="0">
                <a:effectLst/>
                <a:latin typeface="+mj-ea"/>
                <a:ea typeface="+mj-ea"/>
                <a:cs typeface="Times New Roman" panose="02020603050405020304" pitchFamily="18" charset="0"/>
              </a:rPr>
              <a:t>署名用户和</a:t>
            </a:r>
            <a:r>
              <a:rPr lang="zh-CN" altLang="zh-CN" sz="1800" kern="100" dirty="0">
                <a:solidFill>
                  <a:srgbClr val="404244"/>
                </a:solidFill>
                <a:effectLst/>
                <a:latin typeface="+mj-ea"/>
                <a:ea typeface="+mj-ea"/>
                <a:cs typeface="Helvetica" panose="020B0604020202020204" pitchFamily="34" charset="0"/>
              </a:rPr>
              <a:t>依赖方</a:t>
            </a:r>
            <a:r>
              <a:rPr lang="zh-CN" altLang="zh-CN" sz="1800" kern="100" dirty="0">
                <a:effectLst/>
                <a:latin typeface="+mj-ea"/>
                <a:ea typeface="+mj-ea"/>
                <a:cs typeface="Times New Roman" panose="02020603050405020304" pitchFamily="18" charset="0"/>
              </a:rPr>
              <a:t>通信</a:t>
            </a:r>
            <a:endParaRPr lang="zh-CN" altLang="zh-CN" sz="1800" kern="100" dirty="0">
              <a:effectLst/>
              <a:latin typeface="+mj-ea"/>
              <a:ea typeface="+mj-ea"/>
              <a:cs typeface="Times New Roman" panose="02020603050405020304" pitchFamily="18" charset="0"/>
            </a:endParaRPr>
          </a:p>
          <a:p>
            <a:pPr marL="0" lvl="0" indent="0" algn="just">
              <a:lnSpc>
                <a:spcPct val="200000"/>
              </a:lnSpc>
              <a:buFont typeface="+mj-lt"/>
              <a:buNone/>
            </a:pPr>
            <a:r>
              <a:rPr lang="zh-CN" altLang="en-US" sz="1800" kern="100" dirty="0">
                <a:solidFill>
                  <a:srgbClr val="404244"/>
                </a:solidFill>
                <a:effectLst/>
                <a:latin typeface="+mj-ea"/>
                <a:ea typeface="+mj-ea"/>
                <a:cs typeface="Helvetica" panose="020B0604020202020204" pitchFamily="34" charset="0"/>
              </a:rPr>
              <a:t>⑦</a:t>
            </a:r>
            <a:r>
              <a:rPr lang="zh-CN" altLang="zh-CN" sz="1800" kern="100" dirty="0">
                <a:solidFill>
                  <a:srgbClr val="404244"/>
                </a:solidFill>
                <a:effectLst/>
                <a:latin typeface="+mj-ea"/>
                <a:ea typeface="+mj-ea"/>
                <a:cs typeface="Helvetica" panose="020B0604020202020204" pitchFamily="34" charset="0"/>
              </a:rPr>
              <a:t>依赖方</a:t>
            </a:r>
            <a:r>
              <a:rPr lang="zh-CN" altLang="zh-CN" sz="1800" kern="100" dirty="0">
                <a:effectLst/>
                <a:latin typeface="+mj-ea"/>
                <a:ea typeface="+mj-ea"/>
                <a:cs typeface="Times New Roman" panose="02020603050405020304" pitchFamily="18" charset="0"/>
              </a:rPr>
              <a:t>通过证书存档来检验证书的有效性，然后利用</a:t>
            </a:r>
            <a:r>
              <a:rPr lang="zh-CN" altLang="en-US" sz="1800" kern="100" dirty="0">
                <a:effectLst/>
                <a:latin typeface="+mj-ea"/>
                <a:ea typeface="+mj-ea"/>
                <a:cs typeface="Times New Roman" panose="02020603050405020304" pitchFamily="18" charset="0"/>
              </a:rPr>
              <a:t>公钥</a:t>
            </a:r>
            <a:r>
              <a:rPr lang="zh-CN" altLang="zh-CN" sz="1800" kern="100" dirty="0">
                <a:effectLst/>
                <a:latin typeface="+mj-ea"/>
                <a:ea typeface="+mj-ea"/>
                <a:cs typeface="Times New Roman" panose="02020603050405020304" pitchFamily="18" charset="0"/>
              </a:rPr>
              <a:t>来验证电子签名、进行数据加密</a:t>
            </a:r>
            <a:r>
              <a:rPr lang="zh-CN" altLang="en-US" sz="1800" kern="100" dirty="0">
                <a:effectLst/>
                <a:latin typeface="+mj-ea"/>
                <a:ea typeface="+mj-ea"/>
                <a:cs typeface="Times New Roman" panose="02020603050405020304" pitchFamily="18" charset="0"/>
              </a:rPr>
              <a:t>等</a:t>
            </a:r>
            <a:endParaRPr lang="zh-CN" altLang="zh-CN" sz="1800" kern="100" dirty="0">
              <a:effectLst/>
              <a:latin typeface="+mj-ea"/>
              <a:ea typeface="+mj-ea"/>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rPr>
              <a:t>证书认证机构</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902018" y="1008052"/>
            <a:ext cx="5165217" cy="823431"/>
          </a:xfrm>
          <a:prstGeom prst="rect">
            <a:avLst/>
          </a:prstGeom>
          <a:noFill/>
        </p:spPr>
        <p:txBody>
          <a:bodyPr wrap="square" rtlCol="0">
            <a:spAutoFit/>
          </a:bodyPr>
          <a:lstStyle/>
          <a:p>
            <a:pPr>
              <a:lnSpc>
                <a:spcPct val="200000"/>
              </a:lnSpc>
            </a:pPr>
            <a:r>
              <a:rPr lang="en-US" altLang="zh-CN"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CA</a:t>
            </a:r>
            <a:r>
              <a:rPr lang="zh-CN" altLang="en-US" sz="28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的职责</a:t>
            </a:r>
            <a:endParaRPr lang="zh-CN" altLang="en-US" sz="2000" dirty="0">
              <a:latin typeface="+mn-ea"/>
            </a:endParaRPr>
          </a:p>
        </p:txBody>
      </p:sp>
      <p:sp>
        <p:nvSpPr>
          <p:cNvPr id="20" name="文本框 19"/>
          <p:cNvSpPr txBox="1"/>
          <p:nvPr/>
        </p:nvSpPr>
        <p:spPr>
          <a:xfrm>
            <a:off x="902018" y="1843894"/>
            <a:ext cx="4974567" cy="3316742"/>
          </a:xfrm>
          <a:prstGeom prst="rect">
            <a:avLst/>
          </a:prstGeom>
          <a:noFill/>
        </p:spPr>
        <p:txBody>
          <a:bodyPr wrap="square">
            <a:spAutoFit/>
          </a:bodyPr>
          <a:lstStyle/>
          <a:p>
            <a:pPr marL="457200" indent="-457200">
              <a:lnSpc>
                <a:spcPct val="200000"/>
              </a:lnSpc>
              <a:buAutoNum type="arabicPeriod"/>
            </a:pPr>
            <a:r>
              <a:rPr lang="zh-CN" altLang="en-US" sz="2400" b="1" dirty="0">
                <a:solidFill>
                  <a:srgbClr val="404244"/>
                </a:solidFill>
                <a:effectLst/>
                <a:latin typeface="+mn-ea"/>
                <a:cs typeface="Helvetica" panose="020B0604020202020204" pitchFamily="34" charset="0"/>
              </a:rPr>
              <a:t>接收证书申请请求</a:t>
            </a:r>
            <a:endParaRPr lang="en-US" altLang="zh-CN" sz="2400" b="1" dirty="0">
              <a:solidFill>
                <a:srgbClr val="404244"/>
              </a:solidFill>
              <a:effectLst/>
              <a:latin typeface="+mn-ea"/>
              <a:cs typeface="Helvetica" panose="020B0604020202020204" pitchFamily="34" charset="0"/>
            </a:endParaRPr>
          </a:p>
          <a:p>
            <a:pPr>
              <a:lnSpc>
                <a:spcPct val="200000"/>
              </a:lnSpc>
            </a:pP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如果设有</a:t>
            </a:r>
            <a:r>
              <a:rPr lang="en-US"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RA</a:t>
            </a: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，由</a:t>
            </a:r>
            <a:r>
              <a:rPr lang="en-US" altLang="zh-CN" dirty="0">
                <a:solidFill>
                  <a:srgbClr val="404244"/>
                </a:solidFill>
                <a:latin typeface="宋体" panose="02010600030101010101" pitchFamily="2" charset="-122"/>
                <a:ea typeface="宋体" panose="02010600030101010101" pitchFamily="2" charset="-122"/>
                <a:cs typeface="Helvetica" panose="020B0604020202020204" pitchFamily="34" charset="0"/>
              </a:rPr>
              <a:t>RA</a:t>
            </a: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负责验证申请者的身份信息。</a:t>
            </a:r>
            <a:endParaRPr lang="en-US" altLang="zh-CN" dirty="0">
              <a:solidFill>
                <a:srgbClr val="404244"/>
              </a:solidFill>
              <a:latin typeface="宋体" panose="02010600030101010101" pitchFamily="2" charset="-122"/>
              <a:ea typeface="宋体" panose="02010600030101010101" pitchFamily="2" charset="-122"/>
              <a:cs typeface="Helvetica" panose="020B0604020202020204" pitchFamily="34" charset="0"/>
            </a:endParaRPr>
          </a:p>
          <a:p>
            <a:pPr>
              <a:lnSpc>
                <a:spcPct val="200000"/>
              </a:lnSpc>
            </a:pPr>
            <a:r>
              <a:rPr lang="en-US" altLang="zh-CN" sz="2400" b="1" dirty="0">
                <a:solidFill>
                  <a:srgbClr val="404244"/>
                </a:solidFill>
                <a:latin typeface="+mn-ea"/>
                <a:cs typeface="Helvetica" panose="020B0604020202020204" pitchFamily="34" charset="0"/>
              </a:rPr>
              <a:t>2. </a:t>
            </a:r>
            <a:r>
              <a:rPr lang="zh-CN" altLang="en-US" sz="2400" b="1" dirty="0">
                <a:solidFill>
                  <a:srgbClr val="404244"/>
                </a:solidFill>
                <a:latin typeface="+mn-ea"/>
                <a:cs typeface="Helvetica" panose="020B0604020202020204" pitchFamily="34" charset="0"/>
              </a:rPr>
              <a:t>用自己的私钥签发证书</a:t>
            </a:r>
            <a:endParaRPr lang="zh-CN" altLang="en-US" sz="2400" b="1" dirty="0">
              <a:solidFill>
                <a:srgbClr val="404244"/>
              </a:solidFill>
              <a:latin typeface="+mn-ea"/>
              <a:cs typeface="Helvetica" panose="020B0604020202020204" pitchFamily="34" charset="0"/>
            </a:endParaRPr>
          </a:p>
          <a:p>
            <a:pPr>
              <a:lnSpc>
                <a:spcPct val="200000"/>
              </a:lnSpc>
            </a:pPr>
            <a:r>
              <a:rPr lang="en-US" altLang="zh-CN" sz="2400" b="1" dirty="0">
                <a:solidFill>
                  <a:srgbClr val="404244"/>
                </a:solidFill>
                <a:latin typeface="+mn-ea"/>
                <a:cs typeface="Helvetica" panose="020B0604020202020204" pitchFamily="34" charset="0"/>
              </a:rPr>
              <a:t>3. </a:t>
            </a:r>
            <a:r>
              <a:rPr lang="zh-CN" altLang="en-US" sz="2400" b="1" dirty="0">
                <a:solidFill>
                  <a:srgbClr val="404244"/>
                </a:solidFill>
                <a:latin typeface="+mn-ea"/>
                <a:cs typeface="Helvetica" panose="020B0604020202020204" pitchFamily="34" charset="0"/>
              </a:rPr>
              <a:t>接收证书查询请求</a:t>
            </a:r>
            <a:endParaRPr lang="en-US" altLang="zh-CN" sz="2400" b="1" dirty="0">
              <a:solidFill>
                <a:srgbClr val="404244"/>
              </a:solidFill>
              <a:latin typeface="+mn-ea"/>
              <a:cs typeface="Helvetica" panose="020B0604020202020204" pitchFamily="34" charset="0"/>
            </a:endParaRPr>
          </a:p>
          <a:p>
            <a:pPr>
              <a:lnSpc>
                <a:spcPct val="200000"/>
              </a:lnSpc>
            </a:pPr>
            <a:r>
              <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rPr>
              <a:t>前提是对证书的良好管理。</a:t>
            </a:r>
            <a:endParaRPr lang="zh-CN" altLang="en-US" dirty="0">
              <a:solidFill>
                <a:srgbClr val="404244"/>
              </a:solidFill>
              <a:latin typeface="宋体" panose="02010600030101010101" pitchFamily="2" charset="-122"/>
              <a:ea typeface="宋体" panose="02010600030101010101" pitchFamily="2" charset="-122"/>
              <a:cs typeface="Helvetica" panose="020B0604020202020204" pitchFamily="34" charset="0"/>
            </a:endParaRPr>
          </a:p>
        </p:txBody>
      </p:sp>
      <p:sp>
        <p:nvSpPr>
          <p:cNvPr id="14" name="文本框 13"/>
          <p:cNvSpPr txBox="1"/>
          <p:nvPr/>
        </p:nvSpPr>
        <p:spPr>
          <a:xfrm>
            <a:off x="6904036" y="1831483"/>
            <a:ext cx="6094378" cy="1458220"/>
          </a:xfrm>
          <a:prstGeom prst="rect">
            <a:avLst/>
          </a:prstGeom>
          <a:noFill/>
        </p:spPr>
        <p:txBody>
          <a:bodyPr wrap="square">
            <a:spAutoFit/>
          </a:bodyPr>
          <a:lstStyle/>
          <a:p>
            <a:pPr>
              <a:lnSpc>
                <a:spcPct val="200000"/>
              </a:lnSpc>
            </a:pPr>
            <a:r>
              <a:rPr lang="en-US" altLang="zh-CN" sz="2400" b="1" dirty="0">
                <a:solidFill>
                  <a:srgbClr val="404244"/>
                </a:solidFill>
                <a:latin typeface="+mn-ea"/>
                <a:cs typeface="Helvetica" panose="020B0604020202020204" pitchFamily="34" charset="0"/>
              </a:rPr>
              <a:t>4. </a:t>
            </a:r>
            <a:r>
              <a:rPr lang="zh-CN" altLang="en-US" sz="2400" b="1" dirty="0">
                <a:solidFill>
                  <a:srgbClr val="404244"/>
                </a:solidFill>
                <a:latin typeface="+mn-ea"/>
                <a:cs typeface="Helvetica" panose="020B0604020202020204" pitchFamily="34" charset="0"/>
              </a:rPr>
              <a:t>接收证书作废请求</a:t>
            </a:r>
            <a:endParaRPr lang="zh-CN" altLang="en-US" sz="2400" b="1" dirty="0">
              <a:solidFill>
                <a:srgbClr val="404244"/>
              </a:solidFill>
              <a:latin typeface="+mn-ea"/>
              <a:cs typeface="Helvetica" panose="020B0604020202020204" pitchFamily="34" charset="0"/>
            </a:endParaRPr>
          </a:p>
          <a:p>
            <a:pPr>
              <a:lnSpc>
                <a:spcPct val="200000"/>
              </a:lnSpc>
            </a:pPr>
            <a:r>
              <a:rPr lang="en-US" altLang="zh-CN" sz="2400" b="1" dirty="0">
                <a:solidFill>
                  <a:srgbClr val="404244"/>
                </a:solidFill>
                <a:latin typeface="+mn-ea"/>
                <a:cs typeface="Helvetica" panose="020B0604020202020204" pitchFamily="34" charset="0"/>
              </a:rPr>
              <a:t>5. </a:t>
            </a:r>
            <a:r>
              <a:rPr lang="zh-CN" altLang="en-US" sz="2400" b="1" dirty="0">
                <a:solidFill>
                  <a:srgbClr val="404244"/>
                </a:solidFill>
                <a:latin typeface="+mn-ea"/>
                <a:cs typeface="Helvetica" panose="020B0604020202020204" pitchFamily="34" charset="0"/>
              </a:rPr>
              <a:t>提供证书作废列表</a:t>
            </a:r>
            <a:endParaRPr lang="zh-CN" altLang="en-US" sz="2400" b="1" dirty="0">
              <a:solidFill>
                <a:srgbClr val="404244"/>
              </a:solidFill>
              <a:latin typeface="+mn-ea"/>
              <a:cs typeface="Helvetica"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公钥证书</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660400" y="1665356"/>
            <a:ext cx="10370766" cy="3409459"/>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US" altLang="zh-CN" sz="2800" dirty="0">
                <a:solidFill>
                  <a:srgbClr val="404244"/>
                </a:solidFill>
                <a:latin typeface="+mn-ea"/>
                <a:cs typeface="Helvetica" panose="020B0604020202020204" pitchFamily="34" charset="0"/>
              </a:rPr>
              <a:t>PKI</a:t>
            </a:r>
            <a:r>
              <a:rPr lang="zh-CN" altLang="en-US" sz="2800" dirty="0">
                <a:solidFill>
                  <a:srgbClr val="404244"/>
                </a:solidFill>
                <a:latin typeface="+mn-ea"/>
                <a:cs typeface="Helvetica" panose="020B0604020202020204" pitchFamily="34" charset="0"/>
              </a:rPr>
              <a:t>的基础</a:t>
            </a:r>
            <a:endParaRPr lang="en-US" altLang="zh-CN" sz="2800" dirty="0">
              <a:solidFill>
                <a:srgbClr val="404244"/>
              </a:solidFill>
              <a:latin typeface="+mn-ea"/>
              <a:cs typeface="Helvetica" panose="020B0604020202020204" pitchFamily="34" charset="0"/>
            </a:endParaRPr>
          </a:p>
          <a:p>
            <a:pPr marL="285750" indent="-28575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经证书认证机构数字签名的包含公钥拥有者信息和公钥的文件</a:t>
            </a:r>
            <a:endParaRPr lang="en-US" altLang="zh-CN" sz="2800" dirty="0">
              <a:solidFill>
                <a:srgbClr val="404244"/>
              </a:solidFill>
              <a:latin typeface="+mn-ea"/>
              <a:cs typeface="Helvetica" panose="020B0604020202020204" pitchFamily="34" charset="0"/>
            </a:endParaRPr>
          </a:p>
          <a:p>
            <a:pPr marL="285750" indent="-28575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证书申请者的信息</a:t>
            </a:r>
            <a:r>
              <a:rPr lang="en-US" altLang="zh-CN" sz="2800" dirty="0">
                <a:solidFill>
                  <a:srgbClr val="404244"/>
                </a:solidFill>
                <a:latin typeface="+mn-ea"/>
                <a:cs typeface="Helvetica" panose="020B0604020202020204" pitchFamily="34" charset="0"/>
              </a:rPr>
              <a:t>+</a:t>
            </a:r>
            <a:r>
              <a:rPr lang="zh-CN" altLang="en-US" sz="2800" dirty="0">
                <a:solidFill>
                  <a:srgbClr val="404244"/>
                </a:solidFill>
                <a:latin typeface="+mn-ea"/>
                <a:cs typeface="Helvetica" panose="020B0604020202020204" pitchFamily="34" charset="0"/>
              </a:rPr>
              <a:t>发放证书认证机构的信息</a:t>
            </a:r>
            <a:endParaRPr lang="en-US" altLang="zh-CN" sz="2800" dirty="0">
              <a:solidFill>
                <a:srgbClr val="404244"/>
              </a:solidFill>
              <a:latin typeface="+mn-ea"/>
              <a:cs typeface="Helvetica" panose="020B0604020202020204" pitchFamily="34" charset="0"/>
            </a:endParaRPr>
          </a:p>
          <a:p>
            <a:pPr marL="285750" indent="-285750">
              <a:lnSpc>
                <a:spcPct val="200000"/>
              </a:lnSpc>
              <a:buFont typeface="Arial" panose="020B0604020202020204" pitchFamily="34" charset="0"/>
              <a:buChar char="•"/>
            </a:pPr>
            <a:r>
              <a:rPr lang="en-US" altLang="zh-CN" sz="2800" dirty="0">
                <a:solidFill>
                  <a:srgbClr val="404244"/>
                </a:solidFill>
                <a:latin typeface="+mn-ea"/>
                <a:cs typeface="Helvetica" panose="020B0604020202020204" pitchFamily="34" charset="0"/>
              </a:rPr>
              <a:t>CA</a:t>
            </a:r>
            <a:r>
              <a:rPr lang="zh-CN" altLang="en-US" sz="2800" dirty="0">
                <a:solidFill>
                  <a:srgbClr val="404244"/>
                </a:solidFill>
                <a:latin typeface="+mn-ea"/>
                <a:cs typeface="Helvetica" panose="020B0604020202020204" pitchFamily="34" charset="0"/>
              </a:rPr>
              <a:t>权威性</a:t>
            </a:r>
            <a:r>
              <a:rPr lang="zh-CN" altLang="en-US" sz="2800" dirty="0">
                <a:solidFill>
                  <a:srgbClr val="C00000"/>
                </a:solidFill>
                <a:latin typeface="+mn-ea"/>
                <a:cs typeface="Helvetica" panose="020B0604020202020204" pitchFamily="34" charset="0"/>
              </a:rPr>
              <a:t>决定</a:t>
            </a:r>
            <a:r>
              <a:rPr lang="zh-CN" altLang="en-US" sz="2800" dirty="0">
                <a:solidFill>
                  <a:srgbClr val="404244"/>
                </a:solidFill>
                <a:latin typeface="+mn-ea"/>
                <a:cs typeface="Helvetica" panose="020B0604020202020204" pitchFamily="34" charset="0"/>
              </a:rPr>
              <a:t>证书权威性</a:t>
            </a:r>
            <a:endParaRPr lang="zh-CN" altLang="en-US" sz="2800" dirty="0">
              <a:solidFill>
                <a:srgbClr val="404244"/>
              </a:solidFill>
              <a:latin typeface="+mn-ea"/>
              <a:cs typeface="Helvetica"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公钥证书</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706120" y="1144718"/>
            <a:ext cx="10370766" cy="824136"/>
          </a:xfrm>
          <a:prstGeom prst="rect">
            <a:avLst/>
          </a:prstGeom>
          <a:noFill/>
        </p:spPr>
        <p:txBody>
          <a:bodyPr wrap="square" rtlCol="0">
            <a:spAutoFit/>
          </a:bodyPr>
          <a:lstStyle/>
          <a:p>
            <a:pPr>
              <a:lnSpc>
                <a:spcPct val="200000"/>
              </a:lnSpc>
            </a:pPr>
            <a:r>
              <a:rPr lang="zh-CN" altLang="en-US" sz="2800" b="1" dirty="0">
                <a:solidFill>
                  <a:srgbClr val="C00000"/>
                </a:solidFill>
                <a:latin typeface="+mn-ea"/>
                <a:cs typeface="Helvetica" panose="020B0604020202020204" pitchFamily="34" charset="0"/>
              </a:rPr>
              <a:t>？ 异构环境</a:t>
            </a:r>
            <a:endParaRPr lang="zh-CN" altLang="en-US" sz="2800" b="1" dirty="0">
              <a:solidFill>
                <a:schemeClr val="tx1">
                  <a:lumMod val="65000"/>
                  <a:lumOff val="35000"/>
                </a:schemeClr>
              </a:solidFill>
              <a:latin typeface="+mn-ea"/>
              <a:cs typeface="Helvetica" panose="020B0604020202020204" pitchFamily="34" charset="0"/>
            </a:endParaRPr>
          </a:p>
        </p:txBody>
      </p:sp>
      <p:sp>
        <p:nvSpPr>
          <p:cNvPr id="14" name="文本框 13"/>
          <p:cNvSpPr txBox="1"/>
          <p:nvPr/>
        </p:nvSpPr>
        <p:spPr>
          <a:xfrm>
            <a:off x="660400" y="2146227"/>
            <a:ext cx="6094378" cy="523220"/>
          </a:xfrm>
          <a:prstGeom prst="rect">
            <a:avLst/>
          </a:prstGeom>
          <a:noFill/>
        </p:spPr>
        <p:txBody>
          <a:bodyPr wrap="square">
            <a:spAutoFit/>
          </a:bodyPr>
          <a:lstStyle/>
          <a:p>
            <a:pPr marL="457200" indent="-457200">
              <a:buFont typeface="Wingdings" panose="05000000000000000000" pitchFamily="2" charset="2"/>
              <a:buChar char="ü"/>
            </a:pPr>
            <a:r>
              <a:rPr lang="zh-CN" altLang="en-US" sz="2800" b="1" dirty="0">
                <a:solidFill>
                  <a:schemeClr val="tx1">
                    <a:lumMod val="65000"/>
                    <a:lumOff val="35000"/>
                  </a:schemeClr>
                </a:solidFill>
                <a:latin typeface="+mn-ea"/>
                <a:cs typeface="Helvetica" panose="020B0604020202020204" pitchFamily="34" charset="0"/>
              </a:rPr>
              <a:t>统一证书格式：</a:t>
            </a:r>
            <a:r>
              <a:rPr lang="en-US" altLang="zh-CN" sz="2800" b="1" dirty="0">
                <a:latin typeface="+mn-ea"/>
                <a:cs typeface="Helvetica" panose="020B0604020202020204" pitchFamily="34" charset="0"/>
              </a:rPr>
              <a:t>X.509</a:t>
            </a:r>
            <a:endParaRPr lang="zh-CN" altLang="en-US" sz="2800" dirty="0"/>
          </a:p>
        </p:txBody>
      </p:sp>
      <p:sp>
        <p:nvSpPr>
          <p:cNvPr id="15" name="文本框 14"/>
          <p:cNvSpPr txBox="1"/>
          <p:nvPr/>
        </p:nvSpPr>
        <p:spPr>
          <a:xfrm>
            <a:off x="1105778" y="2807067"/>
            <a:ext cx="8592873" cy="2443939"/>
          </a:xfrm>
          <a:prstGeom prst="rect">
            <a:avLst/>
          </a:prstGeom>
          <a:noFill/>
        </p:spPr>
        <p:txBody>
          <a:bodyPr wrap="square">
            <a:spAutoFit/>
          </a:bodyPr>
          <a:lstStyle/>
          <a:p>
            <a:pPr marL="0" marR="0" lvl="0" indent="0" algn="l" defTabSz="914400" rtl="0" eaLnBrk="1" fontAlgn="auto" latinLnBrk="0" hangingPunct="1">
              <a:lnSpc>
                <a:spcPct val="200000"/>
              </a:lnSpc>
              <a:spcBef>
                <a:spcPts val="0"/>
              </a:spcBef>
              <a:buClrTx/>
              <a:buSzTx/>
              <a:buFontTx/>
              <a:buNone/>
              <a:defRPr/>
            </a:pP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由国际电信联盟（</a:t>
            </a: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ITU-T</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）制定</a:t>
            </a:r>
            <a:endPar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endParaRPr>
          </a:p>
          <a:p>
            <a:pPr marL="0" marR="0" lvl="0" indent="0" algn="l" defTabSz="914400" rtl="0" eaLnBrk="1" fontAlgn="auto" latinLnBrk="0" hangingPunct="1">
              <a:lnSpc>
                <a:spcPct val="200000"/>
              </a:lnSpc>
              <a:buClrTx/>
              <a:buSzTx/>
              <a:buFontTx/>
              <a:buNone/>
              <a:defRPr/>
            </a:pP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数字证书的最初版本 </a:t>
            </a: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X.509v1 </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诞生于</a:t>
            </a: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1988</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年</a:t>
            </a:r>
            <a:endPar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endParaRPr>
          </a:p>
          <a:p>
            <a:pPr marL="0" marR="0" lvl="0" indent="0" algn="l" defTabSz="914400" rtl="0" eaLnBrk="1" fontAlgn="auto" latinLnBrk="0" hangingPunct="1">
              <a:lnSpc>
                <a:spcPct val="200000"/>
              </a:lnSpc>
              <a:buClrTx/>
              <a:buSzTx/>
              <a:buFontTx/>
              <a:buNone/>
              <a:defRPr/>
            </a:pP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修订版 </a:t>
            </a: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X.509v2 </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公布于</a:t>
            </a: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1993</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年</a:t>
            </a:r>
            <a:endPar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endParaRPr>
          </a:p>
          <a:p>
            <a:pPr marL="0" marR="0" lvl="0" indent="0" algn="l" defTabSz="914400" rtl="0" eaLnBrk="1" fontAlgn="auto" latinLnBrk="0" hangingPunct="1">
              <a:lnSpc>
                <a:spcPct val="200000"/>
              </a:lnSpc>
              <a:spcAft>
                <a:spcPts val="0"/>
              </a:spcAft>
              <a:buClrTx/>
              <a:buSzTx/>
              <a:buFontTx/>
              <a:buNone/>
              <a:defRPr/>
            </a:pP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广泛使用的 </a:t>
            </a:r>
            <a:r>
              <a:rPr lang="en-US" altLang="zh-CN" sz="2000" b="1" dirty="0">
                <a:solidFill>
                  <a:srgbClr val="C00000"/>
                </a:solidFill>
                <a:latin typeface="宋体" panose="02010600030101010101" pitchFamily="2" charset="-122"/>
                <a:ea typeface="宋体" panose="02010600030101010101" pitchFamily="2" charset="-122"/>
                <a:cs typeface="Helvetica" panose="020B0604020202020204" pitchFamily="34" charset="0"/>
              </a:rPr>
              <a:t>X.509v3 </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公布于</a:t>
            </a:r>
            <a:r>
              <a:rPr lang="en-US"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1996</a:t>
            </a:r>
            <a:r>
              <a:rPr lang="zh-CN" altLang="en-US" sz="2000" b="1" dirty="0">
                <a:solidFill>
                  <a:srgbClr val="404244"/>
                </a:solidFill>
                <a:latin typeface="宋体" panose="02010600030101010101" pitchFamily="2" charset="-122"/>
                <a:ea typeface="宋体" panose="02010600030101010101" pitchFamily="2" charset="-122"/>
                <a:cs typeface="Helvetica" panose="020B0604020202020204" pitchFamily="34" charset="0"/>
              </a:rPr>
              <a:t>年</a:t>
            </a:r>
            <a:endParaRPr lang="zh-CN"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公钥证书</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869409" y="840126"/>
            <a:ext cx="5165217" cy="823431"/>
          </a:xfrm>
          <a:prstGeom prst="rect">
            <a:avLst/>
          </a:prstGeom>
          <a:noFill/>
        </p:spPr>
        <p:txBody>
          <a:bodyPr wrap="square" rtlCol="0">
            <a:spAutoFit/>
          </a:bodyPr>
          <a:lstStyle/>
          <a:p>
            <a:pPr>
              <a:lnSpc>
                <a:spcPct val="200000"/>
              </a:lnSpc>
            </a:pPr>
            <a:r>
              <a:rPr lang="en-US" altLang="zh-CN" sz="2800" b="1" dirty="0">
                <a:solidFill>
                  <a:schemeClr val="tx1">
                    <a:lumMod val="75000"/>
                    <a:lumOff val="25000"/>
                  </a:schemeClr>
                </a:soli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X.509v3</a:t>
            </a:r>
            <a:r>
              <a:rPr lang="zh-CN" altLang="en-US" sz="2800" b="1" dirty="0">
                <a:solidFill>
                  <a:schemeClr val="tx1">
                    <a:lumMod val="75000"/>
                    <a:lumOff val="25000"/>
                  </a:schemeClr>
                </a:soli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证书格式</a:t>
            </a:r>
            <a:endParaRPr lang="zh-CN" altLang="en-US" sz="2000" dirty="0">
              <a:solidFill>
                <a:schemeClr val="tx1">
                  <a:lumMod val="75000"/>
                  <a:lumOff val="25000"/>
                </a:schemeClr>
              </a:solidFill>
              <a:latin typeface="+mn-ea"/>
            </a:endParaRPr>
          </a:p>
        </p:txBody>
      </p:sp>
      <p:graphicFrame>
        <p:nvGraphicFramePr>
          <p:cNvPr id="17" name="表格 17"/>
          <p:cNvGraphicFramePr>
            <a:graphicFrameLocks noGrp="1"/>
          </p:cNvGraphicFramePr>
          <p:nvPr/>
        </p:nvGraphicFramePr>
        <p:xfrm>
          <a:off x="683261" y="1663558"/>
          <a:ext cx="10464638" cy="4386907"/>
        </p:xfrm>
        <a:graphic>
          <a:graphicData uri="http://schemas.openxmlformats.org/drawingml/2006/table">
            <a:tbl>
              <a:tblPr firstRow="1" bandRow="1">
                <a:tableStyleId>{00A15C55-8517-42AA-B614-E9B94910E393}</a:tableStyleId>
              </a:tblPr>
              <a:tblGrid>
                <a:gridCol w="2919104"/>
                <a:gridCol w="2313216"/>
                <a:gridCol w="2616159"/>
                <a:gridCol w="2616159"/>
              </a:tblGrid>
              <a:tr h="387469">
                <a:tc rowSpan="11">
                  <a:txBody>
                    <a:bodyPr/>
                    <a:lstStyle/>
                    <a:p>
                      <a:pPr algn="ctr">
                        <a:lnSpc>
                          <a:spcPct val="200000"/>
                        </a:lnSpc>
                      </a:pPr>
                      <a:r>
                        <a:rPr lang="en-US" altLang="zh-CN" sz="1800" dirty="0">
                          <a:solidFill>
                            <a:schemeClr val="tx1">
                              <a:lumMod val="75000"/>
                              <a:lumOff val="25000"/>
                            </a:schemeClr>
                          </a:solidFill>
                          <a:latin typeface="Times New Roman" panose="02020603050405020304" pitchFamily="18" charset="0"/>
                          <a:cs typeface="Times New Roman" panose="02020603050405020304" pitchFamily="18" charset="0"/>
                        </a:rPr>
                        <a:t>tbsCertificate</a:t>
                      </a:r>
                      <a:endParaRPr lang="en-US" altLang="zh-CN"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algn="ctr">
                        <a:lnSpc>
                          <a:spcPct val="200000"/>
                        </a:lnSpc>
                      </a:pPr>
                      <a:r>
                        <a:rPr lang="zh-CN" altLang="en-US" sz="1800" dirty="0">
                          <a:solidFill>
                            <a:schemeClr val="tx1">
                              <a:lumMod val="75000"/>
                              <a:lumOff val="25000"/>
                            </a:schemeClr>
                          </a:solidFill>
                          <a:latin typeface="Times New Roman" panose="02020603050405020304" pitchFamily="18" charset="0"/>
                          <a:cs typeface="Times New Roman" panose="02020603050405020304" pitchFamily="18" charset="0"/>
                        </a:rPr>
                        <a:t>证书基本信息</a:t>
                      </a:r>
                      <a:endParaRPr lang="en-US" altLang="zh-CN"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algn="ctr">
                        <a:lnSpc>
                          <a:spcPct val="200000"/>
                        </a:lnSpc>
                      </a:pPr>
                      <a:r>
                        <a:rPr lang="zh-CN" altLang="en-US" sz="1800" dirty="0">
                          <a:solidFill>
                            <a:schemeClr val="tx1">
                              <a:lumMod val="75000"/>
                              <a:lumOff val="25000"/>
                            </a:schemeClr>
                          </a:solidFill>
                          <a:latin typeface="Times New Roman" panose="02020603050405020304" pitchFamily="18" charset="0"/>
                          <a:cs typeface="Times New Roman" panose="02020603050405020304" pitchFamily="18" charset="0"/>
                        </a:rPr>
                        <a:t>（</a:t>
                      </a:r>
                      <a:r>
                        <a:rPr lang="en-US" altLang="zh-CN" sz="1800" dirty="0">
                          <a:solidFill>
                            <a:schemeClr val="tx1">
                              <a:lumMod val="75000"/>
                              <a:lumOff val="25000"/>
                            </a:schemeClr>
                          </a:solidFill>
                          <a:latin typeface="Times New Roman" panose="02020603050405020304" pitchFamily="18" charset="0"/>
                          <a:cs typeface="Times New Roman" panose="02020603050405020304" pitchFamily="18" charset="0"/>
                        </a:rPr>
                        <a:t>Certificate to Be Signed</a:t>
                      </a:r>
                      <a:r>
                        <a:rPr lang="zh-CN" altLang="en-US" sz="1800" dirty="0">
                          <a:solidFill>
                            <a:schemeClr val="tx1">
                              <a:lumMod val="75000"/>
                              <a:lumOff val="25000"/>
                            </a:schemeClr>
                          </a:solidFill>
                          <a:latin typeface="Times New Roman" panose="02020603050405020304" pitchFamily="18" charset="0"/>
                          <a:cs typeface="Times New Roman" panose="02020603050405020304" pitchFamily="18" charset="0"/>
                        </a:rPr>
                        <a:t>）</a:t>
                      </a:r>
                      <a:endParaRPr lang="zh-CN" alt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字段</a:t>
                      </a:r>
                      <a:endParaRPr lang="zh-CN" altLang="en-US" sz="1600" kern="1200" dirty="0">
                        <a:solidFill>
                          <a:schemeClr val="tx1">
                            <a:lumMod val="75000"/>
                            <a:lumOff val="25000"/>
                          </a:schemeClr>
                        </a:solidFill>
                        <a:latin typeface="+mn-lt"/>
                        <a:ea typeface="+mn-ea"/>
                        <a:cs typeface="+mn-cs"/>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含义</a:t>
                      </a:r>
                      <a:endParaRPr lang="zh-CN" altLang="en-US" sz="1600" kern="1200" dirty="0">
                        <a:solidFill>
                          <a:schemeClr val="tx1">
                            <a:lumMod val="75000"/>
                            <a:lumOff val="25000"/>
                          </a:schemeClr>
                        </a:solidFill>
                        <a:latin typeface="+mn-lt"/>
                        <a:ea typeface="+mn-ea"/>
                        <a:cs typeface="+mn-cs"/>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说明</a:t>
                      </a:r>
                      <a:endParaRPr lang="zh-CN" altLang="en-US" sz="1600" kern="1200" dirty="0">
                        <a:solidFill>
                          <a:schemeClr val="tx1">
                            <a:lumMod val="75000"/>
                            <a:lumOff val="25000"/>
                          </a:schemeClr>
                        </a:solidFill>
                        <a:latin typeface="+mn-lt"/>
                        <a:ea typeface="+mn-ea"/>
                        <a:cs typeface="+mn-cs"/>
                      </a:endParaRPr>
                    </a:p>
                  </a:txBody>
                  <a:tcPr anchor="ctr"/>
                </a:tc>
              </a:tr>
              <a:tr h="387469">
                <a:tc vMerge="1">
                  <a:tcPr/>
                </a:tc>
                <a:tc>
                  <a:txBody>
                    <a:bodyPr/>
                    <a:lstStyle/>
                    <a:p>
                      <a:pPr algn="ct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version</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版本号</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0(v1)/1(v2)/2(v3)</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387469">
                <a:tc vMerge="1">
                  <a:tcPr/>
                </a:tc>
                <a:tc>
                  <a:txBody>
                    <a:bodyPr/>
                    <a:lstStyle/>
                    <a:p>
                      <a:pPr algn="ctr"/>
                      <a:r>
                        <a:rPr lang="en-US" altLang="zh-CN" sz="1600" dirty="0" err="1">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serialNumber</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序列号</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在</a:t>
                      </a: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CA</a:t>
                      </a: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内部唯一</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668784">
                <a:tc vMerge="1">
                  <a:tcPr/>
                </a:tc>
                <a:tc>
                  <a:txBody>
                    <a:bodyPr/>
                    <a:lstStyle/>
                    <a:p>
                      <a:pPr algn="ct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signature</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签名算法标识</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指定证书中的签名算法</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387469">
                <a:tc vMerge="1">
                  <a:tcPr/>
                </a:tc>
                <a:tc>
                  <a:txBody>
                    <a:bodyPr/>
                    <a:lstStyle/>
                    <a:p>
                      <a:pPr algn="ct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issuer</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签发机构信息</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CA</a:t>
                      </a: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名称</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387469">
                <a:tc vMerge="1">
                  <a:tcPr/>
                </a:tc>
                <a:tc>
                  <a:txBody>
                    <a:bodyPr/>
                    <a:lstStyle/>
                    <a:p>
                      <a:pPr algn="ct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validity</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有效期</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起始和终止时间</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387469">
                <a:tc vMerge="1">
                  <a:tcPr anchor="ctr"/>
                </a:tc>
                <a:tc>
                  <a:txBody>
                    <a:bodyPr/>
                    <a:lstStyle/>
                    <a:p>
                      <a:pPr algn="ct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subject</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署名用户信息</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证书持有者名称</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387469">
                <a:tc vMerge="1">
                  <a:tcPr anchor="ctr"/>
                </a:tc>
                <a:tc>
                  <a:txBody>
                    <a:bodyPr/>
                    <a:lstStyle/>
                    <a:p>
                      <a:pPr algn="ctr"/>
                      <a:r>
                        <a:rPr lang="en-US" altLang="zh-CN" sz="1600" dirty="0" err="1">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subjectPublicKeyInfo</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署名用户公钥信息</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包含算法、公钥</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324415">
                <a:tc vMerge="1">
                  <a:tcPr anchor="ctr"/>
                </a:tc>
                <a:tc>
                  <a:txBody>
                    <a:bodyPr/>
                    <a:lstStyle/>
                    <a:p>
                      <a:pPr algn="ctr"/>
                      <a:r>
                        <a:rPr lang="en-US" altLang="zh-CN" sz="1600" dirty="0" err="1">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issuerUniqueID</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签发机构唯一标识符</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324415">
                <a:tc vMerge="1">
                  <a:tcPr anchor="ctr"/>
                </a:tc>
                <a:tc>
                  <a:txBody>
                    <a:bodyPr/>
                    <a:lstStyle/>
                    <a:p>
                      <a:pPr algn="ctr"/>
                      <a:r>
                        <a:rPr lang="en-US" altLang="zh-CN" sz="1600" dirty="0" err="1">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subjectUniqueID</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署名用户唯一标识符</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r h="324415">
                <a:tc vMerge="1">
                  <a:tcPr anchor="ctr"/>
                </a:tc>
                <a:tc>
                  <a:txBody>
                    <a:bodyPr/>
                    <a:lstStyle/>
                    <a:p>
                      <a:pPr algn="ctr"/>
                      <a:r>
                        <a:rPr lang="en-US" altLang="zh-CN"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extensions</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扩展域</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公钥证书</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869409" y="840126"/>
            <a:ext cx="5165217" cy="823431"/>
          </a:xfrm>
          <a:prstGeom prst="rect">
            <a:avLst/>
          </a:prstGeom>
          <a:noFill/>
        </p:spPr>
        <p:txBody>
          <a:bodyPr wrap="square" rtlCol="0">
            <a:spAutoFit/>
          </a:bodyPr>
          <a:lstStyle/>
          <a:p>
            <a:pPr>
              <a:lnSpc>
                <a:spcPct val="200000"/>
              </a:lnSpc>
            </a:pPr>
            <a:r>
              <a:rPr lang="en-US" altLang="zh-CN" sz="2800" b="1" dirty="0">
                <a:solidFill>
                  <a:schemeClr val="tx1">
                    <a:lumMod val="75000"/>
                    <a:lumOff val="25000"/>
                  </a:schemeClr>
                </a:soli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X.509v3</a:t>
            </a:r>
            <a:r>
              <a:rPr lang="zh-CN" altLang="en-US" sz="2800" b="1" dirty="0">
                <a:solidFill>
                  <a:schemeClr val="tx1">
                    <a:lumMod val="75000"/>
                    <a:lumOff val="25000"/>
                  </a:schemeClr>
                </a:soli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证书格式</a:t>
            </a:r>
            <a:endParaRPr lang="zh-CN" altLang="en-US" sz="2000" dirty="0">
              <a:solidFill>
                <a:schemeClr val="tx1">
                  <a:lumMod val="75000"/>
                  <a:lumOff val="25000"/>
                </a:schemeClr>
              </a:solidFill>
              <a:latin typeface="+mn-ea"/>
            </a:endParaRPr>
          </a:p>
        </p:txBody>
      </p:sp>
      <p:graphicFrame>
        <p:nvGraphicFramePr>
          <p:cNvPr id="17" name="表格 17"/>
          <p:cNvGraphicFramePr>
            <a:graphicFrameLocks noGrp="1"/>
          </p:cNvGraphicFramePr>
          <p:nvPr/>
        </p:nvGraphicFramePr>
        <p:xfrm>
          <a:off x="802307" y="2013625"/>
          <a:ext cx="10464638" cy="1191834"/>
        </p:xfrm>
        <a:graphic>
          <a:graphicData uri="http://schemas.openxmlformats.org/drawingml/2006/table">
            <a:tbl>
              <a:tblPr firstRow="1" bandRow="1">
                <a:tableStyleId>{00A15C55-8517-42AA-B614-E9B94910E393}</a:tableStyleId>
              </a:tblPr>
              <a:tblGrid>
                <a:gridCol w="2919104"/>
                <a:gridCol w="2313216"/>
                <a:gridCol w="2616159"/>
                <a:gridCol w="2616159"/>
              </a:tblGrid>
              <a:tr h="612130">
                <a:tc rowSpan="2">
                  <a:txBody>
                    <a:bodyPr/>
                    <a:lstStyle/>
                    <a:p>
                      <a:pPr algn="ctr">
                        <a:lnSpc>
                          <a:spcPct val="150000"/>
                        </a:lnSpc>
                      </a:pPr>
                      <a:r>
                        <a:rPr lang="en-US" altLang="zh-CN" sz="1800" dirty="0" err="1">
                          <a:solidFill>
                            <a:schemeClr val="tx1">
                              <a:lumMod val="75000"/>
                              <a:lumOff val="25000"/>
                            </a:schemeClr>
                          </a:solidFill>
                          <a:latin typeface="Times New Roman" panose="02020603050405020304" pitchFamily="18" charset="0"/>
                          <a:cs typeface="Times New Roman" panose="02020603050405020304" pitchFamily="18" charset="0"/>
                        </a:rPr>
                        <a:t>signatureAlgorithm</a:t>
                      </a:r>
                      <a:endParaRPr lang="en-US" altLang="zh-CN"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algn="ctr">
                        <a:lnSpc>
                          <a:spcPct val="150000"/>
                        </a:lnSpc>
                      </a:pPr>
                      <a:r>
                        <a:rPr lang="zh-CN" altLang="en-US" sz="1800" dirty="0">
                          <a:solidFill>
                            <a:schemeClr val="tx1">
                              <a:lumMod val="75000"/>
                              <a:lumOff val="25000"/>
                            </a:schemeClr>
                          </a:solidFill>
                          <a:latin typeface="Times New Roman" panose="02020603050405020304" pitchFamily="18" charset="0"/>
                          <a:cs typeface="Times New Roman" panose="02020603050405020304" pitchFamily="18" charset="0"/>
                        </a:rPr>
                        <a:t>证书签名算法</a:t>
                      </a:r>
                      <a:endParaRPr lang="en-US" altLang="zh-CN" sz="1800" dirty="0">
                        <a:solidFill>
                          <a:schemeClr val="tx1">
                            <a:lumMod val="75000"/>
                            <a:lumOff val="25000"/>
                          </a:schemeClr>
                        </a:solidFill>
                        <a:latin typeface="Times New Roman" panose="02020603050405020304" pitchFamily="18" charset="0"/>
                        <a:cs typeface="Times New Roman" panose="02020603050405020304" pitchFamily="18" charset="0"/>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字段</a:t>
                      </a:r>
                      <a:endParaRPr lang="zh-CN" altLang="en-US" sz="1600" kern="1200" dirty="0">
                        <a:solidFill>
                          <a:schemeClr val="tx1">
                            <a:lumMod val="75000"/>
                            <a:lumOff val="25000"/>
                          </a:schemeClr>
                        </a:solidFill>
                        <a:latin typeface="+mn-lt"/>
                        <a:ea typeface="+mn-ea"/>
                        <a:cs typeface="+mn-cs"/>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含义</a:t>
                      </a:r>
                      <a:endParaRPr lang="zh-CN" altLang="en-US" sz="1600" kern="1200" dirty="0">
                        <a:solidFill>
                          <a:schemeClr val="tx1">
                            <a:lumMod val="75000"/>
                            <a:lumOff val="25000"/>
                          </a:schemeClr>
                        </a:solidFill>
                        <a:latin typeface="+mn-lt"/>
                        <a:ea typeface="+mn-ea"/>
                        <a:cs typeface="+mn-cs"/>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说明</a:t>
                      </a:r>
                      <a:endParaRPr lang="zh-CN" altLang="en-US" sz="1600" kern="1200" dirty="0">
                        <a:solidFill>
                          <a:schemeClr val="tx1">
                            <a:lumMod val="75000"/>
                            <a:lumOff val="25000"/>
                          </a:schemeClr>
                        </a:solidFill>
                        <a:latin typeface="+mn-lt"/>
                        <a:ea typeface="+mn-ea"/>
                        <a:cs typeface="+mn-cs"/>
                      </a:endParaRPr>
                    </a:p>
                  </a:txBody>
                  <a:tcPr anchor="ctr"/>
                </a:tc>
              </a:tr>
              <a:tr h="579704">
                <a:tc vMerge="1">
                  <a:tcPr/>
                </a:tc>
                <a:tc>
                  <a:txBody>
                    <a:bodyPr/>
                    <a:lstStyle/>
                    <a:p>
                      <a:pPr algn="ctr"/>
                      <a:r>
                        <a:rPr lang="en-US" altLang="zh-CN" sz="1600" dirty="0" err="1">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signatureAlgorithm</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证书签名算法</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与证书基本信息保持一致</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bl>
          </a:graphicData>
        </a:graphic>
      </p:graphicFrame>
      <p:graphicFrame>
        <p:nvGraphicFramePr>
          <p:cNvPr id="14" name="表格 17"/>
          <p:cNvGraphicFramePr>
            <a:graphicFrameLocks noGrp="1"/>
          </p:cNvGraphicFramePr>
          <p:nvPr/>
        </p:nvGraphicFramePr>
        <p:xfrm>
          <a:off x="802307" y="3836530"/>
          <a:ext cx="10464638" cy="1191834"/>
        </p:xfrm>
        <a:graphic>
          <a:graphicData uri="http://schemas.openxmlformats.org/drawingml/2006/table">
            <a:tbl>
              <a:tblPr firstRow="1" bandRow="1">
                <a:tableStyleId>{00A15C55-8517-42AA-B614-E9B94910E393}</a:tableStyleId>
              </a:tblPr>
              <a:tblGrid>
                <a:gridCol w="2919104"/>
                <a:gridCol w="2313216"/>
                <a:gridCol w="2616159"/>
                <a:gridCol w="2616159"/>
              </a:tblGrid>
              <a:tr h="612130">
                <a:tc rowSpan="2">
                  <a:txBody>
                    <a:bodyPr/>
                    <a:lstStyle/>
                    <a:p>
                      <a:pPr algn="ctr">
                        <a:lnSpc>
                          <a:spcPct val="150000"/>
                        </a:lnSpc>
                      </a:pPr>
                      <a:r>
                        <a:rPr lang="en-US" altLang="zh-CN" sz="1800" dirty="0" err="1">
                          <a:solidFill>
                            <a:schemeClr val="tx1">
                              <a:lumMod val="75000"/>
                              <a:lumOff val="25000"/>
                            </a:schemeClr>
                          </a:solidFill>
                          <a:latin typeface="Times New Roman" panose="02020603050405020304" pitchFamily="18" charset="0"/>
                          <a:cs typeface="Times New Roman" panose="02020603050405020304" pitchFamily="18" charset="0"/>
                        </a:rPr>
                        <a:t>signatureValue</a:t>
                      </a:r>
                      <a:endParaRPr lang="en-US" altLang="zh-CN"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algn="ctr">
                        <a:lnSpc>
                          <a:spcPct val="150000"/>
                        </a:lnSpc>
                      </a:pPr>
                      <a:r>
                        <a:rPr lang="zh-CN" altLang="en-US" sz="1800" dirty="0">
                          <a:solidFill>
                            <a:schemeClr val="tx1">
                              <a:lumMod val="75000"/>
                              <a:lumOff val="25000"/>
                            </a:schemeClr>
                          </a:solidFill>
                          <a:latin typeface="Times New Roman" panose="02020603050405020304" pitchFamily="18" charset="0"/>
                          <a:cs typeface="Times New Roman" panose="02020603050405020304" pitchFamily="18" charset="0"/>
                        </a:rPr>
                        <a:t>证书签名</a:t>
                      </a:r>
                      <a:endParaRPr lang="en-US" altLang="zh-CN" sz="1800" dirty="0">
                        <a:solidFill>
                          <a:schemeClr val="tx1">
                            <a:lumMod val="75000"/>
                            <a:lumOff val="25000"/>
                          </a:schemeClr>
                        </a:solidFill>
                        <a:latin typeface="Times New Roman" panose="02020603050405020304" pitchFamily="18" charset="0"/>
                        <a:cs typeface="Times New Roman" panose="02020603050405020304" pitchFamily="18" charset="0"/>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字段</a:t>
                      </a:r>
                      <a:endParaRPr lang="zh-CN" altLang="en-US" sz="1600" kern="1200" dirty="0">
                        <a:solidFill>
                          <a:schemeClr val="tx1">
                            <a:lumMod val="75000"/>
                            <a:lumOff val="25000"/>
                          </a:schemeClr>
                        </a:solidFill>
                        <a:latin typeface="+mn-lt"/>
                        <a:ea typeface="+mn-ea"/>
                        <a:cs typeface="+mn-cs"/>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含义</a:t>
                      </a:r>
                      <a:endParaRPr lang="zh-CN" altLang="en-US" sz="1600" kern="1200" dirty="0">
                        <a:solidFill>
                          <a:schemeClr val="tx1">
                            <a:lumMod val="75000"/>
                            <a:lumOff val="25000"/>
                          </a:schemeClr>
                        </a:solidFill>
                        <a:latin typeface="+mn-lt"/>
                        <a:ea typeface="+mn-ea"/>
                        <a:cs typeface="+mn-cs"/>
                      </a:endParaRPr>
                    </a:p>
                  </a:txBody>
                  <a:tcPr anchor="ctr"/>
                </a:tc>
                <a:tc>
                  <a:txBody>
                    <a:bodyPr/>
                    <a:lstStyle/>
                    <a:p>
                      <a:pPr marL="0" algn="ctr" defTabSz="914400" rtl="0" eaLnBrk="1" latinLnBrk="0" hangingPunct="1"/>
                      <a:r>
                        <a:rPr lang="zh-CN" altLang="en-US" sz="1600" kern="1200" dirty="0">
                          <a:solidFill>
                            <a:schemeClr val="tx1">
                              <a:lumMod val="75000"/>
                              <a:lumOff val="25000"/>
                            </a:schemeClr>
                          </a:solidFill>
                          <a:latin typeface="+mn-lt"/>
                          <a:ea typeface="+mn-ea"/>
                          <a:cs typeface="+mn-cs"/>
                        </a:rPr>
                        <a:t>说明</a:t>
                      </a:r>
                      <a:endParaRPr lang="zh-CN" altLang="en-US" sz="1600" kern="1200" dirty="0">
                        <a:solidFill>
                          <a:schemeClr val="tx1">
                            <a:lumMod val="75000"/>
                            <a:lumOff val="25000"/>
                          </a:schemeClr>
                        </a:solidFill>
                        <a:latin typeface="+mn-lt"/>
                        <a:ea typeface="+mn-ea"/>
                        <a:cs typeface="+mn-cs"/>
                      </a:endParaRPr>
                    </a:p>
                  </a:txBody>
                  <a:tcPr anchor="ctr"/>
                </a:tc>
              </a:tr>
              <a:tr h="579704">
                <a:tc vMerge="1">
                  <a:tcPr/>
                </a:tc>
                <a:tc>
                  <a:txBody>
                    <a:bodyPr/>
                    <a:lstStyle/>
                    <a:p>
                      <a:pPr algn="ctr"/>
                      <a:r>
                        <a:rPr lang="en-US" altLang="zh-CN" sz="1600" dirty="0" err="1">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signatureValue</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证书签名</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c>
                  <a:txBody>
                    <a:bodyPr/>
                    <a:lstStyle/>
                    <a:p>
                      <a:pPr algn="ctr"/>
                      <a:r>
                        <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rPr>
                        <a:t>使用签名者私钥</a:t>
                      </a:r>
                      <a:endParaRPr lang="zh-CN" altLang="en-US" sz="1600" dirty="0">
                        <a:solidFill>
                          <a:schemeClr val="tx1">
                            <a:lumMod val="75000"/>
                            <a:lumOff val="25000"/>
                          </a:schemeClr>
                        </a:solidFill>
                        <a:latin typeface="Times New Roman" panose="02020603050405020304" pitchFamily="18" charset="0"/>
                        <a:ea typeface="楷体" panose="02010609060101010101" pitchFamily="49" charset="-122"/>
                        <a:cs typeface="Times New Roman" panose="02020603050405020304" pitchFamily="18" charset="0"/>
                      </a:endParaRPr>
                    </a:p>
                  </a:txBody>
                  <a:tcPr anchor="ct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14"/>
          <p:cNvSpPr txBox="1"/>
          <p:nvPr/>
        </p:nvSpPr>
        <p:spPr>
          <a:xfrm>
            <a:off x="6187271" y="2726062"/>
            <a:ext cx="4635499" cy="809946"/>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4400" dirty="0">
                <a:ea typeface="微软雅黑" panose="020B0503020204020204" pitchFamily="34" charset="-122"/>
              </a:rPr>
              <a:t>具 体 应 用</a:t>
            </a:r>
            <a:endParaRPr lang="zh-CN" altLang="en-US" sz="4400" dirty="0">
              <a:ea typeface="微软雅黑" panose="020B0503020204020204" pitchFamily="34" charset="-122"/>
            </a:endParaRPr>
          </a:p>
        </p:txBody>
      </p:sp>
      <p:sp>
        <p:nvSpPr>
          <p:cNvPr id="8" name="文本框 7"/>
          <p:cNvSpPr txBox="1"/>
          <p:nvPr/>
        </p:nvSpPr>
        <p:spPr>
          <a:xfrm>
            <a:off x="4449017" y="1947721"/>
            <a:ext cx="1549400" cy="2215991"/>
          </a:xfrm>
          <a:prstGeom prst="rect">
            <a:avLst/>
          </a:prstGeom>
          <a:noFill/>
        </p:spPr>
        <p:txBody>
          <a:bodyPr wrap="square" rtlCol="0">
            <a:spAutoFit/>
          </a:bodyPr>
          <a:lstStyle/>
          <a:p>
            <a:r>
              <a:rPr lang="en-US" altLang="zh-CN" sz="13800" dirty="0">
                <a:solidFill>
                  <a:schemeClr val="accent1"/>
                </a:solidFill>
                <a:ea typeface="微软雅黑" panose="020B0503020204020204" pitchFamily="34" charset="-122"/>
              </a:rPr>
              <a:t>0</a:t>
            </a:r>
            <a:endParaRPr lang="zh-CN" altLang="en-US" sz="13800" dirty="0">
              <a:solidFill>
                <a:schemeClr val="accent1"/>
              </a:solidFill>
              <a:ea typeface="微软雅黑" panose="020B0503020204020204" pitchFamily="34" charset="-122"/>
            </a:endParaRPr>
          </a:p>
        </p:txBody>
      </p:sp>
      <p:sp>
        <p:nvSpPr>
          <p:cNvPr id="9" name="文本框 8"/>
          <p:cNvSpPr txBox="1"/>
          <p:nvPr/>
        </p:nvSpPr>
        <p:spPr>
          <a:xfrm>
            <a:off x="5403592" y="1964005"/>
            <a:ext cx="1549400" cy="2215991"/>
          </a:xfrm>
          <a:prstGeom prst="rect">
            <a:avLst/>
          </a:prstGeom>
          <a:noFill/>
        </p:spPr>
        <p:txBody>
          <a:bodyPr wrap="square" rtlCol="0">
            <a:spAutoFit/>
          </a:bodyPr>
          <a:lstStyle/>
          <a:p>
            <a:r>
              <a:rPr lang="en-US" altLang="zh-CN" sz="13800" dirty="0">
                <a:solidFill>
                  <a:schemeClr val="accent1"/>
                </a:solidFill>
                <a:ea typeface="微软雅黑" panose="020B0503020204020204" pitchFamily="34" charset="-122"/>
              </a:rPr>
              <a:t>2</a:t>
            </a:r>
            <a:endParaRPr lang="zh-CN" altLang="en-US" sz="13800" dirty="0">
              <a:solidFill>
                <a:schemeClr val="accent1"/>
              </a:solidFill>
              <a:ea typeface="微软雅黑" panose="020B0503020204020204" pitchFamily="34" charset="-122"/>
            </a:endParaRPr>
          </a:p>
        </p:txBody>
      </p:sp>
      <p:cxnSp>
        <p:nvCxnSpPr>
          <p:cNvPr id="10" name="直接连接符 9"/>
          <p:cNvCxnSpPr/>
          <p:nvPr/>
        </p:nvCxnSpPr>
        <p:spPr>
          <a:xfrm>
            <a:off x="6187271" y="3493007"/>
            <a:ext cx="4696628" cy="0"/>
          </a:xfrm>
          <a:prstGeom prst="line">
            <a:avLst/>
          </a:prstGeom>
          <a:ln w="38100">
            <a:solidFill>
              <a:srgbClr val="7E0C6E">
                <a:alpha val="19000"/>
              </a:srgbClr>
            </a:solidFill>
          </a:ln>
        </p:spPr>
        <p:style>
          <a:lnRef idx="1">
            <a:schemeClr val="accent1"/>
          </a:lnRef>
          <a:fillRef idx="0">
            <a:schemeClr val="accent1"/>
          </a:fillRef>
          <a:effectRef idx="0">
            <a:schemeClr val="accent1"/>
          </a:effectRef>
          <a:fontRef idx="minor">
            <a:schemeClr val="tx1"/>
          </a:fontRef>
        </p:style>
      </p:cxnSp>
      <p:sp>
        <p:nvSpPr>
          <p:cNvPr id="12" name="内容占位符 14"/>
          <p:cNvSpPr txBox="1"/>
          <p:nvPr/>
        </p:nvSpPr>
        <p:spPr>
          <a:xfrm>
            <a:off x="6773117" y="3633518"/>
            <a:ext cx="3629886" cy="432684"/>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dist">
              <a:lnSpc>
                <a:spcPct val="100000"/>
              </a:lnSpc>
            </a:pPr>
            <a:r>
              <a:rPr lang="zh-CN" altLang="en-US" sz="2000" b="0" dirty="0">
                <a:solidFill>
                  <a:schemeClr val="bg1">
                    <a:lumMod val="75000"/>
                    <a:alpha val="55000"/>
                  </a:schemeClr>
                </a:solidFill>
                <a:ea typeface="微软雅黑" panose="020B0503020204020204" pitchFamily="34" charset="-122"/>
              </a:rPr>
              <a:t>加密通信、</a:t>
            </a:r>
            <a:r>
              <a:rPr lang="en-US" altLang="zh-CN" sz="2000" b="0" dirty="0">
                <a:solidFill>
                  <a:schemeClr val="bg1">
                    <a:lumMod val="75000"/>
                    <a:alpha val="55000"/>
                  </a:schemeClr>
                </a:solidFill>
                <a:ea typeface="微软雅黑" panose="020B0503020204020204" pitchFamily="34" charset="-122"/>
              </a:rPr>
              <a:t>SSL</a:t>
            </a:r>
            <a:r>
              <a:rPr lang="zh-CN" altLang="en-US" sz="2000" b="0" dirty="0">
                <a:solidFill>
                  <a:schemeClr val="bg1">
                    <a:lumMod val="75000"/>
                    <a:alpha val="55000"/>
                  </a:schemeClr>
                </a:solidFill>
                <a:ea typeface="微软雅黑" panose="020B0503020204020204" pitchFamily="34" charset="-122"/>
              </a:rPr>
              <a:t>、</a:t>
            </a:r>
            <a:r>
              <a:rPr lang="en-US" altLang="zh-CN" sz="2000" b="0" dirty="0">
                <a:solidFill>
                  <a:schemeClr val="bg1">
                    <a:lumMod val="75000"/>
                    <a:alpha val="55000"/>
                  </a:schemeClr>
                </a:solidFill>
                <a:ea typeface="微软雅黑" panose="020B0503020204020204" pitchFamily="34" charset="-122"/>
              </a:rPr>
              <a:t>OPENSSL</a:t>
            </a:r>
            <a:endParaRPr lang="zh-CN" altLang="en-US" sz="2000" b="0" dirty="0">
              <a:solidFill>
                <a:schemeClr val="bg1">
                  <a:lumMod val="75000"/>
                  <a:alpha val="55000"/>
                </a:schemeClr>
              </a:solidFill>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客户端与服务器的加密通信</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5" name="圆柱体 14"/>
          <p:cNvSpPr/>
          <p:nvPr/>
        </p:nvSpPr>
        <p:spPr>
          <a:xfrm>
            <a:off x="1003684" y="2325106"/>
            <a:ext cx="1245141" cy="3521413"/>
          </a:xfrm>
          <a:prstGeom prst="can">
            <a:avLst>
              <a:gd name="adj" fmla="val 13281"/>
            </a:avLst>
          </a:prstGeom>
        </p:spPr>
        <p:style>
          <a:lnRef idx="1">
            <a:schemeClr val="accent3"/>
          </a:lnRef>
          <a:fillRef idx="1002">
            <a:schemeClr val="dk2"/>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客户端</a:t>
            </a:r>
            <a:endParaRPr kumimoji="0" lang="en-US" altLang="zh-CN"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20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Client</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圆柱体 15"/>
          <p:cNvSpPr/>
          <p:nvPr/>
        </p:nvSpPr>
        <p:spPr>
          <a:xfrm>
            <a:off x="9621372" y="2343225"/>
            <a:ext cx="1245141" cy="3521413"/>
          </a:xfrm>
          <a:prstGeom prst="can">
            <a:avLst>
              <a:gd name="adj" fmla="val 13281"/>
            </a:avLst>
          </a:prstGeom>
        </p:spPr>
        <p:style>
          <a:lnRef idx="1">
            <a:schemeClr val="accent3"/>
          </a:lnRef>
          <a:fillRef idx="1002">
            <a:schemeClr val="dk2"/>
          </a:fillRef>
          <a:effectRef idx="2">
            <a:schemeClr val="accent3"/>
          </a:effectRef>
          <a:fontRef idx="minor">
            <a:schemeClr val="lt1"/>
          </a:fontRef>
        </p:style>
        <p:txBody>
          <a:bodyPr rtlCol="0" anchor="ctr"/>
          <a:lstStyle/>
          <a:p>
            <a:pPr marL="0" marR="0" lvl="0" indent="0" algn="ctr" defTabSz="914400" rtl="0" eaLnBrk="1" fontAlgn="auto" latinLnBrk="0" hangingPunct="1">
              <a:lnSpc>
                <a:spcPct val="20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服务端</a:t>
            </a:r>
            <a:r>
              <a:rPr kumimoji="0" lang="en-US" altLang="zh-CN"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Server</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矩形: 折角 17"/>
          <p:cNvSpPr/>
          <p:nvPr/>
        </p:nvSpPr>
        <p:spPr>
          <a:xfrm>
            <a:off x="4371082" y="1060314"/>
            <a:ext cx="2785873" cy="848445"/>
          </a:xfrm>
          <a:prstGeom prst="foldedCorner">
            <a:avLst/>
          </a:prstGeom>
          <a:solidFill>
            <a:srgbClr val="AF6243"/>
          </a:solidFill>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r>
              <a:rPr kumimoji="0" lang="zh-CN" altLang="en-US"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证书认证机构</a:t>
            </a:r>
            <a:endParaRPr kumimoji="0" lang="en-US" altLang="zh-CN"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auto" latinLnBrk="0" hangingPunct="1">
              <a:lnSpc>
                <a:spcPct val="150000"/>
              </a:lnSpc>
              <a:spcBef>
                <a:spcPts val="0"/>
              </a:spcBef>
              <a:spcAft>
                <a:spcPts val="0"/>
              </a:spcAft>
              <a:buClrTx/>
              <a:buSzTx/>
              <a:buFontTx/>
              <a:buNone/>
              <a:defRPr/>
            </a:pPr>
            <a:r>
              <a:rPr kumimoji="0" lang="en-US" altLang="zh-CN" sz="18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CA</a:t>
            </a:r>
            <a:endParaRPr kumimoji="0" lang="zh-CN" altLang="en-US"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19" name="组合 18"/>
          <p:cNvGrpSpPr/>
          <p:nvPr/>
        </p:nvGrpSpPr>
        <p:grpSpPr>
          <a:xfrm rot="11781022">
            <a:off x="7512756" y="1569410"/>
            <a:ext cx="4459168" cy="559939"/>
            <a:chOff x="3098486" y="2322194"/>
            <a:chExt cx="3938529" cy="900630"/>
          </a:xfrm>
        </p:grpSpPr>
        <p:cxnSp>
          <p:nvCxnSpPr>
            <p:cNvPr id="20" name="直接箭头连接符 19"/>
            <p:cNvCxnSpPr/>
            <p:nvPr/>
          </p:nvCxnSpPr>
          <p:spPr>
            <a:xfrm>
              <a:off x="5107480" y="2322194"/>
              <a:ext cx="1929535" cy="5757"/>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rot="10864676">
              <a:off x="3098486" y="2381253"/>
              <a:ext cx="3494828" cy="841571"/>
            </a:xfrm>
            <a:prstGeom prst="rect">
              <a:avLst/>
            </a:prstGeom>
            <a:noFill/>
          </p:spPr>
          <p:txBody>
            <a:bodyPr wrap="square" rtlCol="0">
              <a:spAutoFit/>
            </a:bodyPr>
            <a:lstStyle/>
            <a:p>
              <a:r>
                <a:rPr lang="zh-CN" altLang="en-US" sz="1400" b="1" dirty="0">
                  <a:latin typeface="仿宋" panose="02010609060101010101" pitchFamily="49" charset="-122"/>
                  <a:ea typeface="仿宋" panose="02010609060101010101" pitchFamily="49" charset="-122"/>
                </a:rPr>
                <a:t>① </a:t>
              </a:r>
              <a:r>
                <a:rPr lang="en-US" altLang="zh-CN" sz="1400" b="1" dirty="0">
                  <a:latin typeface="仿宋" panose="02010609060101010101" pitchFamily="49" charset="-122"/>
                  <a:ea typeface="仿宋" panose="02010609060101010101" pitchFamily="49" charset="-122"/>
                </a:rPr>
                <a:t>Server</a:t>
              </a:r>
              <a:r>
                <a:rPr lang="zh-CN" altLang="en-US" sz="1400" b="1" dirty="0">
                  <a:latin typeface="仿宋" panose="02010609060101010101" pitchFamily="49" charset="-122"/>
                  <a:ea typeface="仿宋" panose="02010609060101010101" pitchFamily="49" charset="-122"/>
                </a:rPr>
                <a:t>生成公钥，</a:t>
              </a:r>
              <a:endParaRPr lang="en-US" altLang="zh-CN" sz="1400" b="1" dirty="0">
                <a:latin typeface="仿宋" panose="02010609060101010101" pitchFamily="49" charset="-122"/>
                <a:ea typeface="仿宋" panose="02010609060101010101" pitchFamily="49" charset="-122"/>
              </a:endParaRPr>
            </a:p>
            <a:p>
              <a:r>
                <a:rPr lang="zh-CN" altLang="en-US" sz="1400" b="1" dirty="0">
                  <a:latin typeface="仿宋" panose="02010609060101010101" pitchFamily="49" charset="-122"/>
                  <a:ea typeface="仿宋" panose="02010609060101010101" pitchFamily="49" charset="-122"/>
                </a:rPr>
                <a:t>发给</a:t>
              </a:r>
              <a:r>
                <a:rPr lang="en-US" altLang="zh-CN" sz="1400" b="1" dirty="0">
                  <a:latin typeface="仿宋" panose="02010609060101010101" pitchFamily="49" charset="-122"/>
                  <a:ea typeface="仿宋" panose="02010609060101010101" pitchFamily="49" charset="-122"/>
                </a:rPr>
                <a:t>CA</a:t>
              </a:r>
              <a:r>
                <a:rPr lang="zh-CN" altLang="en-US" sz="1400" b="1" dirty="0">
                  <a:latin typeface="仿宋" panose="02010609060101010101" pitchFamily="49" charset="-122"/>
                  <a:ea typeface="仿宋" panose="02010609060101010101" pitchFamily="49" charset="-122"/>
                </a:rPr>
                <a:t>申请证书</a:t>
              </a:r>
              <a:endParaRPr lang="zh-CN" altLang="en-US" b="1" dirty="0">
                <a:latin typeface="仿宋" panose="02010609060101010101" pitchFamily="49" charset="-122"/>
                <a:ea typeface="仿宋" panose="02010609060101010101" pitchFamily="49" charset="-122"/>
              </a:endParaRPr>
            </a:p>
          </p:txBody>
        </p:sp>
      </p:grpSp>
      <p:grpSp>
        <p:nvGrpSpPr>
          <p:cNvPr id="22" name="组合 21"/>
          <p:cNvGrpSpPr/>
          <p:nvPr/>
        </p:nvGrpSpPr>
        <p:grpSpPr>
          <a:xfrm rot="961603">
            <a:off x="7410465" y="1993137"/>
            <a:ext cx="2184602" cy="566287"/>
            <a:chOff x="5107480" y="2322194"/>
            <a:chExt cx="1929535" cy="910840"/>
          </a:xfrm>
        </p:grpSpPr>
        <p:cxnSp>
          <p:nvCxnSpPr>
            <p:cNvPr id="23" name="直接箭头连接符 22"/>
            <p:cNvCxnSpPr/>
            <p:nvPr/>
          </p:nvCxnSpPr>
          <p:spPr>
            <a:xfrm>
              <a:off x="5107480" y="2322194"/>
              <a:ext cx="1929535" cy="5757"/>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rot="2294">
              <a:off x="5298708" y="2391464"/>
              <a:ext cx="1700771" cy="841570"/>
            </a:xfrm>
            <a:prstGeom prst="rect">
              <a:avLst/>
            </a:prstGeom>
            <a:noFill/>
          </p:spPr>
          <p:txBody>
            <a:bodyPr wrap="square" rtlCol="0">
              <a:spAutoFit/>
            </a:bodyPr>
            <a:lstStyle/>
            <a:p>
              <a:r>
                <a:rPr lang="zh-CN" altLang="en-US" sz="1400" b="1" dirty="0">
                  <a:latin typeface="仿宋" panose="02010609060101010101" pitchFamily="49" charset="-122"/>
                  <a:ea typeface="仿宋" panose="02010609060101010101" pitchFamily="49" charset="-122"/>
                </a:rPr>
                <a:t>② </a:t>
              </a:r>
              <a:r>
                <a:rPr lang="en-US" altLang="zh-CN" sz="1400" b="1" dirty="0">
                  <a:latin typeface="仿宋" panose="02010609060101010101" pitchFamily="49" charset="-122"/>
                  <a:ea typeface="仿宋" panose="02010609060101010101" pitchFamily="49" charset="-122"/>
                </a:rPr>
                <a:t>CA</a:t>
              </a:r>
              <a:r>
                <a:rPr lang="zh-CN" altLang="en-US" sz="1400" b="1" dirty="0">
                  <a:latin typeface="仿宋" panose="02010609060101010101" pitchFamily="49" charset="-122"/>
                  <a:ea typeface="仿宋" panose="02010609060101010101" pitchFamily="49" charset="-122"/>
                </a:rPr>
                <a:t>生成数字证书并返回给</a:t>
              </a:r>
              <a:r>
                <a:rPr lang="en-US" altLang="zh-CN" sz="1400" b="1" dirty="0">
                  <a:latin typeface="仿宋" panose="02010609060101010101" pitchFamily="49" charset="-122"/>
                  <a:ea typeface="仿宋" panose="02010609060101010101" pitchFamily="49" charset="-122"/>
                </a:rPr>
                <a:t>Server</a:t>
              </a:r>
              <a:endParaRPr lang="zh-CN" altLang="en-US" b="1" dirty="0">
                <a:latin typeface="仿宋" panose="02010609060101010101" pitchFamily="49" charset="-122"/>
                <a:ea typeface="仿宋" panose="02010609060101010101" pitchFamily="49" charset="-122"/>
              </a:endParaRPr>
            </a:p>
          </p:txBody>
        </p:sp>
      </p:grpSp>
      <p:grpSp>
        <p:nvGrpSpPr>
          <p:cNvPr id="25" name="组合 24"/>
          <p:cNvGrpSpPr/>
          <p:nvPr/>
        </p:nvGrpSpPr>
        <p:grpSpPr>
          <a:xfrm>
            <a:off x="2452223" y="2513221"/>
            <a:ext cx="6770452" cy="378468"/>
            <a:chOff x="5107480" y="1719206"/>
            <a:chExt cx="1929535" cy="608745"/>
          </a:xfrm>
        </p:grpSpPr>
        <p:cxnSp>
          <p:nvCxnSpPr>
            <p:cNvPr id="26" name="直接箭头连接符 25"/>
            <p:cNvCxnSpPr/>
            <p:nvPr/>
          </p:nvCxnSpPr>
          <p:spPr>
            <a:xfrm>
              <a:off x="5107480" y="2322194"/>
              <a:ext cx="1929535" cy="5757"/>
            </a:xfrm>
            <a:prstGeom prst="straightConnector1">
              <a:avLst/>
            </a:prstGeom>
            <a:ln w="53975" cmpd="tri">
              <a:prstDash val="dashDot"/>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rot="2294">
              <a:off x="5799814" y="1719206"/>
              <a:ext cx="442871" cy="495042"/>
            </a:xfrm>
            <a:prstGeom prst="rect">
              <a:avLst/>
            </a:prstGeom>
            <a:noFill/>
          </p:spPr>
          <p:txBody>
            <a:bodyPr wrap="square" rtlCol="0">
              <a:spAutoFit/>
            </a:bodyPr>
            <a:lstStyle/>
            <a:p>
              <a:r>
                <a:rPr lang="zh-CN" altLang="en-US" sz="1400" b="1" dirty="0">
                  <a:latin typeface="仿宋" panose="02010609060101010101" pitchFamily="49" charset="-122"/>
                  <a:ea typeface="仿宋" panose="02010609060101010101" pitchFamily="49" charset="-122"/>
                </a:rPr>
                <a:t>③ </a:t>
              </a:r>
              <a:r>
                <a:rPr lang="en-US" altLang="zh-CN" sz="1400" b="1" dirty="0">
                  <a:latin typeface="仿宋" panose="02010609060101010101" pitchFamily="49" charset="-122"/>
                  <a:ea typeface="仿宋" panose="02010609060101010101" pitchFamily="49" charset="-122"/>
                </a:rPr>
                <a:t>TCP</a:t>
              </a:r>
              <a:r>
                <a:rPr lang="zh-CN" altLang="en-US" sz="1400" b="1" dirty="0">
                  <a:latin typeface="仿宋" panose="02010609060101010101" pitchFamily="49" charset="-122"/>
                  <a:ea typeface="仿宋" panose="02010609060101010101" pitchFamily="49" charset="-122"/>
                </a:rPr>
                <a:t>三次握手</a:t>
              </a:r>
              <a:endParaRPr lang="zh-CN" altLang="en-US" b="1" dirty="0">
                <a:latin typeface="仿宋" panose="02010609060101010101" pitchFamily="49" charset="-122"/>
                <a:ea typeface="仿宋" panose="02010609060101010101" pitchFamily="49" charset="-122"/>
              </a:endParaRPr>
            </a:p>
          </p:txBody>
        </p:sp>
      </p:grpSp>
      <p:grpSp>
        <p:nvGrpSpPr>
          <p:cNvPr id="28" name="组合 27"/>
          <p:cNvGrpSpPr/>
          <p:nvPr/>
        </p:nvGrpSpPr>
        <p:grpSpPr>
          <a:xfrm>
            <a:off x="2461098" y="3009431"/>
            <a:ext cx="6770452" cy="377457"/>
            <a:chOff x="5107480" y="1720832"/>
            <a:chExt cx="1929535" cy="607119"/>
          </a:xfrm>
        </p:grpSpPr>
        <p:cxnSp>
          <p:nvCxnSpPr>
            <p:cNvPr id="29" name="直接箭头连接符 28"/>
            <p:cNvCxnSpPr/>
            <p:nvPr/>
          </p:nvCxnSpPr>
          <p:spPr>
            <a:xfrm>
              <a:off x="5107480" y="2322194"/>
              <a:ext cx="1929535" cy="5757"/>
            </a:xfrm>
            <a:prstGeom prst="straightConnector1">
              <a:avLst/>
            </a:prstGeom>
            <a:ln w="53975">
              <a:prstDash val="solid"/>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rot="2294">
              <a:off x="5628668" y="1720832"/>
              <a:ext cx="780105" cy="495043"/>
            </a:xfrm>
            <a:prstGeom prst="rect">
              <a:avLst/>
            </a:prstGeom>
            <a:noFill/>
          </p:spPr>
          <p:txBody>
            <a:bodyPr wrap="square" rtlCol="0">
              <a:spAutoFit/>
            </a:bodyPr>
            <a:lstStyle/>
            <a:p>
              <a:r>
                <a:rPr lang="zh-CN" altLang="en-US" sz="1400" b="1" dirty="0">
                  <a:latin typeface="仿宋" panose="02010609060101010101" pitchFamily="49" charset="-122"/>
                  <a:ea typeface="仿宋" panose="02010609060101010101" pitchFamily="49" charset="-122"/>
                </a:rPr>
                <a:t>④ 发送</a:t>
              </a:r>
              <a:r>
                <a:rPr lang="en-US" altLang="zh-CN" sz="1400" b="1" dirty="0">
                  <a:latin typeface="仿宋" panose="02010609060101010101" pitchFamily="49" charset="-122"/>
                  <a:ea typeface="仿宋" panose="02010609060101010101" pitchFamily="49" charset="-122"/>
                </a:rPr>
                <a:t>http</a:t>
              </a:r>
              <a:r>
                <a:rPr lang="zh-CN" altLang="en-US" sz="1400" b="1" dirty="0">
                  <a:latin typeface="仿宋" panose="02010609060101010101" pitchFamily="49" charset="-122"/>
                  <a:ea typeface="仿宋" panose="02010609060101010101" pitchFamily="49" charset="-122"/>
                </a:rPr>
                <a:t>报文协商加密算法</a:t>
              </a:r>
              <a:endParaRPr lang="zh-CN" altLang="en-US" b="1" dirty="0">
                <a:latin typeface="仿宋" panose="02010609060101010101" pitchFamily="49" charset="-122"/>
                <a:ea typeface="仿宋" panose="02010609060101010101" pitchFamily="49" charset="-122"/>
              </a:endParaRPr>
            </a:p>
          </p:txBody>
        </p:sp>
      </p:grpSp>
      <p:grpSp>
        <p:nvGrpSpPr>
          <p:cNvPr id="31" name="组合 30"/>
          <p:cNvGrpSpPr/>
          <p:nvPr/>
        </p:nvGrpSpPr>
        <p:grpSpPr>
          <a:xfrm>
            <a:off x="2461098" y="3420653"/>
            <a:ext cx="6770452" cy="377406"/>
            <a:chOff x="5107480" y="1720914"/>
            <a:chExt cx="1929535" cy="607037"/>
          </a:xfrm>
        </p:grpSpPr>
        <p:cxnSp>
          <p:nvCxnSpPr>
            <p:cNvPr id="32" name="直接箭头连接符 31"/>
            <p:cNvCxnSpPr/>
            <p:nvPr/>
          </p:nvCxnSpPr>
          <p:spPr>
            <a:xfrm>
              <a:off x="5107480" y="2322194"/>
              <a:ext cx="1929535" cy="5757"/>
            </a:xfrm>
            <a:prstGeom prst="straightConnector1">
              <a:avLst/>
            </a:prstGeom>
            <a:ln w="53975">
              <a:prstDash val="solid"/>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rot="2294">
              <a:off x="5672907" y="1720914"/>
              <a:ext cx="735866" cy="493318"/>
            </a:xfrm>
            <a:prstGeom prst="rect">
              <a:avLst/>
            </a:prstGeom>
            <a:noFill/>
          </p:spPr>
          <p:txBody>
            <a:bodyPr wrap="square" rtlCol="0">
              <a:spAutoFit/>
            </a:bodyPr>
            <a:lstStyle/>
            <a:p>
              <a:r>
                <a:rPr lang="zh-CN" altLang="en-US" sz="1400" b="1" dirty="0">
                  <a:latin typeface="仿宋" panose="02010609060101010101" pitchFamily="49" charset="-122"/>
                  <a:ea typeface="仿宋" panose="02010609060101010101" pitchFamily="49" charset="-122"/>
                </a:rPr>
                <a:t>⑤ 响应报文，发送数字证书</a:t>
              </a:r>
              <a:endParaRPr lang="zh-CN" altLang="en-US" b="1" dirty="0">
                <a:latin typeface="仿宋" panose="02010609060101010101" pitchFamily="49" charset="-122"/>
                <a:ea typeface="仿宋" panose="02010609060101010101" pitchFamily="49" charset="-122"/>
              </a:endParaRPr>
            </a:p>
          </p:txBody>
        </p:sp>
      </p:grpSp>
      <p:grpSp>
        <p:nvGrpSpPr>
          <p:cNvPr id="37" name="组合 36"/>
          <p:cNvGrpSpPr/>
          <p:nvPr/>
        </p:nvGrpSpPr>
        <p:grpSpPr>
          <a:xfrm rot="20667590">
            <a:off x="1830999" y="1237202"/>
            <a:ext cx="2184602" cy="623735"/>
            <a:chOff x="5107480" y="1324710"/>
            <a:chExt cx="1929535" cy="1003241"/>
          </a:xfrm>
        </p:grpSpPr>
        <p:cxnSp>
          <p:nvCxnSpPr>
            <p:cNvPr id="38" name="直接箭头连接符 37"/>
            <p:cNvCxnSpPr/>
            <p:nvPr/>
          </p:nvCxnSpPr>
          <p:spPr>
            <a:xfrm>
              <a:off x="5107480" y="2322194"/>
              <a:ext cx="1929535" cy="5757"/>
            </a:xfrm>
            <a:prstGeom prst="straightConnector1">
              <a:avLst/>
            </a:prstGeom>
            <a:ln w="53975">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rot="2294">
              <a:off x="5155091" y="1324710"/>
              <a:ext cx="1700771" cy="841568"/>
            </a:xfrm>
            <a:prstGeom prst="rect">
              <a:avLst/>
            </a:prstGeom>
            <a:noFill/>
          </p:spPr>
          <p:txBody>
            <a:bodyPr wrap="square" rtlCol="0">
              <a:spAutoFit/>
            </a:bodyPr>
            <a:lstStyle/>
            <a:p>
              <a:r>
                <a:rPr lang="zh-CN" altLang="en-US" sz="1400" b="1" dirty="0">
                  <a:latin typeface="仿宋" panose="02010609060101010101" pitchFamily="49" charset="-122"/>
                  <a:ea typeface="仿宋" panose="02010609060101010101" pitchFamily="49" charset="-122"/>
                </a:rPr>
                <a:t>⑥ 验证</a:t>
              </a:r>
              <a:r>
                <a:rPr lang="en-US" altLang="zh-CN" sz="1400" b="1" dirty="0">
                  <a:latin typeface="仿宋" panose="02010609060101010101" pitchFamily="49" charset="-122"/>
                  <a:ea typeface="仿宋" panose="02010609060101010101" pitchFamily="49" charset="-122"/>
                </a:rPr>
                <a:t>Server</a:t>
              </a:r>
              <a:r>
                <a:rPr lang="zh-CN" altLang="en-US" sz="1400" b="1" dirty="0">
                  <a:latin typeface="仿宋" panose="02010609060101010101" pitchFamily="49" charset="-122"/>
                  <a:ea typeface="仿宋" panose="02010609060101010101" pitchFamily="49" charset="-122"/>
                </a:rPr>
                <a:t>身份，获取</a:t>
              </a:r>
              <a:r>
                <a:rPr lang="en-US" altLang="zh-CN" sz="1400" b="1" dirty="0">
                  <a:latin typeface="仿宋" panose="02010609060101010101" pitchFamily="49" charset="-122"/>
                  <a:ea typeface="仿宋" panose="02010609060101010101" pitchFamily="49" charset="-122"/>
                </a:rPr>
                <a:t>Server</a:t>
              </a:r>
              <a:r>
                <a:rPr lang="zh-CN" altLang="en-US" sz="1400" b="1" dirty="0">
                  <a:latin typeface="仿宋" panose="02010609060101010101" pitchFamily="49" charset="-122"/>
                  <a:ea typeface="仿宋" panose="02010609060101010101" pitchFamily="49" charset="-122"/>
                </a:rPr>
                <a:t>公钥</a:t>
              </a:r>
              <a:endParaRPr lang="zh-CN" altLang="en-US" b="1" dirty="0">
                <a:latin typeface="仿宋" panose="02010609060101010101" pitchFamily="49" charset="-122"/>
                <a:ea typeface="仿宋" panose="02010609060101010101" pitchFamily="49" charset="-122"/>
              </a:endParaRPr>
            </a:p>
          </p:txBody>
        </p:sp>
      </p:grpSp>
      <p:grpSp>
        <p:nvGrpSpPr>
          <p:cNvPr id="43" name="组合 42"/>
          <p:cNvGrpSpPr/>
          <p:nvPr/>
        </p:nvGrpSpPr>
        <p:grpSpPr>
          <a:xfrm>
            <a:off x="0" y="3536838"/>
            <a:ext cx="1085200" cy="2286218"/>
            <a:chOff x="0" y="3536838"/>
            <a:chExt cx="1085200" cy="2286218"/>
          </a:xfrm>
        </p:grpSpPr>
        <p:sp>
          <p:nvSpPr>
            <p:cNvPr id="40" name="弧形 39"/>
            <p:cNvSpPr/>
            <p:nvPr/>
          </p:nvSpPr>
          <p:spPr>
            <a:xfrm rot="10800000">
              <a:off x="221028" y="3536838"/>
              <a:ext cx="712655" cy="961367"/>
            </a:xfrm>
            <a:prstGeom prst="arc">
              <a:avLst>
                <a:gd name="adj1" fmla="val 16200000"/>
                <a:gd name="adj2" fmla="val 4982749"/>
              </a:avLst>
            </a:prstGeom>
            <a:ln w="53975">
              <a:prstDash val="solid"/>
              <a:headEnd type="triangle" w="med" len="med"/>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文本框 41"/>
            <p:cNvSpPr txBox="1"/>
            <p:nvPr/>
          </p:nvSpPr>
          <p:spPr>
            <a:xfrm>
              <a:off x="0" y="4653505"/>
              <a:ext cx="1085200" cy="1169551"/>
            </a:xfrm>
            <a:prstGeom prst="rect">
              <a:avLst/>
            </a:prstGeom>
            <a:noFill/>
          </p:spPr>
          <p:txBody>
            <a:bodyPr wrap="square" rtlCol="0">
              <a:spAutoFit/>
            </a:bodyPr>
            <a:lstStyle/>
            <a:p>
              <a:pPr algn="just"/>
              <a:r>
                <a:rPr lang="zh-CN" altLang="en-US" sz="1400" b="1" dirty="0">
                  <a:latin typeface="仿宋" panose="02010609060101010101" pitchFamily="49" charset="-122"/>
                  <a:ea typeface="仿宋" panose="02010609060101010101" pitchFamily="49" charset="-122"/>
                </a:rPr>
                <a:t>⑦对称密钥加密</a:t>
              </a:r>
              <a:r>
                <a:rPr lang="en-US" altLang="zh-CN" sz="1400" b="1" dirty="0">
                  <a:latin typeface="仿宋" panose="02010609060101010101" pitchFamily="49" charset="-122"/>
                  <a:ea typeface="仿宋" panose="02010609060101010101" pitchFamily="49" charset="-122"/>
                </a:rPr>
                <a:t>URL</a:t>
              </a:r>
              <a:r>
                <a:rPr lang="zh-CN" altLang="en-US" sz="1400" b="1" dirty="0">
                  <a:latin typeface="仿宋" panose="02010609060101010101" pitchFamily="49" charset="-122"/>
                  <a:ea typeface="仿宋" panose="02010609060101010101" pitchFamily="49" charset="-122"/>
                </a:rPr>
                <a:t>链接申请，再加密对称密钥</a:t>
              </a:r>
              <a:endParaRPr lang="zh-CN" altLang="en-US" sz="1400" b="1" dirty="0">
                <a:latin typeface="仿宋" panose="02010609060101010101" pitchFamily="49" charset="-122"/>
                <a:ea typeface="仿宋" panose="02010609060101010101" pitchFamily="49" charset="-122"/>
              </a:endParaRPr>
            </a:p>
          </p:txBody>
        </p:sp>
      </p:grpSp>
      <p:grpSp>
        <p:nvGrpSpPr>
          <p:cNvPr id="44" name="组合 43"/>
          <p:cNvGrpSpPr/>
          <p:nvPr/>
        </p:nvGrpSpPr>
        <p:grpSpPr>
          <a:xfrm>
            <a:off x="2461098" y="3826297"/>
            <a:ext cx="6770452" cy="398623"/>
            <a:chOff x="5107480" y="1686787"/>
            <a:chExt cx="1929535" cy="641164"/>
          </a:xfrm>
        </p:grpSpPr>
        <p:cxnSp>
          <p:nvCxnSpPr>
            <p:cNvPr id="45" name="直接箭头连接符 44"/>
            <p:cNvCxnSpPr/>
            <p:nvPr/>
          </p:nvCxnSpPr>
          <p:spPr>
            <a:xfrm>
              <a:off x="5107480" y="2322194"/>
              <a:ext cx="1929535" cy="5757"/>
            </a:xfrm>
            <a:prstGeom prst="straightConnector1">
              <a:avLst/>
            </a:prstGeom>
            <a:ln w="53975">
              <a:prstDash val="solid"/>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rot="2294">
              <a:off x="5537188" y="1686787"/>
              <a:ext cx="1075652" cy="495043"/>
            </a:xfrm>
            <a:prstGeom prst="rect">
              <a:avLst/>
            </a:prstGeom>
            <a:noFill/>
          </p:spPr>
          <p:txBody>
            <a:bodyPr wrap="square" rtlCol="0">
              <a:spAutoFit/>
            </a:bodyPr>
            <a:lstStyle/>
            <a:p>
              <a:r>
                <a:rPr lang="zh-CN" altLang="en-US" sz="1400" b="1" dirty="0">
                  <a:latin typeface="仿宋" panose="02010609060101010101" pitchFamily="49" charset="-122"/>
                  <a:ea typeface="仿宋" panose="02010609060101010101" pitchFamily="49" charset="-122"/>
                </a:rPr>
                <a:t>⑧ 发送加密的对称密钥及加密的</a:t>
              </a:r>
              <a:r>
                <a:rPr lang="en-US" altLang="zh-CN" sz="1400" b="1" dirty="0">
                  <a:latin typeface="仿宋" panose="02010609060101010101" pitchFamily="49" charset="-122"/>
                  <a:ea typeface="仿宋" panose="02010609060101010101" pitchFamily="49" charset="-122"/>
                </a:rPr>
                <a:t>URL</a:t>
              </a:r>
              <a:r>
                <a:rPr lang="zh-CN" altLang="en-US" sz="1400" b="1" dirty="0">
                  <a:latin typeface="仿宋" panose="02010609060101010101" pitchFamily="49" charset="-122"/>
                  <a:ea typeface="仿宋" panose="02010609060101010101" pitchFamily="49" charset="-122"/>
                </a:rPr>
                <a:t>链接申请</a:t>
              </a:r>
              <a:endParaRPr lang="zh-CN" altLang="en-US" b="1" dirty="0">
                <a:latin typeface="仿宋" panose="02010609060101010101" pitchFamily="49" charset="-122"/>
                <a:ea typeface="仿宋" panose="02010609060101010101" pitchFamily="49" charset="-122"/>
              </a:endParaRPr>
            </a:p>
          </p:txBody>
        </p:sp>
      </p:grpSp>
      <p:grpSp>
        <p:nvGrpSpPr>
          <p:cNvPr id="47" name="组合 46"/>
          <p:cNvGrpSpPr/>
          <p:nvPr/>
        </p:nvGrpSpPr>
        <p:grpSpPr>
          <a:xfrm rot="10800000">
            <a:off x="10883307" y="3566783"/>
            <a:ext cx="1143059" cy="2040829"/>
            <a:chOff x="-195642" y="2619995"/>
            <a:chExt cx="1143059" cy="2040829"/>
          </a:xfrm>
        </p:grpSpPr>
        <p:sp>
          <p:nvSpPr>
            <p:cNvPr id="48" name="弧形 47"/>
            <p:cNvSpPr/>
            <p:nvPr/>
          </p:nvSpPr>
          <p:spPr>
            <a:xfrm rot="10800000">
              <a:off x="234762" y="3699457"/>
              <a:ext cx="712655" cy="961367"/>
            </a:xfrm>
            <a:prstGeom prst="arc">
              <a:avLst>
                <a:gd name="adj1" fmla="val 16200000"/>
                <a:gd name="adj2" fmla="val 5989854"/>
              </a:avLst>
            </a:prstGeom>
            <a:ln w="53975">
              <a:prstDash val="solid"/>
              <a:headEnd type="none" w="med" len="me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文本框 48"/>
            <p:cNvSpPr txBox="1"/>
            <p:nvPr/>
          </p:nvSpPr>
          <p:spPr>
            <a:xfrm rot="10800000">
              <a:off x="-195642" y="2619995"/>
              <a:ext cx="1116519" cy="954107"/>
            </a:xfrm>
            <a:prstGeom prst="rect">
              <a:avLst/>
            </a:prstGeom>
            <a:noFill/>
          </p:spPr>
          <p:txBody>
            <a:bodyPr wrap="square" rtlCol="0">
              <a:spAutoFit/>
            </a:bodyPr>
            <a:lstStyle/>
            <a:p>
              <a:pPr algn="just"/>
              <a:r>
                <a:rPr lang="zh-CN" altLang="en-US" sz="1400" b="1" dirty="0">
                  <a:latin typeface="仿宋" panose="02010609060101010101" pitchFamily="49" charset="-122"/>
                  <a:ea typeface="仿宋" panose="02010609060101010101" pitchFamily="49" charset="-122"/>
                </a:rPr>
                <a:t>⑨先解密得到密钥，再解密</a:t>
              </a:r>
              <a:r>
                <a:rPr lang="en-US" altLang="zh-CN" sz="1400" b="1" dirty="0">
                  <a:latin typeface="仿宋" panose="02010609060101010101" pitchFamily="49" charset="-122"/>
                  <a:ea typeface="仿宋" panose="02010609060101010101" pitchFamily="49" charset="-122"/>
                </a:rPr>
                <a:t>URL</a:t>
              </a:r>
              <a:r>
                <a:rPr lang="zh-CN" altLang="en-US" sz="1400" b="1" dirty="0">
                  <a:latin typeface="仿宋" panose="02010609060101010101" pitchFamily="49" charset="-122"/>
                  <a:ea typeface="仿宋" panose="02010609060101010101" pitchFamily="49" charset="-122"/>
                </a:rPr>
                <a:t>链接</a:t>
              </a:r>
              <a:endParaRPr lang="zh-CN" altLang="en-US" sz="1400" b="1" dirty="0">
                <a:latin typeface="仿宋" panose="02010609060101010101" pitchFamily="49" charset="-122"/>
                <a:ea typeface="仿宋" panose="02010609060101010101" pitchFamily="49" charset="-122"/>
              </a:endParaRPr>
            </a:p>
          </p:txBody>
        </p:sp>
      </p:grpSp>
      <p:grpSp>
        <p:nvGrpSpPr>
          <p:cNvPr id="54" name="组合 53"/>
          <p:cNvGrpSpPr/>
          <p:nvPr/>
        </p:nvGrpSpPr>
        <p:grpSpPr>
          <a:xfrm>
            <a:off x="2408856" y="4270858"/>
            <a:ext cx="6822646" cy="377344"/>
            <a:chOff x="5095121" y="1721014"/>
            <a:chExt cx="1944410" cy="606937"/>
          </a:xfrm>
        </p:grpSpPr>
        <p:cxnSp>
          <p:nvCxnSpPr>
            <p:cNvPr id="55" name="直接箭头连接符 54"/>
            <p:cNvCxnSpPr/>
            <p:nvPr/>
          </p:nvCxnSpPr>
          <p:spPr>
            <a:xfrm>
              <a:off x="5107480" y="2322194"/>
              <a:ext cx="1929535" cy="5757"/>
            </a:xfrm>
            <a:prstGeom prst="straightConnector1">
              <a:avLst/>
            </a:prstGeom>
            <a:ln w="53975">
              <a:prstDash val="solid"/>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rot="2294">
              <a:off x="5095121" y="1721014"/>
              <a:ext cx="1944410" cy="495042"/>
            </a:xfrm>
            <a:prstGeom prst="rect">
              <a:avLst/>
            </a:prstGeom>
            <a:noFill/>
          </p:spPr>
          <p:txBody>
            <a:bodyPr wrap="square" rtlCol="0">
              <a:spAutoFit/>
            </a:bodyPr>
            <a:lstStyle/>
            <a:p>
              <a:pPr algn="ctr"/>
              <a:r>
                <a:rPr lang="zh-CN" altLang="en-US" sz="1400" b="1" dirty="0">
                  <a:latin typeface="仿宋" panose="02010609060101010101" pitchFamily="49" charset="-122"/>
                  <a:ea typeface="仿宋" panose="02010609060101010101" pitchFamily="49" charset="-122"/>
                </a:rPr>
                <a:t>⑩ 取得网页，用对称密钥加密后发给</a:t>
              </a:r>
              <a:r>
                <a:rPr lang="en-US" altLang="zh-CN" sz="1400" b="1" dirty="0">
                  <a:latin typeface="仿宋" panose="02010609060101010101" pitchFamily="49" charset="-122"/>
                  <a:ea typeface="仿宋" panose="02010609060101010101" pitchFamily="49" charset="-122"/>
                </a:rPr>
                <a:t>Client</a:t>
              </a:r>
              <a:endParaRPr lang="zh-CN" altLang="en-US" b="1" dirty="0">
                <a:latin typeface="仿宋" panose="02010609060101010101" pitchFamily="49" charset="-122"/>
                <a:ea typeface="仿宋" panose="02010609060101010101" pitchFamily="49" charset="-122"/>
              </a:endParaRPr>
            </a:p>
          </p:txBody>
        </p:sp>
      </p:grpSp>
      <p:grpSp>
        <p:nvGrpSpPr>
          <p:cNvPr id="57" name="组合 56"/>
          <p:cNvGrpSpPr/>
          <p:nvPr/>
        </p:nvGrpSpPr>
        <p:grpSpPr>
          <a:xfrm rot="10800000">
            <a:off x="2109450" y="4939581"/>
            <a:ext cx="6491051" cy="367138"/>
            <a:chOff x="-5543634" y="3699457"/>
            <a:chExt cx="6491051" cy="969128"/>
          </a:xfrm>
        </p:grpSpPr>
        <p:sp>
          <p:nvSpPr>
            <p:cNvPr id="58" name="弧形 57"/>
            <p:cNvSpPr/>
            <p:nvPr/>
          </p:nvSpPr>
          <p:spPr>
            <a:xfrm rot="10800000">
              <a:off x="234762" y="3699457"/>
              <a:ext cx="712655" cy="961367"/>
            </a:xfrm>
            <a:prstGeom prst="arc">
              <a:avLst>
                <a:gd name="adj1" fmla="val 16200000"/>
                <a:gd name="adj2" fmla="val 5989854"/>
              </a:avLst>
            </a:prstGeom>
            <a:ln w="53975">
              <a:prstDash val="solid"/>
              <a:headEnd type="none" w="med" len="me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9" name="文本框 58"/>
            <p:cNvSpPr txBox="1"/>
            <p:nvPr/>
          </p:nvSpPr>
          <p:spPr>
            <a:xfrm rot="10800000">
              <a:off x="-5543634" y="3856151"/>
              <a:ext cx="5748477" cy="812434"/>
            </a:xfrm>
            <a:prstGeom prst="rect">
              <a:avLst/>
            </a:prstGeom>
            <a:noFill/>
          </p:spPr>
          <p:txBody>
            <a:bodyPr wrap="square" rtlCol="0">
              <a:spAutoFit/>
            </a:bodyPr>
            <a:lstStyle/>
            <a:p>
              <a:pPr algn="just"/>
              <a:r>
                <a:rPr lang="zh-CN" altLang="en-US" sz="1400" b="1" dirty="0">
                  <a:latin typeface="仿宋" panose="02010609060101010101" pitchFamily="49" charset="-122"/>
                  <a:ea typeface="仿宋" panose="02010609060101010101" pitchFamily="49" charset="-122"/>
                </a:rPr>
                <a:t>⑪ 解密得到请求的网页资源</a:t>
              </a:r>
              <a:endParaRPr lang="zh-CN" altLang="en-US" sz="1400" b="1" dirty="0">
                <a:latin typeface="仿宋" panose="02010609060101010101" pitchFamily="49" charset="-122"/>
                <a:ea typeface="仿宋" panose="02010609060101010101" pitchFamily="49" charset="-122"/>
              </a:endParaRPr>
            </a:p>
          </p:txBody>
        </p:sp>
      </p:grpSp>
      <p:grpSp>
        <p:nvGrpSpPr>
          <p:cNvPr id="60" name="组合 59"/>
          <p:cNvGrpSpPr/>
          <p:nvPr/>
        </p:nvGrpSpPr>
        <p:grpSpPr>
          <a:xfrm>
            <a:off x="2434953" y="5375858"/>
            <a:ext cx="6770452" cy="378468"/>
            <a:chOff x="5107480" y="1719206"/>
            <a:chExt cx="1929535" cy="608745"/>
          </a:xfrm>
        </p:grpSpPr>
        <p:cxnSp>
          <p:nvCxnSpPr>
            <p:cNvPr id="61" name="直接箭头连接符 60"/>
            <p:cNvCxnSpPr/>
            <p:nvPr/>
          </p:nvCxnSpPr>
          <p:spPr>
            <a:xfrm>
              <a:off x="5107480" y="2322194"/>
              <a:ext cx="1929535" cy="5757"/>
            </a:xfrm>
            <a:prstGeom prst="straightConnector1">
              <a:avLst/>
            </a:prstGeom>
            <a:ln w="53975" cmpd="tri">
              <a:prstDash val="dashDot"/>
              <a:headEnd type="none" w="lg" len="lg"/>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rot="2294">
              <a:off x="5799814" y="1719206"/>
              <a:ext cx="442871" cy="495043"/>
            </a:xfrm>
            <a:prstGeom prst="rect">
              <a:avLst/>
            </a:prstGeom>
            <a:noFill/>
          </p:spPr>
          <p:txBody>
            <a:bodyPr wrap="square" rtlCol="0">
              <a:spAutoFit/>
            </a:bodyPr>
            <a:lstStyle/>
            <a:p>
              <a:r>
                <a:rPr lang="zh-CN" altLang="en-US" sz="1400" b="1" dirty="0">
                  <a:latin typeface="仿宋" panose="02010609060101010101" pitchFamily="49" charset="-122"/>
                  <a:ea typeface="仿宋" panose="02010609060101010101" pitchFamily="49" charset="-122"/>
                </a:rPr>
                <a:t>⑫ </a:t>
              </a:r>
              <a:r>
                <a:rPr lang="en-US" altLang="zh-CN" sz="1400" b="1" dirty="0">
                  <a:latin typeface="仿宋" panose="02010609060101010101" pitchFamily="49" charset="-122"/>
                  <a:ea typeface="仿宋" panose="02010609060101010101" pitchFamily="49" charset="-122"/>
                </a:rPr>
                <a:t>TCP</a:t>
              </a:r>
              <a:r>
                <a:rPr lang="zh-CN" altLang="en-US" sz="1400" b="1" dirty="0">
                  <a:latin typeface="仿宋" panose="02010609060101010101" pitchFamily="49" charset="-122"/>
                  <a:ea typeface="仿宋" panose="02010609060101010101" pitchFamily="49" charset="-122"/>
                </a:rPr>
                <a:t>四次挥手</a:t>
              </a:r>
              <a:endParaRPr lang="zh-CN" altLang="en-US" b="1" dirty="0">
                <a:latin typeface="仿宋" panose="02010609060101010101" pitchFamily="49" charset="-122"/>
                <a:ea typeface="仿宋"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fill="hold"/>
                                        <p:tgtEl>
                                          <p:spTgt spid="22"/>
                                        </p:tgtEl>
                                        <p:attrNameLst>
                                          <p:attrName>ppt_x</p:attrName>
                                        </p:attrNameLst>
                                      </p:cBhvr>
                                      <p:tavLst>
                                        <p:tav tm="0">
                                          <p:val>
                                            <p:strVal val="#ppt_x"/>
                                          </p:val>
                                        </p:tav>
                                        <p:tav tm="100000">
                                          <p:val>
                                            <p:strVal val="#ppt_x"/>
                                          </p:val>
                                        </p:tav>
                                      </p:tavLst>
                                    </p:anim>
                                    <p:anim calcmode="lin" valueType="num">
                                      <p:cBhvr additive="base">
                                        <p:cTn id="1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ppt_x"/>
                                          </p:val>
                                        </p:tav>
                                        <p:tav tm="100000">
                                          <p:val>
                                            <p:strVal val="#ppt_x"/>
                                          </p:val>
                                        </p:tav>
                                      </p:tavLst>
                                    </p:anim>
                                    <p:anim calcmode="lin" valueType="num">
                                      <p:cBhvr additive="base">
                                        <p:cTn id="2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fill="hold"/>
                                        <p:tgtEl>
                                          <p:spTgt spid="31"/>
                                        </p:tgtEl>
                                        <p:attrNameLst>
                                          <p:attrName>ppt_x</p:attrName>
                                        </p:attrNameLst>
                                      </p:cBhvr>
                                      <p:tavLst>
                                        <p:tav tm="0">
                                          <p:val>
                                            <p:strVal val="#ppt_x"/>
                                          </p:val>
                                        </p:tav>
                                        <p:tav tm="100000">
                                          <p:val>
                                            <p:strVal val="#ppt_x"/>
                                          </p:val>
                                        </p:tav>
                                      </p:tavLst>
                                    </p:anim>
                                    <p:anim calcmode="lin" valueType="num">
                                      <p:cBhvr additive="base">
                                        <p:cTn id="3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additive="base">
                                        <p:cTn id="37" dur="500" fill="hold"/>
                                        <p:tgtEl>
                                          <p:spTgt spid="37"/>
                                        </p:tgtEl>
                                        <p:attrNameLst>
                                          <p:attrName>ppt_x</p:attrName>
                                        </p:attrNameLst>
                                      </p:cBhvr>
                                      <p:tavLst>
                                        <p:tav tm="0">
                                          <p:val>
                                            <p:strVal val="#ppt_x"/>
                                          </p:val>
                                        </p:tav>
                                        <p:tav tm="100000">
                                          <p:val>
                                            <p:strVal val="#ppt_x"/>
                                          </p:val>
                                        </p:tav>
                                      </p:tavLst>
                                    </p:anim>
                                    <p:anim calcmode="lin" valueType="num">
                                      <p:cBhvr additive="base">
                                        <p:cTn id="3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anim calcmode="lin" valueType="num">
                                      <p:cBhvr additive="base">
                                        <p:cTn id="43" dur="500" fill="hold"/>
                                        <p:tgtEl>
                                          <p:spTgt spid="43"/>
                                        </p:tgtEl>
                                        <p:attrNameLst>
                                          <p:attrName>ppt_x</p:attrName>
                                        </p:attrNameLst>
                                      </p:cBhvr>
                                      <p:tavLst>
                                        <p:tav tm="0">
                                          <p:val>
                                            <p:strVal val="#ppt_x"/>
                                          </p:val>
                                        </p:tav>
                                        <p:tav tm="100000">
                                          <p:val>
                                            <p:strVal val="#ppt_x"/>
                                          </p:val>
                                        </p:tav>
                                      </p:tavLst>
                                    </p:anim>
                                    <p:anim calcmode="lin" valueType="num">
                                      <p:cBhvr additive="base">
                                        <p:cTn id="44"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4"/>
                                        </p:tgtEl>
                                        <p:attrNameLst>
                                          <p:attrName>style.visibility</p:attrName>
                                        </p:attrNameLst>
                                      </p:cBhvr>
                                      <p:to>
                                        <p:strVal val="visible"/>
                                      </p:to>
                                    </p:set>
                                    <p:anim calcmode="lin" valueType="num">
                                      <p:cBhvr additive="base">
                                        <p:cTn id="49" dur="500" fill="hold"/>
                                        <p:tgtEl>
                                          <p:spTgt spid="44"/>
                                        </p:tgtEl>
                                        <p:attrNameLst>
                                          <p:attrName>ppt_x</p:attrName>
                                        </p:attrNameLst>
                                      </p:cBhvr>
                                      <p:tavLst>
                                        <p:tav tm="0">
                                          <p:val>
                                            <p:strVal val="#ppt_x"/>
                                          </p:val>
                                        </p:tav>
                                        <p:tav tm="100000">
                                          <p:val>
                                            <p:strVal val="#ppt_x"/>
                                          </p:val>
                                        </p:tav>
                                      </p:tavLst>
                                    </p:anim>
                                    <p:anim calcmode="lin" valueType="num">
                                      <p:cBhvr additive="base">
                                        <p:cTn id="5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7"/>
                                        </p:tgtEl>
                                        <p:attrNameLst>
                                          <p:attrName>style.visibility</p:attrName>
                                        </p:attrNameLst>
                                      </p:cBhvr>
                                      <p:to>
                                        <p:strVal val="visible"/>
                                      </p:to>
                                    </p:set>
                                    <p:anim calcmode="lin" valueType="num">
                                      <p:cBhvr additive="base">
                                        <p:cTn id="55" dur="500" fill="hold"/>
                                        <p:tgtEl>
                                          <p:spTgt spid="47"/>
                                        </p:tgtEl>
                                        <p:attrNameLst>
                                          <p:attrName>ppt_x</p:attrName>
                                        </p:attrNameLst>
                                      </p:cBhvr>
                                      <p:tavLst>
                                        <p:tav tm="0">
                                          <p:val>
                                            <p:strVal val="#ppt_x"/>
                                          </p:val>
                                        </p:tav>
                                        <p:tav tm="100000">
                                          <p:val>
                                            <p:strVal val="#ppt_x"/>
                                          </p:val>
                                        </p:tav>
                                      </p:tavLst>
                                    </p:anim>
                                    <p:anim calcmode="lin" valueType="num">
                                      <p:cBhvr additive="base">
                                        <p:cTn id="5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4"/>
                                        </p:tgtEl>
                                        <p:attrNameLst>
                                          <p:attrName>style.visibility</p:attrName>
                                        </p:attrNameLst>
                                      </p:cBhvr>
                                      <p:to>
                                        <p:strVal val="visible"/>
                                      </p:to>
                                    </p:set>
                                    <p:anim calcmode="lin" valueType="num">
                                      <p:cBhvr additive="base">
                                        <p:cTn id="61" dur="500" fill="hold"/>
                                        <p:tgtEl>
                                          <p:spTgt spid="54"/>
                                        </p:tgtEl>
                                        <p:attrNameLst>
                                          <p:attrName>ppt_x</p:attrName>
                                        </p:attrNameLst>
                                      </p:cBhvr>
                                      <p:tavLst>
                                        <p:tav tm="0">
                                          <p:val>
                                            <p:strVal val="#ppt_x"/>
                                          </p:val>
                                        </p:tav>
                                        <p:tav tm="100000">
                                          <p:val>
                                            <p:strVal val="#ppt_x"/>
                                          </p:val>
                                        </p:tav>
                                      </p:tavLst>
                                    </p:anim>
                                    <p:anim calcmode="lin" valueType="num">
                                      <p:cBhvr additive="base">
                                        <p:cTn id="62"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7"/>
                                        </p:tgtEl>
                                        <p:attrNameLst>
                                          <p:attrName>style.visibility</p:attrName>
                                        </p:attrNameLst>
                                      </p:cBhvr>
                                      <p:to>
                                        <p:strVal val="visible"/>
                                      </p:to>
                                    </p:set>
                                    <p:anim calcmode="lin" valueType="num">
                                      <p:cBhvr additive="base">
                                        <p:cTn id="67" dur="500" fill="hold"/>
                                        <p:tgtEl>
                                          <p:spTgt spid="57"/>
                                        </p:tgtEl>
                                        <p:attrNameLst>
                                          <p:attrName>ppt_x</p:attrName>
                                        </p:attrNameLst>
                                      </p:cBhvr>
                                      <p:tavLst>
                                        <p:tav tm="0">
                                          <p:val>
                                            <p:strVal val="#ppt_x"/>
                                          </p:val>
                                        </p:tav>
                                        <p:tav tm="100000">
                                          <p:val>
                                            <p:strVal val="#ppt_x"/>
                                          </p:val>
                                        </p:tav>
                                      </p:tavLst>
                                    </p:anim>
                                    <p:anim calcmode="lin" valueType="num">
                                      <p:cBhvr additive="base">
                                        <p:cTn id="6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60"/>
                                        </p:tgtEl>
                                        <p:attrNameLst>
                                          <p:attrName>style.visibility</p:attrName>
                                        </p:attrNameLst>
                                      </p:cBhvr>
                                      <p:to>
                                        <p:strVal val="visible"/>
                                      </p:to>
                                    </p:set>
                                    <p:anim calcmode="lin" valueType="num">
                                      <p:cBhvr additive="base">
                                        <p:cTn id="73" dur="500" fill="hold"/>
                                        <p:tgtEl>
                                          <p:spTgt spid="60"/>
                                        </p:tgtEl>
                                        <p:attrNameLst>
                                          <p:attrName>ppt_x</p:attrName>
                                        </p:attrNameLst>
                                      </p:cBhvr>
                                      <p:tavLst>
                                        <p:tav tm="0">
                                          <p:val>
                                            <p:strVal val="#ppt_x"/>
                                          </p:val>
                                        </p:tav>
                                        <p:tav tm="100000">
                                          <p:val>
                                            <p:strVal val="#ppt_x"/>
                                          </p:val>
                                        </p:tav>
                                      </p:tavLst>
                                    </p:anim>
                                    <p:anim calcmode="lin" valueType="num">
                                      <p:cBhvr additive="base">
                                        <p:cTn id="74"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SSL/TLS</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协议</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457371" y="1066916"/>
            <a:ext cx="7739956" cy="5232202"/>
          </a:xfrm>
          <a:prstGeom prst="rect">
            <a:avLst/>
          </a:prstGeom>
          <a:noFill/>
        </p:spPr>
        <p:txBody>
          <a:bodyPr wrap="square">
            <a:spAutoFit/>
          </a:bodyPr>
          <a:lstStyle/>
          <a:p>
            <a:pPr>
              <a:lnSpc>
                <a:spcPct val="200000"/>
              </a:lnSpc>
            </a:pPr>
            <a:r>
              <a:rPr lang="en-US" altLang="zh-CN" sz="2800" b="1" dirty="0">
                <a:solidFill>
                  <a:srgbClr val="404244"/>
                </a:solidFill>
                <a:latin typeface="+mn-ea"/>
                <a:cs typeface="Helvetica" panose="020B0604020202020204" pitchFamily="34" charset="0"/>
              </a:rPr>
              <a:t>SSL</a:t>
            </a:r>
            <a:r>
              <a:rPr lang="zh-CN" altLang="zh-CN" sz="2800" b="1" dirty="0">
                <a:solidFill>
                  <a:srgbClr val="404244"/>
                </a:solidFill>
                <a:latin typeface="+mn-ea"/>
                <a:cs typeface="Helvetica" panose="020B0604020202020204" pitchFamily="34" charset="0"/>
              </a:rPr>
              <a:t>（</a:t>
            </a:r>
            <a:r>
              <a:rPr lang="en-US" altLang="zh-CN" sz="2800" b="1" dirty="0">
                <a:solidFill>
                  <a:srgbClr val="404244"/>
                </a:solidFill>
                <a:latin typeface="+mn-ea"/>
                <a:cs typeface="Helvetica" panose="020B0604020202020204" pitchFamily="34" charset="0"/>
              </a:rPr>
              <a:t>Secure Socket Layer</a:t>
            </a:r>
            <a:r>
              <a:rPr lang="zh-CN" altLang="zh-CN" sz="2800" b="1" dirty="0">
                <a:solidFill>
                  <a:srgbClr val="404244"/>
                </a:solidFill>
                <a:latin typeface="+mn-ea"/>
                <a:cs typeface="Helvetica" panose="020B0604020202020204" pitchFamily="34" charset="0"/>
              </a:rPr>
              <a:t>）</a:t>
            </a:r>
            <a:endParaRPr lang="en-US" altLang="zh-CN" sz="2800" b="1" dirty="0">
              <a:solidFill>
                <a:srgbClr val="404244"/>
              </a:solidFill>
              <a:latin typeface="+mn-ea"/>
              <a:cs typeface="Helvetica" panose="020B0604020202020204" pitchFamily="34" charset="0"/>
            </a:endParaRPr>
          </a:p>
          <a:p>
            <a:pPr marL="285750" indent="-285750" algn="just">
              <a:lnSpc>
                <a:spcPct val="200000"/>
              </a:lnSpc>
              <a:buFont typeface="Arial" panose="020B0604020202020204" pitchFamily="34" charset="0"/>
              <a:buChar char="•"/>
            </a:pPr>
            <a:r>
              <a:rPr lang="zh-CN" altLang="zh-CN" sz="2600" dirty="0">
                <a:solidFill>
                  <a:srgbClr val="404244"/>
                </a:solidFill>
                <a:latin typeface="+mn-ea"/>
                <a:cs typeface="Helvetica" panose="020B0604020202020204" pitchFamily="34" charset="0"/>
              </a:rPr>
              <a:t>网景公司（</a:t>
            </a:r>
            <a:r>
              <a:rPr lang="en-US" altLang="zh-CN" sz="2600" dirty="0">
                <a:solidFill>
                  <a:srgbClr val="404244"/>
                </a:solidFill>
                <a:latin typeface="+mn-ea"/>
                <a:cs typeface="Helvetica" panose="020B0604020202020204" pitchFamily="34" charset="0"/>
              </a:rPr>
              <a:t>Netscape</a:t>
            </a:r>
            <a:r>
              <a:rPr lang="zh-CN" altLang="zh-CN" sz="2600" dirty="0">
                <a:solidFill>
                  <a:srgbClr val="404244"/>
                </a:solidFill>
                <a:latin typeface="+mn-ea"/>
                <a:cs typeface="Helvetica" panose="020B0604020202020204" pitchFamily="34" charset="0"/>
              </a:rPr>
              <a:t>）在</a:t>
            </a:r>
            <a:r>
              <a:rPr lang="en-US" altLang="zh-CN" sz="2600" dirty="0">
                <a:solidFill>
                  <a:srgbClr val="404244"/>
                </a:solidFill>
                <a:latin typeface="+mn-ea"/>
                <a:cs typeface="Helvetica" panose="020B0604020202020204" pitchFamily="34" charset="0"/>
              </a:rPr>
              <a:t>1995</a:t>
            </a:r>
            <a:r>
              <a:rPr lang="zh-CN" altLang="zh-CN" sz="2600" dirty="0">
                <a:solidFill>
                  <a:srgbClr val="404244"/>
                </a:solidFill>
                <a:latin typeface="+mn-ea"/>
                <a:cs typeface="Helvetica" panose="020B0604020202020204" pitchFamily="34" charset="0"/>
              </a:rPr>
              <a:t>年创建的基于加密的</a:t>
            </a:r>
            <a:r>
              <a:rPr lang="en-US" altLang="zh-CN" sz="2600" dirty="0">
                <a:solidFill>
                  <a:srgbClr val="404244"/>
                </a:solidFill>
                <a:latin typeface="+mn-ea"/>
                <a:cs typeface="Helvetica" panose="020B0604020202020204" pitchFamily="34" charset="0"/>
              </a:rPr>
              <a:t>Internet</a:t>
            </a:r>
            <a:r>
              <a:rPr lang="zh-CN" altLang="zh-CN" sz="2600" dirty="0">
                <a:solidFill>
                  <a:srgbClr val="404244"/>
                </a:solidFill>
                <a:latin typeface="+mn-ea"/>
                <a:cs typeface="Helvetica" panose="020B0604020202020204" pitchFamily="34" charset="0"/>
              </a:rPr>
              <a:t>安全协议，该协议用于确保</a:t>
            </a:r>
            <a:r>
              <a:rPr lang="en-US" altLang="zh-CN" sz="2600" dirty="0">
                <a:solidFill>
                  <a:srgbClr val="404244"/>
                </a:solidFill>
                <a:latin typeface="+mn-ea"/>
                <a:cs typeface="Helvetica" panose="020B0604020202020204" pitchFamily="34" charset="0"/>
              </a:rPr>
              <a:t>Internet</a:t>
            </a:r>
            <a:r>
              <a:rPr lang="zh-CN" altLang="zh-CN" sz="2600" dirty="0">
                <a:solidFill>
                  <a:srgbClr val="404244"/>
                </a:solidFill>
                <a:latin typeface="+mn-ea"/>
                <a:cs typeface="Helvetica" panose="020B0604020202020204" pitchFamily="34" charset="0"/>
              </a:rPr>
              <a:t>上的数据安全，通常用于在客户端和服务器端之间建立安全通道，主要是用</a:t>
            </a:r>
            <a:r>
              <a:rPr lang="zh-CN" altLang="zh-CN" sz="2600" dirty="0">
                <a:solidFill>
                  <a:srgbClr val="C00000"/>
                </a:solidFill>
                <a:latin typeface="+mn-ea"/>
                <a:cs typeface="Helvetica" panose="020B0604020202020204" pitchFamily="34" charset="0"/>
              </a:rPr>
              <a:t>公钥体制</a:t>
            </a:r>
            <a:r>
              <a:rPr lang="zh-CN" altLang="zh-CN" sz="2600" dirty="0">
                <a:solidFill>
                  <a:srgbClr val="404244"/>
                </a:solidFill>
                <a:latin typeface="+mn-ea"/>
                <a:cs typeface="Helvetica" panose="020B0604020202020204" pitchFamily="34" charset="0"/>
              </a:rPr>
              <a:t>和</a:t>
            </a:r>
            <a:r>
              <a:rPr lang="en-US" altLang="zh-CN" sz="2600" dirty="0">
                <a:solidFill>
                  <a:srgbClr val="C00000"/>
                </a:solidFill>
                <a:latin typeface="+mn-ea"/>
                <a:cs typeface="Helvetica" panose="020B0604020202020204" pitchFamily="34" charset="0"/>
              </a:rPr>
              <a:t>X.509</a:t>
            </a:r>
            <a:r>
              <a:rPr lang="zh-CN" altLang="zh-CN" sz="2600" dirty="0">
                <a:solidFill>
                  <a:srgbClr val="404244"/>
                </a:solidFill>
                <a:latin typeface="+mn-ea"/>
                <a:cs typeface="Helvetica" panose="020B0604020202020204" pitchFamily="34" charset="0"/>
              </a:rPr>
              <a:t>数字证书技术保护信息传输的机密性和完整性。</a:t>
            </a:r>
            <a:endParaRPr lang="zh-CN" altLang="zh-CN" sz="2600" dirty="0">
              <a:solidFill>
                <a:srgbClr val="404244"/>
              </a:solidFill>
              <a:latin typeface="+mn-ea"/>
              <a:cs typeface="Helvetica" panose="020B0604020202020204" pitchFamily="34" charset="0"/>
            </a:endParaRPr>
          </a:p>
          <a:p>
            <a:r>
              <a:rPr lang="en-US" altLang="zh-CN" dirty="0"/>
              <a:t>	</a:t>
            </a:r>
            <a:endParaRPr lang="zh-CN" altLang="zh-CN"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17877" y="1876193"/>
            <a:ext cx="3105614" cy="3105614"/>
          </a:xfrm>
          <a:prstGeom prst="rect">
            <a:avLst/>
          </a:prstGeom>
          <a:ln w="38100">
            <a:solidFill>
              <a:srgbClr val="963A89">
                <a:alpha val="27000"/>
              </a:srgbClr>
            </a:solidFill>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123380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sym typeface="+mn-ea"/>
              </a:rPr>
              <a:t>SSL/TLS</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sym typeface="+mn-ea"/>
              </a:rPr>
              <a:t>协议</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a:p>
            <a:pPr>
              <a:lnSpc>
                <a:spcPct val="90000"/>
              </a:lnSpc>
              <a:spcBef>
                <a:spcPts val="1000"/>
              </a:spcBef>
              <a:spcAft>
                <a:spcPts val="1000"/>
              </a:spcAft>
            </a:pP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457370" y="1293383"/>
            <a:ext cx="11262658" cy="3907790"/>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两个主要特点：</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400" dirty="0">
                <a:solidFill>
                  <a:srgbClr val="404244"/>
                </a:solidFill>
                <a:latin typeface="+mn-ea"/>
                <a:cs typeface="Helvetica" panose="020B0604020202020204" pitchFamily="34" charset="0"/>
              </a:rPr>
              <a:t>1. SSL</a:t>
            </a:r>
            <a:r>
              <a:rPr lang="zh-CN" altLang="en-US" sz="2400" dirty="0">
                <a:solidFill>
                  <a:srgbClr val="404244"/>
                </a:solidFill>
                <a:latin typeface="+mn-ea"/>
                <a:cs typeface="Helvetica" panose="020B0604020202020204" pitchFamily="34" charset="0"/>
              </a:rPr>
              <a:t>采用传统的对称密钥加密算法和公钥加密算法相结合的方法来加密客户端与服务器之间传递的信息。</a:t>
            </a:r>
            <a:endParaRPr lang="en-US" altLang="zh-CN" sz="2400" dirty="0">
              <a:solidFill>
                <a:srgbClr val="404244"/>
              </a:solidFill>
              <a:latin typeface="+mn-ea"/>
              <a:cs typeface="Helvetica" panose="020B0604020202020204" pitchFamily="34" charset="0"/>
            </a:endParaRPr>
          </a:p>
          <a:p>
            <a:pPr>
              <a:lnSpc>
                <a:spcPct val="200000"/>
              </a:lnSpc>
            </a:pPr>
            <a:r>
              <a:rPr lang="en-US" altLang="zh-CN" sz="2400" dirty="0">
                <a:solidFill>
                  <a:srgbClr val="404244"/>
                </a:solidFill>
                <a:latin typeface="+mn-ea"/>
                <a:cs typeface="Helvetica" panose="020B0604020202020204" pitchFamily="34" charset="0"/>
              </a:rPr>
              <a:t>2. </a:t>
            </a:r>
            <a:r>
              <a:rPr lang="zh-CN" altLang="en-US" sz="2400" dirty="0">
                <a:solidFill>
                  <a:srgbClr val="404244"/>
                </a:solidFill>
                <a:latin typeface="+mn-ea"/>
                <a:cs typeface="Helvetica" panose="020B0604020202020204" pitchFamily="34" charset="0"/>
              </a:rPr>
              <a:t>利用基于公钥密码体制的数字证书，</a:t>
            </a:r>
            <a:r>
              <a:rPr lang="en-US" altLang="zh-CN" sz="2400" dirty="0">
                <a:solidFill>
                  <a:srgbClr val="404244"/>
                </a:solidFill>
                <a:latin typeface="+mn-ea"/>
                <a:cs typeface="Helvetica" panose="020B0604020202020204" pitchFamily="34" charset="0"/>
              </a:rPr>
              <a:t>SSL</a:t>
            </a:r>
            <a:r>
              <a:rPr lang="zh-CN" altLang="en-US" sz="2400" dirty="0">
                <a:solidFill>
                  <a:srgbClr val="404244"/>
                </a:solidFill>
                <a:latin typeface="+mn-ea"/>
                <a:cs typeface="Helvetica" panose="020B0604020202020204" pitchFamily="34" charset="0"/>
              </a:rPr>
              <a:t>协议可以很好地完成对信息传递双方身份的验证。</a:t>
            </a:r>
            <a:r>
              <a:rPr lang="en-US" altLang="zh-CN" sz="1600" dirty="0"/>
              <a:t>	</a:t>
            </a:r>
            <a:endParaRPr lang="zh-CN" altLang="zh-CN"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SSL/TLS</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协议</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457200" y="1066800"/>
            <a:ext cx="10361295" cy="4646295"/>
          </a:xfrm>
          <a:prstGeom prst="rect">
            <a:avLst/>
          </a:prstGeom>
          <a:noFill/>
        </p:spPr>
        <p:txBody>
          <a:bodyPr wrap="square">
            <a:spAutoFit/>
          </a:bodyPr>
          <a:lstStyle/>
          <a:p>
            <a:pPr>
              <a:lnSpc>
                <a:spcPct val="200000"/>
              </a:lnSpc>
            </a:pPr>
            <a:r>
              <a:rPr lang="en-US" altLang="zh-CN" sz="2800" b="1" dirty="0">
                <a:solidFill>
                  <a:srgbClr val="404244"/>
                </a:solidFill>
                <a:latin typeface="+mn-ea"/>
                <a:cs typeface="Helvetica" panose="020B0604020202020204" pitchFamily="34" charset="0"/>
              </a:rPr>
              <a:t>TLS</a:t>
            </a:r>
            <a:r>
              <a:rPr lang="zh-CN" altLang="zh-CN" sz="2800" b="1" dirty="0">
                <a:solidFill>
                  <a:srgbClr val="404244"/>
                </a:solidFill>
                <a:latin typeface="+mn-ea"/>
                <a:cs typeface="Helvetica" panose="020B0604020202020204" pitchFamily="34" charset="0"/>
              </a:rPr>
              <a:t>（</a:t>
            </a:r>
            <a:r>
              <a:rPr lang="en-US" altLang="zh-CN" sz="2800" b="1" dirty="0">
                <a:solidFill>
                  <a:srgbClr val="404244"/>
                </a:solidFill>
                <a:latin typeface="+mn-ea"/>
                <a:cs typeface="Helvetica" panose="020B0604020202020204" pitchFamily="34" charset="0"/>
              </a:rPr>
              <a:t>Transport</a:t>
            </a:r>
            <a:r>
              <a:rPr lang="en-US" altLang="zh-CN" sz="2800" b="1" dirty="0">
                <a:solidFill>
                  <a:srgbClr val="404244"/>
                </a:solidFill>
                <a:latin typeface="+mn-ea"/>
                <a:cs typeface="Helvetica" panose="020B0604020202020204" pitchFamily="34" charset="0"/>
              </a:rPr>
              <a:t> Layer Security</a:t>
            </a:r>
            <a:r>
              <a:rPr lang="zh-CN" altLang="zh-CN" sz="2800" b="1" dirty="0">
                <a:solidFill>
                  <a:srgbClr val="404244"/>
                </a:solidFill>
                <a:latin typeface="+mn-ea"/>
                <a:cs typeface="Helvetica" panose="020B0604020202020204" pitchFamily="34" charset="0"/>
              </a:rPr>
              <a:t>）</a:t>
            </a:r>
            <a:endParaRPr lang="en-US" altLang="zh-CN" sz="2800" b="1" dirty="0">
              <a:solidFill>
                <a:srgbClr val="404244"/>
              </a:solidFill>
              <a:latin typeface="+mn-ea"/>
              <a:cs typeface="Helvetica" panose="020B0604020202020204" pitchFamily="34" charset="0"/>
            </a:endParaRPr>
          </a:p>
          <a:p>
            <a:pPr marL="342900" indent="-342900" algn="l">
              <a:lnSpc>
                <a:spcPct val="200000"/>
              </a:lnSpc>
              <a:buClrTx/>
              <a:buSzTx/>
              <a:buFont typeface="Arial" panose="020B0604020202020204" pitchFamily="34" charset="0"/>
              <a:buChar char="•"/>
            </a:pPr>
            <a:r>
              <a:rPr lang="en-US" altLang="zh-CN" sz="2400" dirty="0">
                <a:solidFill>
                  <a:srgbClr val="404244"/>
                </a:solidFill>
                <a:latin typeface="+mn-ea"/>
                <a:cs typeface="Helvetica" panose="020B0604020202020204" pitchFamily="34" charset="0"/>
              </a:rPr>
              <a:t>SSL的最终版本SSL 3.0因存在严重安全漏洞被淘汰。</a:t>
            </a:r>
            <a:endParaRPr lang="en-US" altLang="zh-CN" sz="2400" dirty="0">
              <a:solidFill>
                <a:srgbClr val="404244"/>
              </a:solidFill>
              <a:latin typeface="+mn-ea"/>
              <a:cs typeface="Helvetica" panose="020B0604020202020204" pitchFamily="34" charset="0"/>
            </a:endParaRPr>
          </a:p>
          <a:p>
            <a:pPr marL="342900" indent="-342900" algn="l">
              <a:lnSpc>
                <a:spcPct val="200000"/>
              </a:lnSpc>
              <a:buClrTx/>
              <a:buSzTx/>
              <a:buFont typeface="Arial" panose="020B0604020202020204" pitchFamily="34" charset="0"/>
              <a:buChar char="•"/>
            </a:pPr>
            <a:r>
              <a:rPr lang="en-US" altLang="zh-CN" sz="2400" dirty="0">
                <a:solidFill>
                  <a:srgbClr val="404244"/>
                </a:solidFill>
                <a:latin typeface="+mn-ea"/>
                <a:cs typeface="Helvetica" panose="020B0604020202020204" pitchFamily="34" charset="0"/>
              </a:rPr>
              <a:t>国际标准组织IETF接手并标准化了该协议，将其更名为TLS，因此TLS 实质上就是SSL 的改进版。</a:t>
            </a:r>
            <a:endParaRPr lang="en-US" altLang="zh-CN" sz="2400" dirty="0">
              <a:solidFill>
                <a:srgbClr val="404244"/>
              </a:solidFill>
              <a:latin typeface="+mn-ea"/>
              <a:cs typeface="Helvetica" panose="020B0604020202020204" pitchFamily="34" charset="0"/>
            </a:endParaRPr>
          </a:p>
          <a:p>
            <a:pPr marL="342900" indent="-342900" algn="l">
              <a:lnSpc>
                <a:spcPct val="200000"/>
              </a:lnSpc>
              <a:buClrTx/>
              <a:buSzTx/>
              <a:buFont typeface="Arial" panose="020B0604020202020204" pitchFamily="34" charset="0"/>
              <a:buChar char="•"/>
            </a:pPr>
            <a:r>
              <a:rPr lang="en-US" altLang="zh-CN" sz="2400" dirty="0">
                <a:solidFill>
                  <a:srgbClr val="404244"/>
                </a:solidFill>
                <a:latin typeface="+mn-ea"/>
                <a:cs typeface="Helvetica" panose="020B0604020202020204" pitchFamily="34" charset="0"/>
              </a:rPr>
              <a:t>此后，TLS持续演进至更安全高效的TLS 1.2和TLS 1.3，成为现代互联网加密通信的基石，当今所有实际使用的安全连接均已基于TLS协议。</a:t>
            </a:r>
            <a:endParaRPr lang="en-US" altLang="zh-CN" sz="2400" dirty="0">
              <a:solidFill>
                <a:srgbClr val="404244"/>
              </a:solidFill>
              <a:latin typeface="+mn-ea"/>
              <a:cs typeface="Helvetica"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4035"/>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SSL/TLS</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协议与</a:t>
            </a: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PKI</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521519" y="2272329"/>
            <a:ext cx="11262658" cy="1814830"/>
          </a:xfrm>
          <a:prstGeom prst="rect">
            <a:avLst/>
          </a:prstGeom>
          <a:noFill/>
        </p:spPr>
        <p:txBody>
          <a:bodyPr wrap="square">
            <a:spAutoFit/>
          </a:bodyPr>
          <a:lstStyle/>
          <a:p>
            <a:pPr marL="285750" indent="-285750">
              <a:lnSpc>
                <a:spcPct val="200000"/>
              </a:lnSpc>
              <a:buFont typeface="Arial" panose="020B0604020202020204" pitchFamily="34" charset="0"/>
              <a:buChar char="•"/>
            </a:pPr>
            <a:r>
              <a:rPr lang="en-US" altLang="zh-CN" sz="2800" dirty="0">
                <a:solidFill>
                  <a:srgbClr val="404244"/>
                </a:solidFill>
                <a:latin typeface="+mn-ea"/>
                <a:cs typeface="Helvetica" panose="020B0604020202020204" pitchFamily="34" charset="0"/>
              </a:rPr>
              <a:t>SSL/TLS</a:t>
            </a:r>
            <a:r>
              <a:rPr lang="zh-CN" altLang="en-US" sz="2800" dirty="0">
                <a:solidFill>
                  <a:srgbClr val="404244"/>
                </a:solidFill>
                <a:latin typeface="+mn-ea"/>
                <a:cs typeface="Helvetica" panose="020B0604020202020204" pitchFamily="34" charset="0"/>
              </a:rPr>
              <a:t>协议</a:t>
            </a:r>
            <a:r>
              <a:rPr lang="zh-CN" altLang="en-US" sz="2800" dirty="0">
                <a:solidFill>
                  <a:srgbClr val="404244"/>
                </a:solidFill>
                <a:latin typeface="+mn-ea"/>
                <a:cs typeface="Helvetica" panose="020B0604020202020204" pitchFamily="34" charset="0"/>
              </a:rPr>
              <a:t>借助</a:t>
            </a:r>
            <a:r>
              <a:rPr lang="en-US" altLang="zh-CN" sz="2800" dirty="0">
                <a:solidFill>
                  <a:srgbClr val="404244"/>
                </a:solidFill>
                <a:latin typeface="+mn-ea"/>
                <a:cs typeface="Helvetica" panose="020B0604020202020204" pitchFamily="34" charset="0"/>
              </a:rPr>
              <a:t>PKI</a:t>
            </a:r>
            <a:r>
              <a:rPr lang="zh-CN" altLang="en-US" sz="2800" dirty="0">
                <a:solidFill>
                  <a:srgbClr val="404244"/>
                </a:solidFill>
                <a:latin typeface="+mn-ea"/>
                <a:cs typeface="Helvetica" panose="020B0604020202020204" pitchFamily="34" charset="0"/>
              </a:rPr>
              <a:t>的保障机制有效地防止浏览器和服务器间传输的信息被窃听、篡改和伪造。</a:t>
            </a:r>
            <a:r>
              <a:rPr lang="en-US" altLang="zh-CN" dirty="0"/>
              <a:t>	</a:t>
            </a:r>
            <a:endParaRPr lang="zh-CN" altLang="zh-C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39199" y="2788696"/>
            <a:ext cx="11262658" cy="2547685"/>
          </a:xfrm>
          <a:prstGeom prst="rect">
            <a:avLst/>
          </a:prstGeom>
          <a:noFill/>
        </p:spPr>
        <p:txBody>
          <a:bodyPr wrap="square">
            <a:spAutoFit/>
          </a:bodyPr>
          <a:lstStyle/>
          <a:p>
            <a:pPr marL="457200" indent="-457200">
              <a:lnSpc>
                <a:spcPct val="200000"/>
              </a:lnSpc>
              <a:buFont typeface="Arial" panose="020B0604020202020204" pitchFamily="34" charset="0"/>
              <a:buChar char="•"/>
            </a:pPr>
            <a:r>
              <a:rPr lang="zh-CN" altLang="zh-CN" sz="2800" dirty="0">
                <a:solidFill>
                  <a:srgbClr val="404244"/>
                </a:solidFill>
                <a:latin typeface="+mn-ea"/>
                <a:cs typeface="Helvetica" panose="020B0604020202020204" pitchFamily="34" charset="0"/>
              </a:rPr>
              <a:t>一个用于通用加密和安全通信的商业级、功能齐全的强大工具包</a:t>
            </a:r>
            <a:endParaRPr lang="en-US" altLang="zh-CN" sz="2800" dirty="0">
              <a:solidFill>
                <a:srgbClr val="404244"/>
              </a:solidFill>
              <a:latin typeface="+mn-ea"/>
              <a:cs typeface="Helvetica" panose="020B0604020202020204" pitchFamily="34" charset="0"/>
            </a:endParaRPr>
          </a:p>
          <a:p>
            <a:pPr marL="457200" indent="-457200">
              <a:lnSpc>
                <a:spcPct val="200000"/>
              </a:lnSpc>
              <a:buFont typeface="Arial" panose="020B0604020202020204" pitchFamily="34" charset="0"/>
              <a:buChar char="•"/>
            </a:pPr>
            <a:r>
              <a:rPr lang="zh-CN" altLang="zh-CN" sz="2800" dirty="0">
                <a:solidFill>
                  <a:srgbClr val="404244"/>
                </a:solidFill>
                <a:latin typeface="+mn-ea"/>
                <a:cs typeface="Helvetica" panose="020B0604020202020204" pitchFamily="34" charset="0"/>
              </a:rPr>
              <a:t>具备跨系统性能</a:t>
            </a:r>
            <a:r>
              <a:rPr lang="en-US" altLang="zh-CN" sz="2800" dirty="0">
                <a:solidFill>
                  <a:srgbClr val="404244"/>
                </a:solidFill>
                <a:latin typeface="+mn-ea"/>
                <a:cs typeface="Helvetica" panose="020B0604020202020204" pitchFamily="34" charset="0"/>
              </a:rPr>
              <a:t>	</a:t>
            </a:r>
            <a:endParaRPr lang="en-US" altLang="zh-CN" sz="2800" dirty="0">
              <a:solidFill>
                <a:srgbClr val="404244"/>
              </a:solidFill>
              <a:latin typeface="+mn-ea"/>
              <a:cs typeface="Helvetica" panose="020B0604020202020204" pitchFamily="34" charset="0"/>
            </a:endParaRPr>
          </a:p>
          <a:p>
            <a:pPr>
              <a:lnSpc>
                <a:spcPct val="200000"/>
              </a:lnSpc>
            </a:pPr>
            <a:r>
              <a:rPr lang="en-US" altLang="zh-CN" sz="2800" dirty="0">
                <a:solidFill>
                  <a:srgbClr val="404244"/>
                </a:solidFill>
                <a:latin typeface="+mn-ea"/>
                <a:cs typeface="Helvetica" panose="020B0604020202020204" pitchFamily="34" charset="0"/>
              </a:rPr>
              <a:t>	</a:t>
            </a:r>
            <a:r>
              <a:rPr lang="en-US"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a:t>
            </a:r>
            <a:r>
              <a:rPr lang="zh-CN"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支持</a:t>
            </a:r>
            <a:r>
              <a:rPr lang="en-US"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Linux</a:t>
            </a:r>
            <a:r>
              <a:rPr lang="zh-CN"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a:t>
            </a:r>
            <a:r>
              <a:rPr lang="en-US"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Unix</a:t>
            </a:r>
            <a:r>
              <a:rPr lang="zh-CN"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a:t>
            </a:r>
            <a:r>
              <a:rPr lang="en-US"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Windows</a:t>
            </a:r>
            <a:r>
              <a:rPr lang="zh-CN"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a:t>
            </a:r>
            <a:r>
              <a:rPr lang="en-US"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Mac</a:t>
            </a:r>
            <a:r>
              <a:rPr lang="zh-CN" altLang="zh-CN" sz="2400" b="1" dirty="0">
                <a:solidFill>
                  <a:srgbClr val="404244"/>
                </a:solidFill>
                <a:latin typeface="宋体" panose="02010600030101010101" pitchFamily="2" charset="-122"/>
                <a:ea typeface="宋体" panose="02010600030101010101" pitchFamily="2" charset="-122"/>
                <a:cs typeface="Helvetica" panose="020B0604020202020204" pitchFamily="34" charset="0"/>
              </a:rPr>
              <a:t>等多种平台</a:t>
            </a:r>
            <a:endParaRPr lang="zh-CN" altLang="zh-CN" sz="2000" b="1" dirty="0">
              <a:solidFill>
                <a:srgbClr val="404244"/>
              </a:solidFill>
              <a:latin typeface="宋体" panose="02010600030101010101" pitchFamily="2" charset="-122"/>
              <a:ea typeface="宋体" panose="02010600030101010101" pitchFamily="2" charset="-122"/>
              <a:cs typeface="Helvetica" panose="020B0604020202020204" pitchFamily="34" charset="0"/>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36550" y="1067214"/>
            <a:ext cx="3867956" cy="19339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3944680" y="887943"/>
            <a:ext cx="7171411" cy="5139055"/>
          </a:xfrm>
          <a:prstGeom prst="rect">
            <a:avLst/>
          </a:prstGeom>
          <a:noFill/>
        </p:spPr>
        <p:txBody>
          <a:bodyPr wrap="square">
            <a:spAutoFit/>
          </a:bodyPr>
          <a:lstStyle/>
          <a:p>
            <a:pPr marL="457200" indent="-457200">
              <a:lnSpc>
                <a:spcPct val="200000"/>
              </a:lnSpc>
              <a:buFont typeface="Arial" panose="020B0604020202020204" pitchFamily="34" charset="0"/>
              <a:buChar char="•"/>
            </a:pPr>
            <a:r>
              <a:rPr lang="en-US" altLang="zh-CN" sz="2800" dirty="0">
                <a:solidFill>
                  <a:srgbClr val="404244"/>
                </a:solidFill>
                <a:latin typeface="+mn-ea"/>
                <a:cs typeface="Helvetica" panose="020B0604020202020204" pitchFamily="34" charset="0"/>
              </a:rPr>
              <a:t>SSL/TLS</a:t>
            </a:r>
            <a:r>
              <a:rPr lang="zh-CN" altLang="en-US" sz="2800" dirty="0">
                <a:solidFill>
                  <a:srgbClr val="404244"/>
                </a:solidFill>
                <a:latin typeface="+mn-ea"/>
                <a:cs typeface="Helvetica" panose="020B0604020202020204" pitchFamily="34" charset="0"/>
              </a:rPr>
              <a:t>协议</a:t>
            </a:r>
            <a:endParaRPr lang="en-US" altLang="zh-CN" sz="2800" dirty="0">
              <a:solidFill>
                <a:srgbClr val="404244"/>
              </a:solidFill>
              <a:latin typeface="+mn-ea"/>
              <a:cs typeface="Helvetica" panose="020B0604020202020204" pitchFamily="34" charset="0"/>
            </a:endParaRPr>
          </a:p>
          <a:p>
            <a:pPr>
              <a:lnSpc>
                <a:spcPct val="200000"/>
              </a:lnSpc>
            </a:pPr>
            <a:r>
              <a:rPr lang="en-US" altLang="zh-CN" sz="2800" dirty="0">
                <a:solidFill>
                  <a:srgbClr val="404244"/>
                </a:solidFill>
                <a:latin typeface="+mn-ea"/>
                <a:cs typeface="Helvetica" panose="020B0604020202020204" pitchFamily="34" charset="0"/>
              </a:rPr>
              <a:t>	</a:t>
            </a:r>
            <a:r>
              <a:rPr lang="en-US" altLang="zh-CN"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a:t>
            </a:r>
            <a:r>
              <a:rPr lang="zh-CN" altLang="en-US"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提供</a:t>
            </a:r>
            <a:r>
              <a:rPr lang="en-US" altLang="zh-CN"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SSL</a:t>
            </a:r>
            <a:r>
              <a:rPr lang="zh-CN" altLang="en-US"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和</a:t>
            </a:r>
            <a:r>
              <a:rPr lang="en-US" altLang="zh-CN"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TLS</a:t>
            </a:r>
            <a:r>
              <a:rPr lang="zh-CN" altLang="en-US"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协议支持的库</a:t>
            </a:r>
            <a:r>
              <a:rPr lang="en-US" altLang="zh-CN" sz="2400" dirty="0" err="1">
                <a:solidFill>
                  <a:srgbClr val="404244"/>
                </a:solidFill>
                <a:latin typeface="仿宋" panose="02010609060101010101" pitchFamily="49" charset="-122"/>
                <a:ea typeface="仿宋" panose="02010609060101010101" pitchFamily="49" charset="-122"/>
                <a:cs typeface="Helvetica" panose="020B0604020202020204" pitchFamily="34" charset="0"/>
              </a:rPr>
              <a:t>libssl</a:t>
            </a:r>
            <a:endParaRPr lang="en-US" altLang="zh-CN" sz="2400" dirty="0">
              <a:solidFill>
                <a:srgbClr val="404244"/>
              </a:solidFill>
              <a:latin typeface="仿宋" panose="02010609060101010101" pitchFamily="49" charset="-122"/>
              <a:ea typeface="仿宋" panose="02010609060101010101" pitchFamily="49" charset="-122"/>
              <a:cs typeface="Helvetica" panose="020B0604020202020204" pitchFamily="34" charset="0"/>
            </a:endParaRPr>
          </a:p>
          <a:p>
            <a:pPr marL="457200" indent="-45720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密码算法库</a:t>
            </a:r>
            <a:endParaRPr lang="en-US" altLang="zh-CN" sz="2800" dirty="0">
              <a:solidFill>
                <a:srgbClr val="404244"/>
              </a:solidFill>
              <a:latin typeface="+mn-ea"/>
              <a:cs typeface="Helvetica" panose="020B0604020202020204" pitchFamily="34" charset="0"/>
            </a:endParaRPr>
          </a:p>
          <a:p>
            <a:pPr>
              <a:lnSpc>
                <a:spcPct val="200000"/>
              </a:lnSpc>
            </a:pPr>
            <a:r>
              <a:rPr lang="en-US" altLang="zh-CN" sz="2800" dirty="0">
                <a:solidFill>
                  <a:srgbClr val="404244"/>
                </a:solidFill>
                <a:latin typeface="+mn-ea"/>
                <a:cs typeface="Helvetica" panose="020B0604020202020204" pitchFamily="34" charset="0"/>
              </a:rPr>
              <a:t> 	</a:t>
            </a:r>
            <a:r>
              <a:rPr lang="en-US" altLang="zh-CN"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a:t>
            </a:r>
            <a:r>
              <a:rPr lang="zh-CN" altLang="en-US"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全面的广泛的加密库</a:t>
            </a:r>
            <a:r>
              <a:rPr lang="en-US" altLang="zh-CN" sz="2400" dirty="0" err="1">
                <a:solidFill>
                  <a:srgbClr val="404244"/>
                </a:solidFill>
                <a:latin typeface="仿宋" panose="02010609060101010101" pitchFamily="49" charset="-122"/>
                <a:ea typeface="仿宋" panose="02010609060101010101" pitchFamily="49" charset="-122"/>
                <a:cs typeface="Helvetica" panose="020B0604020202020204" pitchFamily="34" charset="0"/>
              </a:rPr>
              <a:t>libcrypto</a:t>
            </a:r>
            <a:endParaRPr lang="en-US" altLang="zh-CN" sz="2800" dirty="0">
              <a:solidFill>
                <a:srgbClr val="404244"/>
              </a:solidFill>
              <a:latin typeface="+mn-ea"/>
              <a:cs typeface="Helvetica" panose="020B0604020202020204" pitchFamily="34" charset="0"/>
            </a:endParaRPr>
          </a:p>
          <a:p>
            <a:pPr marL="457200" indent="-45720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应用程序库</a:t>
            </a:r>
            <a:endParaRPr lang="en-US" altLang="zh-CN" sz="2800" dirty="0">
              <a:solidFill>
                <a:srgbClr val="404244"/>
              </a:solidFill>
              <a:latin typeface="+mn-ea"/>
              <a:cs typeface="Helvetica" panose="020B0604020202020204" pitchFamily="34" charset="0"/>
            </a:endParaRPr>
          </a:p>
          <a:p>
            <a:pPr>
              <a:lnSpc>
                <a:spcPct val="200000"/>
              </a:lnSpc>
            </a:pPr>
            <a:r>
              <a:rPr lang="en-US" altLang="zh-CN"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	——</a:t>
            </a:r>
            <a:r>
              <a:rPr lang="zh-CN" altLang="en-US" sz="2400" dirty="0">
                <a:solidFill>
                  <a:srgbClr val="404244"/>
                </a:solidFill>
                <a:latin typeface="仿宋" panose="02010609060101010101" pitchFamily="49" charset="-122"/>
                <a:ea typeface="仿宋" panose="02010609060101010101" pitchFamily="49" charset="-122"/>
                <a:cs typeface="Helvetica" panose="020B0604020202020204" pitchFamily="34" charset="0"/>
              </a:rPr>
              <a:t>命令行应用程序</a:t>
            </a:r>
            <a:endParaRPr lang="zh-CN" altLang="zh-CN" sz="2400" dirty="0">
              <a:solidFill>
                <a:srgbClr val="404244"/>
              </a:solidFill>
              <a:latin typeface="仿宋" panose="02010609060101010101" pitchFamily="49" charset="-122"/>
              <a:ea typeface="仿宋" panose="02010609060101010101" pitchFamily="49" charset="-122"/>
              <a:cs typeface="Helvetica" panose="020B0604020202020204" pitchFamily="34" charset="0"/>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388" y="2637586"/>
            <a:ext cx="3165656" cy="1582828"/>
          </a:xfrm>
          <a:prstGeom prst="rect">
            <a:avLst/>
          </a:prstGeom>
          <a:noFill/>
          <a:extLst>
            <a:ext uri="{909E8E84-426E-40DD-AFC4-6F175D3DCCD1}">
              <a14:hiddenFill xmlns:a14="http://schemas.microsoft.com/office/drawing/2010/main">
                <a:solidFill>
                  <a:srgbClr val="FFFFFF"/>
                </a:solidFill>
              </a14:hiddenFill>
            </a:ext>
          </a:extLst>
        </p:spPr>
      </p:pic>
      <p:sp>
        <p:nvSpPr>
          <p:cNvPr id="2" name="右大括号 1"/>
          <p:cNvSpPr/>
          <p:nvPr/>
        </p:nvSpPr>
        <p:spPr>
          <a:xfrm rot="10800000">
            <a:off x="3454087" y="1327219"/>
            <a:ext cx="307911" cy="4286771"/>
          </a:xfrm>
          <a:prstGeom prst="rightBrace">
            <a:avLst>
              <a:gd name="adj1" fmla="val 93181"/>
              <a:gd name="adj2" fmla="val 50000"/>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文本框 14"/>
          <p:cNvSpPr txBox="1"/>
          <p:nvPr/>
        </p:nvSpPr>
        <p:spPr>
          <a:xfrm>
            <a:off x="802831" y="4093535"/>
            <a:ext cx="2033672" cy="707886"/>
          </a:xfrm>
          <a:prstGeom prst="rect">
            <a:avLst/>
          </a:prstGeom>
          <a:noFill/>
        </p:spPr>
        <p:txBody>
          <a:bodyPr wrap="square" rtlCol="0">
            <a:spAutoFit/>
          </a:bodyPr>
          <a:lstStyle/>
          <a:p>
            <a:r>
              <a:rPr lang="en-US" altLang="zh-CN" sz="4000" b="1" dirty="0">
                <a:solidFill>
                  <a:srgbClr val="C00000"/>
                </a:solidFill>
                <a:latin typeface="Constantia" panose="02030602050306030303" pitchFamily="18" charset="0"/>
              </a:rPr>
              <a:t>&gt;&gt; SSL</a:t>
            </a:r>
            <a:endParaRPr lang="zh-CN" altLang="en-US" sz="4000" b="1" dirty="0">
              <a:solidFill>
                <a:srgbClr val="C00000"/>
              </a:solidFill>
              <a:latin typeface="Constantia" panose="02030602050306030303"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的使用</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457370" y="1863663"/>
            <a:ext cx="11262658" cy="2547685"/>
          </a:xfrm>
          <a:prstGeom prst="rect">
            <a:avLst/>
          </a:prstGeom>
          <a:noFill/>
        </p:spPr>
        <p:txBody>
          <a:bodyPr wrap="square">
            <a:spAutoFit/>
          </a:bodyPr>
          <a:lstStyle/>
          <a:p>
            <a:pPr marL="457200" indent="-45720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安装</a:t>
            </a:r>
            <a:r>
              <a:rPr lang="en-US" altLang="zh-CN" sz="2800" dirty="0">
                <a:solidFill>
                  <a:srgbClr val="404244"/>
                </a:solidFill>
                <a:latin typeface="+mn-ea"/>
                <a:cs typeface="Helvetica" panose="020B0604020202020204" pitchFamily="34" charset="0"/>
              </a:rPr>
              <a:t>OpenSSL</a:t>
            </a:r>
            <a:r>
              <a:rPr lang="zh-CN" altLang="en-US" sz="2800" dirty="0">
                <a:solidFill>
                  <a:srgbClr val="404244"/>
                </a:solidFill>
                <a:latin typeface="+mn-ea"/>
                <a:cs typeface="Helvetica" panose="020B0604020202020204" pitchFamily="34" charset="0"/>
              </a:rPr>
              <a:t>，即可使用</a:t>
            </a:r>
            <a:endParaRPr lang="en-US" altLang="zh-CN" sz="2800" dirty="0">
              <a:solidFill>
                <a:srgbClr val="404244"/>
              </a:solidFill>
              <a:latin typeface="+mn-ea"/>
              <a:cs typeface="Helvetica" panose="020B0604020202020204" pitchFamily="34" charset="0"/>
            </a:endParaRPr>
          </a:p>
          <a:p>
            <a:pPr marL="457200" indent="-45720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简单的</a:t>
            </a:r>
            <a:r>
              <a:rPr lang="en-US" altLang="zh-CN" sz="2800" dirty="0">
                <a:solidFill>
                  <a:srgbClr val="404244"/>
                </a:solidFill>
                <a:latin typeface="+mn-ea"/>
                <a:cs typeface="Helvetica" panose="020B0604020202020204" pitchFamily="34" charset="0"/>
              </a:rPr>
              <a:t>OpenSSL</a:t>
            </a:r>
            <a:r>
              <a:rPr lang="zh-CN" altLang="en-US" sz="2800" dirty="0">
                <a:solidFill>
                  <a:srgbClr val="404244"/>
                </a:solidFill>
                <a:latin typeface="+mn-ea"/>
                <a:cs typeface="Helvetica" panose="020B0604020202020204" pitchFamily="34" charset="0"/>
              </a:rPr>
              <a:t>应用：自建私有证书认证机构</a:t>
            </a:r>
            <a:r>
              <a:rPr lang="en-US" altLang="zh-CN" sz="2800" dirty="0">
                <a:solidFill>
                  <a:srgbClr val="404244"/>
                </a:solidFill>
                <a:latin typeface="+mn-ea"/>
                <a:cs typeface="Helvetica" panose="020B0604020202020204" pitchFamily="34" charset="0"/>
              </a:rPr>
              <a:t>CA</a:t>
            </a:r>
            <a:endParaRPr lang="en-US" altLang="zh-CN" sz="2800" dirty="0">
              <a:solidFill>
                <a:srgbClr val="404244"/>
              </a:solidFill>
              <a:latin typeface="+mn-ea"/>
              <a:cs typeface="Helvetica" panose="020B0604020202020204" pitchFamily="34" charset="0"/>
            </a:endParaRPr>
          </a:p>
          <a:p>
            <a:pPr marL="457200" indent="-45720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很多</a:t>
            </a:r>
            <a:r>
              <a:rPr lang="en-US" altLang="zh-CN" sz="2800" dirty="0">
                <a:solidFill>
                  <a:srgbClr val="404244"/>
                </a:solidFill>
                <a:latin typeface="+mn-ea"/>
                <a:cs typeface="Helvetica" panose="020B0604020202020204" pitchFamily="34" charset="0"/>
              </a:rPr>
              <a:t>Apache</a:t>
            </a:r>
            <a:r>
              <a:rPr lang="zh-CN" altLang="en-US" sz="2800" dirty="0">
                <a:solidFill>
                  <a:srgbClr val="404244"/>
                </a:solidFill>
                <a:latin typeface="+mn-ea"/>
                <a:cs typeface="Helvetica" panose="020B0604020202020204" pitchFamily="34" charset="0"/>
              </a:rPr>
              <a:t>服务器使用</a:t>
            </a:r>
            <a:r>
              <a:rPr lang="en-US" altLang="zh-CN" sz="2800" dirty="0">
                <a:solidFill>
                  <a:srgbClr val="404244"/>
                </a:solidFill>
                <a:latin typeface="+mn-ea"/>
                <a:cs typeface="Helvetica" panose="020B0604020202020204" pitchFamily="34" charset="0"/>
              </a:rPr>
              <a:t>OpenSSL</a:t>
            </a:r>
            <a:r>
              <a:rPr lang="zh-CN" altLang="en-US" sz="2800" dirty="0">
                <a:solidFill>
                  <a:srgbClr val="404244"/>
                </a:solidFill>
                <a:latin typeface="+mn-ea"/>
                <a:cs typeface="Helvetica" panose="020B0604020202020204" pitchFamily="34" charset="0"/>
              </a:rPr>
              <a:t>指令生成的证书来作为服务器证书</a:t>
            </a:r>
            <a:endParaRPr lang="zh-CN" altLang="zh-CN" sz="2800" dirty="0">
              <a:solidFill>
                <a:srgbClr val="404244"/>
              </a:solidFill>
              <a:latin typeface="+mn-ea"/>
              <a:cs typeface="Helvetica"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的使用</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5" name="文本框 14"/>
          <p:cNvSpPr txBox="1"/>
          <p:nvPr/>
        </p:nvSpPr>
        <p:spPr>
          <a:xfrm>
            <a:off x="339199" y="1218095"/>
            <a:ext cx="10654866" cy="1815882"/>
          </a:xfrm>
          <a:prstGeom prst="rect">
            <a:avLst/>
          </a:prstGeom>
          <a:noFill/>
        </p:spPr>
        <p:txBody>
          <a:bodyPr wrap="square">
            <a:spAutoFit/>
          </a:bodyPr>
          <a:lstStyle/>
          <a:p>
            <a:pPr lvl="0" algn="just"/>
            <a:r>
              <a:rPr lang="zh-CN" altLang="en-US" sz="2800" b="1" i="0" dirty="0">
                <a:solidFill>
                  <a:srgbClr val="000000"/>
                </a:solidFill>
                <a:effectLst/>
                <a:latin typeface="Verdana" panose="020B0604030504040204" pitchFamily="34" charset="0"/>
              </a:rPr>
              <a:t>对称加密指令语法</a:t>
            </a:r>
            <a:endParaRPr lang="en-US" altLang="zh-CN" sz="2800" b="1" i="0" dirty="0">
              <a:solidFill>
                <a:srgbClr val="000000"/>
              </a:solidFill>
              <a:effectLst/>
              <a:latin typeface="Verdana" panose="020B0604030504040204" pitchFamily="34" charset="0"/>
            </a:endParaRPr>
          </a:p>
          <a:p>
            <a:pPr lvl="0" algn="just"/>
            <a:endParaRPr lang="en-US" altLang="zh-CN" sz="1200" b="1" kern="100" dirty="0">
              <a:solidFill>
                <a:srgbClr val="000000"/>
              </a:solidFill>
              <a:latin typeface="Verdana" panose="020B0604030504040204" pitchFamily="34" charset="0"/>
              <a:ea typeface="等线" panose="02010600030101010101" charset="-122"/>
              <a:cs typeface="Times New Roman" panose="02020603050405020304" pitchFamily="18" charset="0"/>
            </a:endParaRPr>
          </a:p>
          <a:p>
            <a:pPr lvl="0" algn="just"/>
            <a:r>
              <a:rPr lang="en-US" altLang="zh-CN" dirty="0">
                <a:solidFill>
                  <a:srgbClr val="000000"/>
                </a:solidFill>
                <a:latin typeface="Courier New" panose="02070309020205020404" pitchFamily="49" charset="0"/>
              </a:rPr>
              <a:t>openssl enc </a:t>
            </a:r>
            <a:r>
              <a:rPr lang="en-US" altLang="zh-CN" dirty="0">
                <a:solidFill>
                  <a:srgbClr val="C00000"/>
                </a:solidFill>
                <a:latin typeface="Courier New" panose="02070309020205020404" pitchFamily="49" charset="0"/>
              </a:rPr>
              <a:t>-</a:t>
            </a:r>
            <a:r>
              <a:rPr lang="en-US" altLang="zh-CN" dirty="0" err="1">
                <a:solidFill>
                  <a:srgbClr val="C00000"/>
                </a:solidFill>
                <a:latin typeface="Courier New" panose="02070309020205020404" pitchFamily="49" charset="0"/>
              </a:rPr>
              <a:t>ciphername</a:t>
            </a:r>
            <a:r>
              <a:rPr lang="en-US" altLang="zh-CN" dirty="0">
                <a:solidFill>
                  <a:srgbClr val="C00000"/>
                </a:solidFill>
                <a:latin typeface="Courier New" panose="02070309020205020404" pitchFamily="49" charset="0"/>
              </a:rPr>
              <a:t> [-in filename] [-out filename] [-pass </a:t>
            </a:r>
            <a:r>
              <a:rPr lang="en-US" altLang="zh-CN" dirty="0" err="1">
                <a:solidFill>
                  <a:srgbClr val="C00000"/>
                </a:solidFill>
                <a:latin typeface="Courier New" panose="02070309020205020404" pitchFamily="49" charset="0"/>
              </a:rPr>
              <a:t>arg</a:t>
            </a:r>
            <a:r>
              <a:rPr lang="en-US" altLang="zh-CN" dirty="0">
                <a:solidFill>
                  <a:srgbClr val="C00000"/>
                </a:solidFill>
                <a:latin typeface="Courier New" panose="02070309020205020404" pitchFamily="49" charset="0"/>
              </a:rPr>
              <a:t>] </a:t>
            </a:r>
            <a:r>
              <a:rPr lang="en-US" altLang="zh-CN" dirty="0">
                <a:solidFill>
                  <a:srgbClr val="000000"/>
                </a:solidFill>
                <a:latin typeface="Courier New" panose="02070309020205020404" pitchFamily="49" charset="0"/>
              </a:rPr>
              <a:t>[-e] [-d] [-a/-base64] [-A] [-k password] [-</a:t>
            </a:r>
            <a:r>
              <a:rPr lang="en-US" altLang="zh-CN" dirty="0" err="1">
                <a:solidFill>
                  <a:srgbClr val="000000"/>
                </a:solidFill>
                <a:latin typeface="Courier New" panose="02070309020205020404" pitchFamily="49" charset="0"/>
              </a:rPr>
              <a:t>kfile</a:t>
            </a:r>
            <a:r>
              <a:rPr lang="en-US" altLang="zh-CN" dirty="0">
                <a:solidFill>
                  <a:srgbClr val="000000"/>
                </a:solidFill>
                <a:latin typeface="Courier New" panose="02070309020205020404" pitchFamily="49" charset="0"/>
              </a:rPr>
              <a:t> filename] [-K key] [-iv IV] [-S salt] [-salt] [-</a:t>
            </a:r>
            <a:r>
              <a:rPr lang="en-US" altLang="zh-CN" dirty="0" err="1">
                <a:solidFill>
                  <a:srgbClr val="000000"/>
                </a:solidFill>
                <a:latin typeface="Courier New" panose="02070309020205020404" pitchFamily="49" charset="0"/>
              </a:rPr>
              <a:t>nosalt</a:t>
            </a:r>
            <a:r>
              <a:rPr lang="en-US" altLang="zh-CN" dirty="0">
                <a:solidFill>
                  <a:srgbClr val="000000"/>
                </a:solidFill>
                <a:latin typeface="Courier New" panose="02070309020205020404" pitchFamily="49" charset="0"/>
              </a:rPr>
              <a:t>] [-z] [-md] [-p] [-P] [-</a:t>
            </a:r>
            <a:r>
              <a:rPr lang="en-US" altLang="zh-CN" dirty="0" err="1">
                <a:solidFill>
                  <a:srgbClr val="000000"/>
                </a:solidFill>
                <a:latin typeface="Courier New" panose="02070309020205020404" pitchFamily="49" charset="0"/>
              </a:rPr>
              <a:t>bufsize</a:t>
            </a:r>
            <a:r>
              <a:rPr lang="en-US" altLang="zh-CN" dirty="0">
                <a:solidFill>
                  <a:srgbClr val="000000"/>
                </a:solidFill>
                <a:latin typeface="Courier New" panose="02070309020205020404" pitchFamily="49" charset="0"/>
              </a:rPr>
              <a:t> number] [-</a:t>
            </a:r>
            <a:r>
              <a:rPr lang="en-US" altLang="zh-CN" dirty="0" err="1">
                <a:solidFill>
                  <a:srgbClr val="000000"/>
                </a:solidFill>
                <a:latin typeface="Courier New" panose="02070309020205020404" pitchFamily="49" charset="0"/>
              </a:rPr>
              <a:t>nopad</a:t>
            </a:r>
            <a:r>
              <a:rPr lang="en-US" altLang="zh-CN" dirty="0">
                <a:solidFill>
                  <a:srgbClr val="000000"/>
                </a:solidFill>
                <a:latin typeface="Courier New" panose="02070309020205020404" pitchFamily="49" charset="0"/>
              </a:rPr>
              <a:t>] [-debug] [-none] [-engine id]</a:t>
            </a:r>
            <a:endParaRPr lang="zh-CN" altLang="zh-CN" dirty="0">
              <a:solidFill>
                <a:srgbClr val="000000"/>
              </a:solidFill>
              <a:latin typeface="Courier New" panose="02070309020205020404" pitchFamily="49" charset="0"/>
            </a:endParaRPr>
          </a:p>
        </p:txBody>
      </p:sp>
      <p:sp>
        <p:nvSpPr>
          <p:cNvPr id="16" name="文本框 15"/>
          <p:cNvSpPr txBox="1"/>
          <p:nvPr/>
        </p:nvSpPr>
        <p:spPr>
          <a:xfrm>
            <a:off x="339199" y="3300343"/>
            <a:ext cx="11314085" cy="2616101"/>
          </a:xfrm>
          <a:prstGeom prst="rect">
            <a:avLst/>
          </a:prstGeom>
          <a:noFill/>
        </p:spPr>
        <p:txBody>
          <a:bodyPr wrap="square">
            <a:spAutoFit/>
          </a:bodyPr>
          <a:lstStyle/>
          <a:p>
            <a:pPr algn="l">
              <a:lnSpc>
                <a:spcPct val="150000"/>
              </a:lnSpc>
            </a:pPr>
            <a:r>
              <a:rPr lang="en-US" altLang="zh-CN" sz="2400" b="1" i="0" dirty="0">
                <a:solidFill>
                  <a:srgbClr val="000000"/>
                </a:solidFill>
                <a:effectLst/>
                <a:latin typeface="Verdana" panose="020B0604030504040204" pitchFamily="34" charset="0"/>
              </a:rPr>
              <a:t>-</a:t>
            </a:r>
            <a:r>
              <a:rPr lang="en-US" altLang="zh-CN" sz="2400" b="1" i="0" dirty="0" err="1">
                <a:solidFill>
                  <a:srgbClr val="000000"/>
                </a:solidFill>
                <a:effectLst/>
                <a:latin typeface="Verdana" panose="020B0604030504040204" pitchFamily="34" charset="0"/>
              </a:rPr>
              <a:t>ciphername</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必填，为指定使用的加密算法，用于实现文件加解密功能</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i="0" dirty="0">
                <a:solidFill>
                  <a:srgbClr val="000000"/>
                </a:solidFill>
                <a:effectLst/>
                <a:latin typeface="Verdana" panose="020B0604030504040204" pitchFamily="34" charset="0"/>
              </a:rPr>
              <a:t>-in</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输入文件，该选项后面直接加文件名</a:t>
            </a:r>
            <a:endParaRPr lang="zh-CN" altLang="en-US" sz="2400" dirty="0">
              <a:solidFill>
                <a:srgbClr val="000000"/>
              </a:solidFill>
              <a:latin typeface="仿宋" panose="02010609060101010101" pitchFamily="49" charset="-122"/>
              <a:ea typeface="仿宋" panose="02010609060101010101" pitchFamily="49" charset="-122"/>
            </a:endParaRPr>
          </a:p>
          <a:p>
            <a:pPr algn="l">
              <a:lnSpc>
                <a:spcPct val="150000"/>
              </a:lnSpc>
            </a:pPr>
            <a:r>
              <a:rPr lang="en-US" altLang="zh-CN" sz="2400" b="1" i="0" dirty="0">
                <a:solidFill>
                  <a:srgbClr val="000000"/>
                </a:solidFill>
                <a:effectLst/>
                <a:latin typeface="Verdana" panose="020B0604030504040204" pitchFamily="34" charset="0"/>
              </a:rPr>
              <a:t>-out</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输出文件，该选项后面直接加文件名</a:t>
            </a:r>
            <a:endParaRPr lang="zh-CN" altLang="en-US" sz="2400" dirty="0">
              <a:solidFill>
                <a:srgbClr val="000000"/>
              </a:solidFill>
              <a:latin typeface="仿宋" panose="02010609060101010101" pitchFamily="49" charset="-122"/>
              <a:ea typeface="仿宋" panose="02010609060101010101" pitchFamily="49" charset="-122"/>
            </a:endParaRPr>
          </a:p>
          <a:p>
            <a:pPr algn="l">
              <a:lnSpc>
                <a:spcPct val="150000"/>
              </a:lnSpc>
            </a:pPr>
            <a:r>
              <a:rPr lang="en-US" altLang="zh-CN" sz="2400" b="1" i="0" dirty="0">
                <a:solidFill>
                  <a:srgbClr val="000000"/>
                </a:solidFill>
                <a:effectLst/>
                <a:latin typeface="Verdana" panose="020B0604030504040204" pitchFamily="34" charset="0"/>
              </a:rPr>
              <a:t>-pass</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口令设置，用于没有提供密钥时，采用摘要算法从口令中生成一个密钥</a:t>
            </a:r>
            <a:endParaRPr lang="zh-CN" altLang="en-US" sz="2400" dirty="0">
              <a:solidFill>
                <a:srgbClr val="000000"/>
              </a:solidFill>
              <a:latin typeface="仿宋" panose="02010609060101010101" pitchFamily="49" charset="-122"/>
              <a:ea typeface="仿宋" panose="02010609060101010101" pitchFamily="49" charset="-122"/>
            </a:endParaRPr>
          </a:p>
          <a:p>
            <a:pPr algn="l"/>
            <a:r>
              <a:rPr lang="zh-CN" altLang="en-US" sz="2000" b="0" i="0" dirty="0">
                <a:solidFill>
                  <a:srgbClr val="000000"/>
                </a:solidFill>
                <a:effectLst/>
                <a:latin typeface="Verdana" panose="020B0604030504040204" pitchFamily="34" charset="0"/>
              </a:rPr>
              <a:t>　</a:t>
            </a:r>
            <a:r>
              <a:rPr lang="zh-CN" altLang="en-US" sz="2000" b="1" i="0" dirty="0">
                <a:solidFill>
                  <a:srgbClr val="000000"/>
                </a:solidFill>
                <a:effectLst/>
                <a:latin typeface="Verdana" panose="020B0604030504040204" pitchFamily="34" charset="0"/>
              </a:rPr>
              <a:t>　</a:t>
            </a:r>
            <a:endParaRPr lang="zh-CN" altLang="en-US" sz="2000" b="0" i="0" dirty="0">
              <a:solidFill>
                <a:srgbClr val="000000"/>
              </a:solidFill>
              <a:effectLst/>
              <a:latin typeface="Verdana" panose="020B060403050404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的使用</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339199" y="3220068"/>
            <a:ext cx="11314085" cy="2616101"/>
          </a:xfrm>
          <a:prstGeom prst="rect">
            <a:avLst/>
          </a:prstGeom>
          <a:noFill/>
        </p:spPr>
        <p:txBody>
          <a:bodyPr wrap="square">
            <a:spAutoFit/>
          </a:bodyPr>
          <a:lstStyle/>
          <a:p>
            <a:pPr algn="l">
              <a:lnSpc>
                <a:spcPct val="150000"/>
              </a:lnSpc>
            </a:pPr>
            <a:r>
              <a:rPr lang="en-US" altLang="zh-CN" sz="2400" b="1" i="0" dirty="0">
                <a:solidFill>
                  <a:srgbClr val="000000"/>
                </a:solidFill>
                <a:effectLst/>
                <a:latin typeface="Verdana" panose="020B0604030504040204" pitchFamily="34" charset="0"/>
              </a:rPr>
              <a:t>-e</a:t>
            </a:r>
            <a:r>
              <a:rPr lang="en-US" altLang="zh-CN" sz="2400" b="1" dirty="0">
                <a:solidFill>
                  <a:srgbClr val="000000"/>
                </a:solidFill>
                <a:latin typeface="Verdana" panose="020B0604030504040204" pitchFamily="34" charset="0"/>
              </a:rPr>
              <a:t>/-d</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实现加密</a:t>
            </a:r>
            <a:r>
              <a:rPr lang="en-US" altLang="zh-CN" sz="2400" dirty="0">
                <a:solidFill>
                  <a:srgbClr val="000000"/>
                </a:solidFill>
                <a:latin typeface="仿宋" panose="02010609060101010101" pitchFamily="49" charset="-122"/>
                <a:ea typeface="仿宋" panose="02010609060101010101" pitchFamily="49" charset="-122"/>
              </a:rPr>
              <a:t>/</a:t>
            </a:r>
            <a:r>
              <a:rPr lang="zh-CN" altLang="en-US" sz="2400" dirty="0">
                <a:solidFill>
                  <a:srgbClr val="000000"/>
                </a:solidFill>
                <a:latin typeface="仿宋" panose="02010609060101010101" pitchFamily="49" charset="-122"/>
                <a:ea typeface="仿宋" panose="02010609060101010101" pitchFamily="49" charset="-122"/>
              </a:rPr>
              <a:t>解密功能</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i="0" dirty="0">
                <a:solidFill>
                  <a:srgbClr val="000000"/>
                </a:solidFill>
                <a:effectLst/>
                <a:latin typeface="Verdana" panose="020B0604030504040204" pitchFamily="34" charset="0"/>
              </a:rPr>
              <a:t>-a</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加密时设置结果以</a:t>
            </a:r>
            <a:r>
              <a:rPr lang="en-US" altLang="zh-CN" sz="2400" dirty="0">
                <a:solidFill>
                  <a:srgbClr val="000000"/>
                </a:solidFill>
                <a:latin typeface="仿宋" panose="02010609060101010101" pitchFamily="49" charset="-122"/>
                <a:ea typeface="仿宋" panose="02010609060101010101" pitchFamily="49" charset="-122"/>
              </a:rPr>
              <a:t>base64</a:t>
            </a:r>
            <a:r>
              <a:rPr lang="zh-CN" altLang="en-US" sz="2400" dirty="0">
                <a:solidFill>
                  <a:srgbClr val="000000"/>
                </a:solidFill>
                <a:latin typeface="仿宋" panose="02010609060101010101" pitchFamily="49" charset="-122"/>
                <a:ea typeface="仿宋" panose="02010609060101010101" pitchFamily="49" charset="-122"/>
              </a:rPr>
              <a:t>编码，解密时设置输入为</a:t>
            </a:r>
            <a:r>
              <a:rPr lang="en-US" altLang="zh-CN" sz="2400" dirty="0">
                <a:solidFill>
                  <a:srgbClr val="000000"/>
                </a:solidFill>
                <a:latin typeface="仿宋" panose="02010609060101010101" pitchFamily="49" charset="-122"/>
                <a:ea typeface="仿宋" panose="02010609060101010101" pitchFamily="49" charset="-122"/>
              </a:rPr>
              <a:t>base64</a:t>
            </a:r>
            <a:endParaRPr lang="en-US" altLang="zh-CN" sz="2400" dirty="0">
              <a:solidFill>
                <a:srgbClr val="000000"/>
              </a:solidFill>
              <a:latin typeface="仿宋" panose="02010609060101010101" pitchFamily="49" charset="-122"/>
              <a:ea typeface="仿宋" panose="02010609060101010101" pitchFamily="49" charset="-122"/>
            </a:endParaRPr>
          </a:p>
          <a:p>
            <a:pPr algn="l">
              <a:lnSpc>
                <a:spcPct val="150000"/>
              </a:lnSpc>
            </a:pPr>
            <a:r>
              <a:rPr lang="en-US" altLang="zh-CN" sz="2400" b="1" i="0" dirty="0">
                <a:solidFill>
                  <a:srgbClr val="000000"/>
                </a:solidFill>
                <a:effectLst/>
                <a:latin typeface="Verdana" panose="020B0604030504040204" pitchFamily="34" charset="0"/>
              </a:rPr>
              <a:t>-A</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加密时设置结果以</a:t>
            </a:r>
            <a:r>
              <a:rPr lang="en-US" altLang="zh-CN" sz="2400" dirty="0">
                <a:solidFill>
                  <a:srgbClr val="000000"/>
                </a:solidFill>
                <a:latin typeface="仿宋" panose="02010609060101010101" pitchFamily="49" charset="-122"/>
                <a:ea typeface="仿宋" panose="02010609060101010101" pitchFamily="49" charset="-122"/>
              </a:rPr>
              <a:t>base64</a:t>
            </a:r>
            <a:r>
              <a:rPr lang="zh-CN" altLang="en-US" sz="2400" dirty="0">
                <a:solidFill>
                  <a:srgbClr val="000000"/>
                </a:solidFill>
                <a:latin typeface="仿宋" panose="02010609060101010101" pitchFamily="49" charset="-122"/>
                <a:ea typeface="仿宋" panose="02010609060101010101" pitchFamily="49" charset="-122"/>
              </a:rPr>
              <a:t>编码成一行，解密时设置输入为一行</a:t>
            </a:r>
            <a:r>
              <a:rPr lang="en-US" altLang="zh-CN" sz="2400" dirty="0">
                <a:solidFill>
                  <a:srgbClr val="000000"/>
                </a:solidFill>
                <a:latin typeface="仿宋" panose="02010609060101010101" pitchFamily="49" charset="-122"/>
                <a:ea typeface="仿宋" panose="02010609060101010101" pitchFamily="49" charset="-122"/>
              </a:rPr>
              <a:t>base64</a:t>
            </a:r>
            <a:endParaRPr lang="zh-CN" altLang="en-US" sz="2400" dirty="0">
              <a:solidFill>
                <a:srgbClr val="000000"/>
              </a:solidFill>
              <a:latin typeface="仿宋" panose="02010609060101010101" pitchFamily="49" charset="-122"/>
              <a:ea typeface="仿宋" panose="02010609060101010101" pitchFamily="49" charset="-122"/>
            </a:endParaRPr>
          </a:p>
          <a:p>
            <a:pPr algn="l">
              <a:lnSpc>
                <a:spcPct val="150000"/>
              </a:lnSpc>
            </a:pPr>
            <a:r>
              <a:rPr lang="en-US" altLang="zh-CN" sz="2400" b="1" i="0" dirty="0">
                <a:solidFill>
                  <a:srgbClr val="000000"/>
                </a:solidFill>
                <a:effectLst/>
                <a:latin typeface="Verdana" panose="020B0604030504040204" pitchFamily="34" charset="0"/>
              </a:rPr>
              <a:t>-k</a:t>
            </a:r>
            <a:r>
              <a:rPr lang="en-US" altLang="zh-CN" sz="2400" b="1" dirty="0">
                <a:solidFill>
                  <a:srgbClr val="000000"/>
                </a:solidFill>
                <a:latin typeface="Verdana" panose="020B0604030504040204" pitchFamily="34" charset="0"/>
              </a:rPr>
              <a:t>/-</a:t>
            </a:r>
            <a:r>
              <a:rPr lang="en-US" altLang="zh-CN" sz="2400" b="1" dirty="0" err="1">
                <a:solidFill>
                  <a:srgbClr val="000000"/>
                </a:solidFill>
                <a:latin typeface="Verdana" panose="020B0604030504040204" pitchFamily="34" charset="0"/>
              </a:rPr>
              <a:t>kfile</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手动输入口令</a:t>
            </a:r>
            <a:r>
              <a:rPr lang="en-US" altLang="zh-CN" sz="2400" dirty="0">
                <a:solidFill>
                  <a:srgbClr val="000000"/>
                </a:solidFill>
                <a:latin typeface="仿宋" panose="02010609060101010101" pitchFamily="49" charset="-122"/>
                <a:ea typeface="仿宋" panose="02010609060101010101" pitchFamily="49" charset="-122"/>
              </a:rPr>
              <a:t>/</a:t>
            </a:r>
            <a:r>
              <a:rPr lang="zh-CN" altLang="en-US" sz="2400" dirty="0">
                <a:solidFill>
                  <a:srgbClr val="000000"/>
                </a:solidFill>
                <a:latin typeface="仿宋" panose="02010609060101010101" pitchFamily="49" charset="-122"/>
                <a:ea typeface="仿宋" panose="02010609060101010101" pitchFamily="49" charset="-122"/>
              </a:rPr>
              <a:t>口令文件（不使用）</a:t>
            </a:r>
            <a:endParaRPr lang="zh-CN" altLang="en-US" sz="2400" dirty="0">
              <a:solidFill>
                <a:srgbClr val="000000"/>
              </a:solidFill>
              <a:latin typeface="仿宋" panose="02010609060101010101" pitchFamily="49" charset="-122"/>
              <a:ea typeface="仿宋" panose="02010609060101010101" pitchFamily="49" charset="-122"/>
            </a:endParaRPr>
          </a:p>
          <a:p>
            <a:pPr algn="l"/>
            <a:r>
              <a:rPr lang="zh-CN" altLang="en-US" sz="2000" b="0" i="0" dirty="0">
                <a:solidFill>
                  <a:srgbClr val="000000"/>
                </a:solidFill>
                <a:effectLst/>
                <a:latin typeface="Verdana" panose="020B0604030504040204" pitchFamily="34" charset="0"/>
              </a:rPr>
              <a:t>　</a:t>
            </a:r>
            <a:r>
              <a:rPr lang="zh-CN" altLang="en-US" sz="2000" b="1" i="0" dirty="0">
                <a:solidFill>
                  <a:srgbClr val="000000"/>
                </a:solidFill>
                <a:effectLst/>
                <a:latin typeface="Verdana" panose="020B0604030504040204" pitchFamily="34" charset="0"/>
              </a:rPr>
              <a:t>　</a:t>
            </a:r>
            <a:endParaRPr lang="zh-CN" altLang="en-US" sz="2000" b="0" i="0" dirty="0">
              <a:solidFill>
                <a:srgbClr val="000000"/>
              </a:solidFill>
              <a:effectLst/>
              <a:latin typeface="Verdana" panose="020B0604030504040204" pitchFamily="34" charset="0"/>
            </a:endParaRPr>
          </a:p>
        </p:txBody>
      </p:sp>
      <p:sp>
        <p:nvSpPr>
          <p:cNvPr id="2" name="文本框 1"/>
          <p:cNvSpPr txBox="1"/>
          <p:nvPr/>
        </p:nvSpPr>
        <p:spPr>
          <a:xfrm>
            <a:off x="339199" y="1218095"/>
            <a:ext cx="10654866" cy="1815882"/>
          </a:xfrm>
          <a:prstGeom prst="rect">
            <a:avLst/>
          </a:prstGeom>
          <a:noFill/>
        </p:spPr>
        <p:txBody>
          <a:bodyPr wrap="square">
            <a:spAutoFit/>
          </a:bodyPr>
          <a:lstStyle/>
          <a:p>
            <a:pPr lvl="0" algn="just"/>
            <a:r>
              <a:rPr lang="zh-CN" altLang="en-US" sz="2800" b="1" i="0" dirty="0">
                <a:solidFill>
                  <a:srgbClr val="000000"/>
                </a:solidFill>
                <a:effectLst/>
                <a:latin typeface="Verdana" panose="020B0604030504040204" pitchFamily="34" charset="0"/>
              </a:rPr>
              <a:t>对称加密指令语法</a:t>
            </a:r>
            <a:endParaRPr lang="en-US" altLang="zh-CN" sz="2800" b="1" i="0" dirty="0">
              <a:solidFill>
                <a:srgbClr val="000000"/>
              </a:solidFill>
              <a:effectLst/>
              <a:latin typeface="Verdana" panose="020B0604030504040204" pitchFamily="34" charset="0"/>
            </a:endParaRPr>
          </a:p>
          <a:p>
            <a:pPr lvl="0" algn="just"/>
            <a:endParaRPr lang="en-US" altLang="zh-CN" sz="1200" b="1" kern="100" dirty="0">
              <a:latin typeface="Verdana" panose="020B0604030504040204" pitchFamily="34" charset="0"/>
              <a:ea typeface="等线" panose="02010600030101010101" charset="-122"/>
              <a:cs typeface="Times New Roman" panose="02020603050405020304" pitchFamily="18" charset="0"/>
            </a:endParaRPr>
          </a:p>
          <a:p>
            <a:pPr lvl="0" algn="just"/>
            <a:r>
              <a:rPr lang="en-US" altLang="zh-CN" dirty="0">
                <a:latin typeface="Courier New" panose="02070309020205020404" pitchFamily="49" charset="0"/>
              </a:rPr>
              <a:t>openssl enc -</a:t>
            </a:r>
            <a:r>
              <a:rPr lang="en-US" altLang="zh-CN" dirty="0" err="1">
                <a:latin typeface="Courier New" panose="02070309020205020404" pitchFamily="49" charset="0"/>
              </a:rPr>
              <a:t>ciphername</a:t>
            </a:r>
            <a:r>
              <a:rPr lang="en-US" altLang="zh-CN" dirty="0">
                <a:latin typeface="Courier New" panose="02070309020205020404" pitchFamily="49" charset="0"/>
              </a:rPr>
              <a:t> [-in filename] [-out filename] [-pass </a:t>
            </a:r>
            <a:r>
              <a:rPr lang="en-US" altLang="zh-CN" dirty="0" err="1">
                <a:latin typeface="Courier New" panose="02070309020205020404" pitchFamily="49" charset="0"/>
              </a:rPr>
              <a:t>arg</a:t>
            </a:r>
            <a:r>
              <a:rPr lang="en-US" altLang="zh-CN" dirty="0">
                <a:latin typeface="Courier New" panose="02070309020205020404" pitchFamily="49" charset="0"/>
              </a:rPr>
              <a:t>]</a:t>
            </a:r>
            <a:r>
              <a:rPr lang="en-US" altLang="zh-CN" dirty="0">
                <a:solidFill>
                  <a:srgbClr val="C00000"/>
                </a:solidFill>
                <a:latin typeface="Courier New" panose="02070309020205020404" pitchFamily="49" charset="0"/>
              </a:rPr>
              <a:t> [-e] [-d] [-a/-base64] [-A] [-k password] [-</a:t>
            </a:r>
            <a:r>
              <a:rPr lang="en-US" altLang="zh-CN" dirty="0" err="1">
                <a:solidFill>
                  <a:srgbClr val="C00000"/>
                </a:solidFill>
                <a:latin typeface="Courier New" panose="02070309020205020404" pitchFamily="49" charset="0"/>
              </a:rPr>
              <a:t>kfile</a:t>
            </a:r>
            <a:r>
              <a:rPr lang="en-US" altLang="zh-CN" dirty="0">
                <a:solidFill>
                  <a:srgbClr val="C00000"/>
                </a:solidFill>
                <a:latin typeface="Courier New" panose="02070309020205020404" pitchFamily="49" charset="0"/>
              </a:rPr>
              <a:t> filename] </a:t>
            </a:r>
            <a:r>
              <a:rPr lang="en-US" altLang="zh-CN" dirty="0">
                <a:solidFill>
                  <a:srgbClr val="000000"/>
                </a:solidFill>
                <a:latin typeface="Courier New" panose="02070309020205020404" pitchFamily="49" charset="0"/>
              </a:rPr>
              <a:t>[-K key] [-iv IV] [-S salt] [-salt] [-</a:t>
            </a:r>
            <a:r>
              <a:rPr lang="en-US" altLang="zh-CN" dirty="0" err="1">
                <a:solidFill>
                  <a:srgbClr val="000000"/>
                </a:solidFill>
                <a:latin typeface="Courier New" panose="02070309020205020404" pitchFamily="49" charset="0"/>
              </a:rPr>
              <a:t>nosalt</a:t>
            </a:r>
            <a:r>
              <a:rPr lang="en-US" altLang="zh-CN" dirty="0">
                <a:solidFill>
                  <a:srgbClr val="000000"/>
                </a:solidFill>
                <a:latin typeface="Courier New" panose="02070309020205020404" pitchFamily="49" charset="0"/>
              </a:rPr>
              <a:t>] [-z] [-md] [-p] [-P] [-</a:t>
            </a:r>
            <a:r>
              <a:rPr lang="en-US" altLang="zh-CN" dirty="0" err="1">
                <a:solidFill>
                  <a:srgbClr val="000000"/>
                </a:solidFill>
                <a:latin typeface="Courier New" panose="02070309020205020404" pitchFamily="49" charset="0"/>
              </a:rPr>
              <a:t>bufsize</a:t>
            </a:r>
            <a:r>
              <a:rPr lang="en-US" altLang="zh-CN" dirty="0">
                <a:solidFill>
                  <a:srgbClr val="000000"/>
                </a:solidFill>
                <a:latin typeface="Courier New" panose="02070309020205020404" pitchFamily="49" charset="0"/>
              </a:rPr>
              <a:t> number] [-</a:t>
            </a:r>
            <a:r>
              <a:rPr lang="en-US" altLang="zh-CN" dirty="0" err="1">
                <a:solidFill>
                  <a:srgbClr val="000000"/>
                </a:solidFill>
                <a:latin typeface="Courier New" panose="02070309020205020404" pitchFamily="49" charset="0"/>
              </a:rPr>
              <a:t>nopad</a:t>
            </a:r>
            <a:r>
              <a:rPr lang="en-US" altLang="zh-CN" dirty="0">
                <a:solidFill>
                  <a:srgbClr val="000000"/>
                </a:solidFill>
                <a:latin typeface="Courier New" panose="02070309020205020404" pitchFamily="49" charset="0"/>
              </a:rPr>
              <a:t>] [-debug] [-none] [-engine id]</a:t>
            </a:r>
            <a:endParaRPr lang="zh-CN" altLang="zh-CN" dirty="0">
              <a:solidFill>
                <a:srgbClr val="000000"/>
              </a:solidFill>
              <a:latin typeface="Courier New" panose="020703090202050204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的使用</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438957" y="3177538"/>
            <a:ext cx="11314085" cy="2793072"/>
          </a:xfrm>
          <a:prstGeom prst="rect">
            <a:avLst/>
          </a:prstGeom>
          <a:noFill/>
        </p:spPr>
        <p:txBody>
          <a:bodyPr wrap="square">
            <a:spAutoFit/>
          </a:bodyPr>
          <a:lstStyle/>
          <a:p>
            <a:pPr>
              <a:lnSpc>
                <a:spcPct val="150000"/>
              </a:lnSpc>
            </a:pPr>
            <a:r>
              <a:rPr lang="en-US" altLang="zh-CN" sz="2400" b="1" i="0" dirty="0">
                <a:solidFill>
                  <a:srgbClr val="000000"/>
                </a:solidFill>
                <a:effectLst/>
                <a:latin typeface="Verdana" panose="020B0604030504040204" pitchFamily="34" charset="0"/>
              </a:rPr>
              <a:t>-K</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加密秘钥，</a:t>
            </a:r>
            <a:r>
              <a:rPr lang="en-US" altLang="zh-CN" sz="2400" dirty="0">
                <a:solidFill>
                  <a:srgbClr val="000000"/>
                </a:solidFill>
                <a:latin typeface="仿宋" panose="02010609060101010101" pitchFamily="49" charset="-122"/>
                <a:ea typeface="仿宋" panose="02010609060101010101" pitchFamily="49" charset="-122"/>
              </a:rPr>
              <a:t>16</a:t>
            </a:r>
            <a:r>
              <a:rPr lang="zh-CN" altLang="en-US" sz="2400" dirty="0">
                <a:solidFill>
                  <a:srgbClr val="000000"/>
                </a:solidFill>
                <a:latin typeface="仿宋" panose="02010609060101010101" pitchFamily="49" charset="-122"/>
                <a:ea typeface="仿宋" panose="02010609060101010101" pitchFamily="49" charset="-122"/>
              </a:rPr>
              <a:t>进制</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i="0" dirty="0">
                <a:solidFill>
                  <a:srgbClr val="000000"/>
                </a:solidFill>
                <a:effectLst/>
                <a:latin typeface="Verdana" panose="020B0604030504040204" pitchFamily="34" charset="0"/>
              </a:rPr>
              <a:t>-iv</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初始向量，</a:t>
            </a:r>
            <a:r>
              <a:rPr lang="en-US" altLang="zh-CN" sz="2400" dirty="0">
                <a:solidFill>
                  <a:srgbClr val="000000"/>
                </a:solidFill>
                <a:latin typeface="仿宋" panose="02010609060101010101" pitchFamily="49" charset="-122"/>
                <a:ea typeface="仿宋" panose="02010609060101010101" pitchFamily="49" charset="-122"/>
              </a:rPr>
              <a:t>16</a:t>
            </a:r>
            <a:r>
              <a:rPr lang="zh-CN" altLang="en-US" sz="2400" dirty="0">
                <a:solidFill>
                  <a:srgbClr val="000000"/>
                </a:solidFill>
                <a:latin typeface="仿宋" panose="02010609060101010101" pitchFamily="49" charset="-122"/>
                <a:ea typeface="仿宋" panose="02010609060101010101" pitchFamily="49" charset="-122"/>
              </a:rPr>
              <a:t>进制</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i="0" dirty="0">
                <a:solidFill>
                  <a:srgbClr val="000000"/>
                </a:solidFill>
                <a:effectLst/>
                <a:latin typeface="Verdana" panose="020B0604030504040204" pitchFamily="34" charset="0"/>
              </a:rPr>
              <a:t>-S</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指定</a:t>
            </a:r>
            <a:r>
              <a:rPr lang="en-US" altLang="zh-CN" sz="2400" dirty="0">
                <a:solidFill>
                  <a:srgbClr val="000000"/>
                </a:solidFill>
                <a:latin typeface="仿宋" panose="02010609060101010101" pitchFamily="49" charset="-122"/>
                <a:ea typeface="仿宋" panose="02010609060101010101" pitchFamily="49" charset="-122"/>
              </a:rPr>
              <a:t>16</a:t>
            </a:r>
            <a:r>
              <a:rPr lang="zh-CN" altLang="en-US" sz="2400" dirty="0">
                <a:solidFill>
                  <a:srgbClr val="000000"/>
                </a:solidFill>
                <a:latin typeface="仿宋" panose="02010609060101010101" pitchFamily="49" charset="-122"/>
                <a:ea typeface="仿宋" panose="02010609060101010101" pitchFamily="49" charset="-122"/>
              </a:rPr>
              <a:t>进制盐值</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i="0" dirty="0">
                <a:solidFill>
                  <a:srgbClr val="000000"/>
                </a:solidFill>
                <a:effectLst/>
                <a:latin typeface="Verdana" panose="020B0604030504040204" pitchFamily="34" charset="0"/>
              </a:rPr>
              <a:t>-salt/</a:t>
            </a:r>
            <a:r>
              <a:rPr lang="en-US" altLang="zh-CN" sz="2400" b="1" i="0" dirty="0" err="1">
                <a:solidFill>
                  <a:srgbClr val="000000"/>
                </a:solidFill>
                <a:effectLst/>
                <a:latin typeface="Verdana" panose="020B0604030504040204" pitchFamily="34" charset="0"/>
              </a:rPr>
              <a:t>nosalt</a:t>
            </a:r>
            <a:r>
              <a:rPr lang="zh-CN" altLang="en-US" sz="2400" b="1" i="0" dirty="0">
                <a:solidFill>
                  <a:srgbClr val="000000"/>
                </a:solidFill>
                <a:effectLst/>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带有随机盐值</a:t>
            </a:r>
            <a:r>
              <a:rPr lang="en-US" altLang="zh-CN" sz="2400" dirty="0">
                <a:solidFill>
                  <a:srgbClr val="000000"/>
                </a:solidFill>
                <a:latin typeface="仿宋" panose="02010609060101010101" pitchFamily="49" charset="-122"/>
                <a:ea typeface="仿宋" panose="02010609060101010101" pitchFamily="49" charset="-122"/>
              </a:rPr>
              <a:t>/</a:t>
            </a:r>
            <a:r>
              <a:rPr lang="zh-CN" altLang="en-US" sz="2400" dirty="0">
                <a:solidFill>
                  <a:srgbClr val="000000"/>
                </a:solidFill>
                <a:latin typeface="仿宋" panose="02010609060101010101" pitchFamily="49" charset="-122"/>
                <a:ea typeface="仿宋" panose="02010609060101010101" pitchFamily="49" charset="-122"/>
              </a:rPr>
              <a:t>不带盐值</a:t>
            </a:r>
            <a:endParaRPr lang="en-US" altLang="zh-CN"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dirty="0">
                <a:solidFill>
                  <a:srgbClr val="000000"/>
                </a:solidFill>
                <a:latin typeface="Verdana" panose="020B0604030504040204" pitchFamily="34" charset="0"/>
              </a:rPr>
              <a:t>-z</a:t>
            </a:r>
            <a:r>
              <a:rPr lang="zh-CN" altLang="en-US" sz="2400" b="1" dirty="0">
                <a:solidFill>
                  <a:srgbClr val="000000"/>
                </a:solidFill>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是否压缩，需要编译时选择了</a:t>
            </a:r>
            <a:r>
              <a:rPr lang="en-US" altLang="zh-CN" sz="2400" dirty="0" err="1">
                <a:solidFill>
                  <a:srgbClr val="000000"/>
                </a:solidFill>
                <a:latin typeface="仿宋" panose="02010609060101010101" pitchFamily="49" charset="-122"/>
                <a:ea typeface="仿宋" panose="02010609060101010101" pitchFamily="49" charset="-122"/>
              </a:rPr>
              <a:t>zlib</a:t>
            </a:r>
            <a:r>
              <a:rPr lang="zh-CN" altLang="en-US" sz="2400" dirty="0">
                <a:solidFill>
                  <a:srgbClr val="000000"/>
                </a:solidFill>
                <a:latin typeface="仿宋" panose="02010609060101010101" pitchFamily="49" charset="-122"/>
                <a:ea typeface="仿宋" panose="02010609060101010101" pitchFamily="49" charset="-122"/>
              </a:rPr>
              <a:t>库</a:t>
            </a:r>
            <a:endParaRPr lang="zh-CN" altLang="en-US" sz="2400" dirty="0">
              <a:solidFill>
                <a:srgbClr val="000000"/>
              </a:solidFill>
              <a:latin typeface="仿宋" panose="02010609060101010101" pitchFamily="49" charset="-122"/>
              <a:ea typeface="仿宋" panose="02010609060101010101" pitchFamily="49" charset="-122"/>
            </a:endParaRPr>
          </a:p>
        </p:txBody>
      </p:sp>
      <p:sp>
        <p:nvSpPr>
          <p:cNvPr id="2" name="文本框 1"/>
          <p:cNvSpPr txBox="1"/>
          <p:nvPr/>
        </p:nvSpPr>
        <p:spPr>
          <a:xfrm>
            <a:off x="339199" y="1218095"/>
            <a:ext cx="10654866" cy="1815882"/>
          </a:xfrm>
          <a:prstGeom prst="rect">
            <a:avLst/>
          </a:prstGeom>
          <a:noFill/>
        </p:spPr>
        <p:txBody>
          <a:bodyPr wrap="square">
            <a:spAutoFit/>
          </a:bodyPr>
          <a:lstStyle/>
          <a:p>
            <a:pPr lvl="0" algn="just"/>
            <a:r>
              <a:rPr lang="zh-CN" altLang="en-US" sz="2800" b="1" i="0" dirty="0">
                <a:solidFill>
                  <a:srgbClr val="000000"/>
                </a:solidFill>
                <a:effectLst/>
                <a:latin typeface="Verdana" panose="020B0604030504040204" pitchFamily="34" charset="0"/>
              </a:rPr>
              <a:t>对称加密指令语法</a:t>
            </a:r>
            <a:endParaRPr lang="en-US" altLang="zh-CN" sz="2800" b="1" i="0" dirty="0">
              <a:solidFill>
                <a:srgbClr val="000000"/>
              </a:solidFill>
              <a:effectLst/>
              <a:latin typeface="Verdana" panose="020B0604030504040204" pitchFamily="34" charset="0"/>
            </a:endParaRPr>
          </a:p>
          <a:p>
            <a:pPr lvl="0" algn="just"/>
            <a:endParaRPr lang="en-US" altLang="zh-CN" sz="1200" b="1" kern="100" dirty="0">
              <a:solidFill>
                <a:srgbClr val="000000"/>
              </a:solidFill>
              <a:latin typeface="Verdana" panose="020B0604030504040204" pitchFamily="34" charset="0"/>
              <a:ea typeface="等线" panose="02010600030101010101" charset="-122"/>
              <a:cs typeface="Times New Roman" panose="02020603050405020304" pitchFamily="18" charset="0"/>
            </a:endParaRPr>
          </a:p>
          <a:p>
            <a:pPr lvl="0" algn="just"/>
            <a:r>
              <a:rPr lang="en-US" altLang="zh-CN" dirty="0">
                <a:solidFill>
                  <a:srgbClr val="000000"/>
                </a:solidFill>
                <a:latin typeface="Courier New" panose="02070309020205020404" pitchFamily="49" charset="0"/>
              </a:rPr>
              <a:t>openssl enc -</a:t>
            </a:r>
            <a:r>
              <a:rPr lang="en-US" altLang="zh-CN" dirty="0" err="1">
                <a:solidFill>
                  <a:srgbClr val="000000"/>
                </a:solidFill>
                <a:latin typeface="Courier New" panose="02070309020205020404" pitchFamily="49" charset="0"/>
              </a:rPr>
              <a:t>ciphername</a:t>
            </a:r>
            <a:r>
              <a:rPr lang="en-US" altLang="zh-CN" dirty="0">
                <a:solidFill>
                  <a:srgbClr val="000000"/>
                </a:solidFill>
                <a:latin typeface="Courier New" panose="02070309020205020404" pitchFamily="49" charset="0"/>
              </a:rPr>
              <a:t> [-in filename] [-out filename] [-pass </a:t>
            </a:r>
            <a:r>
              <a:rPr lang="en-US" altLang="zh-CN" dirty="0" err="1">
                <a:solidFill>
                  <a:srgbClr val="000000"/>
                </a:solidFill>
                <a:latin typeface="Courier New" panose="02070309020205020404" pitchFamily="49" charset="0"/>
              </a:rPr>
              <a:t>arg</a:t>
            </a:r>
            <a:r>
              <a:rPr lang="en-US" altLang="zh-CN" dirty="0">
                <a:solidFill>
                  <a:srgbClr val="000000"/>
                </a:solidFill>
                <a:latin typeface="Courier New" panose="02070309020205020404" pitchFamily="49" charset="0"/>
              </a:rPr>
              <a:t>] [-e] [-d] [-a/-base64] [-A] [-k password] [-</a:t>
            </a:r>
            <a:r>
              <a:rPr lang="en-US" altLang="zh-CN" dirty="0" err="1">
                <a:solidFill>
                  <a:srgbClr val="000000"/>
                </a:solidFill>
                <a:latin typeface="Courier New" panose="02070309020205020404" pitchFamily="49" charset="0"/>
              </a:rPr>
              <a:t>kfile</a:t>
            </a:r>
            <a:r>
              <a:rPr lang="en-US" altLang="zh-CN" dirty="0">
                <a:solidFill>
                  <a:srgbClr val="000000"/>
                </a:solidFill>
                <a:latin typeface="Courier New" panose="02070309020205020404" pitchFamily="49" charset="0"/>
              </a:rPr>
              <a:t> filename] </a:t>
            </a:r>
            <a:r>
              <a:rPr lang="en-US" altLang="zh-CN" dirty="0">
                <a:solidFill>
                  <a:srgbClr val="AF6243"/>
                </a:solidFill>
                <a:latin typeface="Courier New" panose="02070309020205020404" pitchFamily="49" charset="0"/>
              </a:rPr>
              <a:t>[-K key] [-iv IV] [-S salt] [-salt] [-</a:t>
            </a:r>
            <a:r>
              <a:rPr lang="en-US" altLang="zh-CN" dirty="0" err="1">
                <a:solidFill>
                  <a:srgbClr val="AF6243"/>
                </a:solidFill>
                <a:latin typeface="Courier New" panose="02070309020205020404" pitchFamily="49" charset="0"/>
              </a:rPr>
              <a:t>nosalt</a:t>
            </a:r>
            <a:r>
              <a:rPr lang="en-US" altLang="zh-CN" dirty="0">
                <a:solidFill>
                  <a:srgbClr val="AF6243"/>
                </a:solidFill>
                <a:latin typeface="Courier New" panose="02070309020205020404" pitchFamily="49" charset="0"/>
              </a:rPr>
              <a:t>] [-z]</a:t>
            </a:r>
            <a:r>
              <a:rPr lang="en-US" altLang="zh-CN" dirty="0">
                <a:solidFill>
                  <a:srgbClr val="000000"/>
                </a:solidFill>
                <a:latin typeface="Courier New" panose="02070309020205020404" pitchFamily="49" charset="0"/>
              </a:rPr>
              <a:t> [-md] [-p] [-P] [-</a:t>
            </a:r>
            <a:r>
              <a:rPr lang="en-US" altLang="zh-CN" dirty="0" err="1">
                <a:solidFill>
                  <a:srgbClr val="000000"/>
                </a:solidFill>
                <a:latin typeface="Courier New" panose="02070309020205020404" pitchFamily="49" charset="0"/>
              </a:rPr>
              <a:t>bufsize</a:t>
            </a:r>
            <a:r>
              <a:rPr lang="en-US" altLang="zh-CN" dirty="0">
                <a:solidFill>
                  <a:srgbClr val="000000"/>
                </a:solidFill>
                <a:latin typeface="Courier New" panose="02070309020205020404" pitchFamily="49" charset="0"/>
              </a:rPr>
              <a:t> number] [-</a:t>
            </a:r>
            <a:r>
              <a:rPr lang="en-US" altLang="zh-CN" dirty="0" err="1">
                <a:solidFill>
                  <a:srgbClr val="000000"/>
                </a:solidFill>
                <a:latin typeface="Courier New" panose="02070309020205020404" pitchFamily="49" charset="0"/>
              </a:rPr>
              <a:t>nopad</a:t>
            </a:r>
            <a:r>
              <a:rPr lang="en-US" altLang="zh-CN" dirty="0">
                <a:solidFill>
                  <a:srgbClr val="000000"/>
                </a:solidFill>
                <a:latin typeface="Courier New" panose="02070309020205020404" pitchFamily="49" charset="0"/>
              </a:rPr>
              <a:t>] [-debug] [-none] [-engine id]</a:t>
            </a:r>
            <a:endParaRPr lang="zh-CN" altLang="zh-CN" dirty="0">
              <a:solidFill>
                <a:srgbClr val="000000"/>
              </a:solidFill>
              <a:latin typeface="Courier New" panose="020703090202050204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的使用</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6" name="文本框 15"/>
          <p:cNvSpPr txBox="1"/>
          <p:nvPr/>
        </p:nvSpPr>
        <p:spPr>
          <a:xfrm>
            <a:off x="339199" y="3124375"/>
            <a:ext cx="11314085" cy="3883755"/>
          </a:xfrm>
          <a:prstGeom prst="rect">
            <a:avLst/>
          </a:prstGeom>
          <a:noFill/>
        </p:spPr>
        <p:txBody>
          <a:bodyPr wrap="square">
            <a:spAutoFit/>
          </a:bodyPr>
          <a:lstStyle/>
          <a:p>
            <a:pPr>
              <a:lnSpc>
                <a:spcPct val="150000"/>
              </a:lnSpc>
            </a:pPr>
            <a:r>
              <a:rPr lang="en-US" altLang="zh-CN" sz="2400" b="1" dirty="0">
                <a:solidFill>
                  <a:srgbClr val="000000"/>
                </a:solidFill>
                <a:latin typeface="Verdana" panose="020B0604030504040204" pitchFamily="34" charset="0"/>
              </a:rPr>
              <a:t>-md</a:t>
            </a:r>
            <a:r>
              <a:rPr lang="zh-CN" altLang="en-US" sz="2400" b="1" dirty="0">
                <a:solidFill>
                  <a:srgbClr val="000000"/>
                </a:solidFill>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摘要算法，当没有提供密钥时候，用于从口令中生成一个密钥，默认</a:t>
            </a:r>
            <a:r>
              <a:rPr lang="en-US" altLang="zh-CN" sz="2400" dirty="0">
                <a:solidFill>
                  <a:srgbClr val="000000"/>
                </a:solidFill>
                <a:latin typeface="仿宋" panose="02010609060101010101" pitchFamily="49" charset="-122"/>
                <a:ea typeface="仿宋" panose="02010609060101010101" pitchFamily="49" charset="-122"/>
              </a:rPr>
              <a:t>md5</a:t>
            </a:r>
            <a:endParaRPr lang="en-US" altLang="zh-CN"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dirty="0">
                <a:solidFill>
                  <a:srgbClr val="000000"/>
                </a:solidFill>
                <a:latin typeface="Verdana" panose="020B0604030504040204" pitchFamily="34" charset="0"/>
              </a:rPr>
              <a:t>-p /-P</a:t>
            </a:r>
            <a:r>
              <a:rPr lang="zh-CN" altLang="en-US" sz="2400" b="1" dirty="0">
                <a:solidFill>
                  <a:srgbClr val="000000"/>
                </a:solidFill>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打印出使用的</a:t>
            </a:r>
            <a:r>
              <a:rPr lang="en-US" altLang="zh-CN" sz="2400" dirty="0">
                <a:solidFill>
                  <a:srgbClr val="000000"/>
                </a:solidFill>
                <a:latin typeface="仿宋" panose="02010609060101010101" pitchFamily="49" charset="-122"/>
                <a:ea typeface="仿宋" panose="02010609060101010101" pitchFamily="49" charset="-122"/>
              </a:rPr>
              <a:t>salt</a:t>
            </a:r>
            <a:r>
              <a:rPr lang="zh-CN" altLang="en-US" sz="2400" dirty="0">
                <a:solidFill>
                  <a:srgbClr val="000000"/>
                </a:solidFill>
                <a:latin typeface="仿宋" panose="02010609060101010101" pitchFamily="49" charset="-122"/>
                <a:ea typeface="仿宋" panose="02010609060101010101" pitchFamily="49" charset="-122"/>
              </a:rPr>
              <a:t>、口令以及初始化向量</a:t>
            </a:r>
            <a:r>
              <a:rPr lang="en-US" altLang="zh-CN" sz="2400" dirty="0">
                <a:solidFill>
                  <a:srgbClr val="000000"/>
                </a:solidFill>
                <a:latin typeface="仿宋" panose="02010609060101010101" pitchFamily="49" charset="-122"/>
                <a:ea typeface="仿宋" panose="02010609060101010101" pitchFamily="49" charset="-122"/>
              </a:rPr>
              <a:t>IV</a:t>
            </a:r>
            <a:r>
              <a:rPr lang="zh-CN" altLang="en-US" sz="2400" dirty="0">
                <a:solidFill>
                  <a:srgbClr val="000000"/>
                </a:solidFill>
                <a:latin typeface="仿宋" panose="02010609060101010101" pitchFamily="49" charset="-122"/>
                <a:ea typeface="仿宋" panose="02010609060101010101" pitchFamily="49" charset="-122"/>
              </a:rPr>
              <a:t>，做</a:t>
            </a:r>
            <a:r>
              <a:rPr lang="en-US" altLang="zh-CN" sz="2400" dirty="0">
                <a:solidFill>
                  <a:srgbClr val="000000"/>
                </a:solidFill>
                <a:latin typeface="仿宋" panose="02010609060101010101" pitchFamily="49" charset="-122"/>
                <a:ea typeface="仿宋" panose="02010609060101010101" pitchFamily="49" charset="-122"/>
              </a:rPr>
              <a:t>/</a:t>
            </a:r>
            <a:r>
              <a:rPr lang="zh-CN" altLang="en-US" sz="2400" dirty="0">
                <a:solidFill>
                  <a:srgbClr val="000000"/>
                </a:solidFill>
                <a:latin typeface="仿宋" panose="02010609060101010101" pitchFamily="49" charset="-122"/>
                <a:ea typeface="仿宋" panose="02010609060101010101" pitchFamily="49" charset="-122"/>
              </a:rPr>
              <a:t>不做加解密</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dirty="0">
                <a:solidFill>
                  <a:srgbClr val="000000"/>
                </a:solidFill>
                <a:latin typeface="Verdana" panose="020B0604030504040204" pitchFamily="34" charset="0"/>
              </a:rPr>
              <a:t>-</a:t>
            </a:r>
            <a:r>
              <a:rPr lang="en-US" altLang="zh-CN" sz="2400" b="1" dirty="0" err="1">
                <a:solidFill>
                  <a:srgbClr val="000000"/>
                </a:solidFill>
                <a:latin typeface="Verdana" panose="020B0604030504040204" pitchFamily="34" charset="0"/>
              </a:rPr>
              <a:t>bufsize</a:t>
            </a:r>
            <a:r>
              <a:rPr lang="zh-CN" altLang="en-US" sz="2400" b="1" dirty="0">
                <a:solidFill>
                  <a:srgbClr val="000000"/>
                </a:solidFill>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缓冲区大小</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dirty="0">
                <a:solidFill>
                  <a:srgbClr val="000000"/>
                </a:solidFill>
                <a:latin typeface="Verdana" panose="020B0604030504040204" pitchFamily="34" charset="0"/>
              </a:rPr>
              <a:t>-</a:t>
            </a:r>
            <a:r>
              <a:rPr lang="en-US" altLang="zh-CN" sz="2400" b="1" dirty="0" err="1">
                <a:solidFill>
                  <a:srgbClr val="000000"/>
                </a:solidFill>
                <a:latin typeface="Verdana" panose="020B0604030504040204" pitchFamily="34" charset="0"/>
              </a:rPr>
              <a:t>nopad</a:t>
            </a:r>
            <a:r>
              <a:rPr lang="zh-CN" altLang="en-US" sz="2400" b="1" dirty="0">
                <a:solidFill>
                  <a:srgbClr val="000000"/>
                </a:solidFill>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无填充</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dirty="0">
                <a:solidFill>
                  <a:srgbClr val="000000"/>
                </a:solidFill>
                <a:latin typeface="Verdana" panose="020B0604030504040204" pitchFamily="34" charset="0"/>
              </a:rPr>
              <a:t>-debug </a:t>
            </a:r>
            <a:r>
              <a:rPr lang="zh-CN" altLang="en-US" sz="2400" b="1" dirty="0">
                <a:solidFill>
                  <a:srgbClr val="000000"/>
                </a:solidFill>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打印调试信息</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r>
              <a:rPr lang="en-US" altLang="zh-CN" sz="2400" b="1" dirty="0">
                <a:solidFill>
                  <a:srgbClr val="000000"/>
                </a:solidFill>
                <a:latin typeface="Verdana" panose="020B0604030504040204" pitchFamily="34" charset="0"/>
              </a:rPr>
              <a:t>-none </a:t>
            </a:r>
            <a:r>
              <a:rPr lang="zh-CN" altLang="en-US" sz="2400" b="1" dirty="0">
                <a:solidFill>
                  <a:srgbClr val="000000"/>
                </a:solidFill>
                <a:latin typeface="Verdana" panose="020B0604030504040204" pitchFamily="34" charset="0"/>
              </a:rPr>
              <a:t>：</a:t>
            </a:r>
            <a:r>
              <a:rPr lang="zh-CN" altLang="en-US" sz="2400" dirty="0">
                <a:solidFill>
                  <a:srgbClr val="000000"/>
                </a:solidFill>
                <a:latin typeface="仿宋" panose="02010609060101010101" pitchFamily="49" charset="-122"/>
                <a:ea typeface="仿宋" panose="02010609060101010101" pitchFamily="49" charset="-122"/>
              </a:rPr>
              <a:t>不执行加解密</a:t>
            </a:r>
            <a:endParaRPr lang="zh-CN" altLang="en-US" sz="2400" dirty="0">
              <a:solidFill>
                <a:srgbClr val="000000"/>
              </a:solidFill>
              <a:latin typeface="仿宋" panose="02010609060101010101" pitchFamily="49" charset="-122"/>
              <a:ea typeface="仿宋" panose="02010609060101010101" pitchFamily="49" charset="-122"/>
            </a:endParaRPr>
          </a:p>
          <a:p>
            <a:pPr>
              <a:lnSpc>
                <a:spcPct val="150000"/>
              </a:lnSpc>
            </a:pPr>
            <a:endParaRPr lang="zh-CN" altLang="en-US" sz="2400" dirty="0">
              <a:solidFill>
                <a:srgbClr val="000000"/>
              </a:solidFill>
              <a:latin typeface="仿宋" panose="02010609060101010101" pitchFamily="49" charset="-122"/>
              <a:ea typeface="仿宋" panose="02010609060101010101" pitchFamily="49" charset="-122"/>
            </a:endParaRPr>
          </a:p>
        </p:txBody>
      </p:sp>
      <p:sp>
        <p:nvSpPr>
          <p:cNvPr id="2" name="文本框 1"/>
          <p:cNvSpPr txBox="1"/>
          <p:nvPr/>
        </p:nvSpPr>
        <p:spPr>
          <a:xfrm>
            <a:off x="339199" y="1218095"/>
            <a:ext cx="10654866" cy="1815882"/>
          </a:xfrm>
          <a:prstGeom prst="rect">
            <a:avLst/>
          </a:prstGeom>
          <a:noFill/>
        </p:spPr>
        <p:txBody>
          <a:bodyPr wrap="square">
            <a:spAutoFit/>
          </a:bodyPr>
          <a:lstStyle/>
          <a:p>
            <a:pPr lvl="0" algn="just"/>
            <a:r>
              <a:rPr lang="zh-CN" altLang="en-US" sz="2800" b="1" i="0" dirty="0">
                <a:solidFill>
                  <a:srgbClr val="000000"/>
                </a:solidFill>
                <a:effectLst/>
                <a:latin typeface="Verdana" panose="020B0604030504040204" pitchFamily="34" charset="0"/>
              </a:rPr>
              <a:t>对称加密指令语法</a:t>
            </a:r>
            <a:endParaRPr lang="en-US" altLang="zh-CN" sz="2800" b="1" i="0" dirty="0">
              <a:solidFill>
                <a:srgbClr val="000000"/>
              </a:solidFill>
              <a:effectLst/>
              <a:latin typeface="Verdana" panose="020B0604030504040204" pitchFamily="34" charset="0"/>
            </a:endParaRPr>
          </a:p>
          <a:p>
            <a:pPr lvl="0" algn="just"/>
            <a:endParaRPr lang="en-US" altLang="zh-CN" sz="1200" b="1" kern="100" dirty="0">
              <a:solidFill>
                <a:srgbClr val="000000"/>
              </a:solidFill>
              <a:latin typeface="Verdana" panose="020B0604030504040204" pitchFamily="34" charset="0"/>
              <a:ea typeface="等线" panose="02010600030101010101" charset="-122"/>
              <a:cs typeface="Times New Roman" panose="02020603050405020304" pitchFamily="18" charset="0"/>
            </a:endParaRPr>
          </a:p>
          <a:p>
            <a:pPr lvl="0" algn="just"/>
            <a:r>
              <a:rPr lang="en-US" altLang="zh-CN" dirty="0">
                <a:solidFill>
                  <a:srgbClr val="000000"/>
                </a:solidFill>
                <a:latin typeface="Courier New" panose="02070309020205020404" pitchFamily="49" charset="0"/>
              </a:rPr>
              <a:t>openssl enc -</a:t>
            </a:r>
            <a:r>
              <a:rPr lang="en-US" altLang="zh-CN" dirty="0" err="1">
                <a:solidFill>
                  <a:srgbClr val="000000"/>
                </a:solidFill>
                <a:latin typeface="Courier New" panose="02070309020205020404" pitchFamily="49" charset="0"/>
              </a:rPr>
              <a:t>ciphername</a:t>
            </a:r>
            <a:r>
              <a:rPr lang="en-US" altLang="zh-CN" dirty="0">
                <a:solidFill>
                  <a:srgbClr val="000000"/>
                </a:solidFill>
                <a:latin typeface="Courier New" panose="02070309020205020404" pitchFamily="49" charset="0"/>
              </a:rPr>
              <a:t> [-in filename] [-out filename] [-pass </a:t>
            </a:r>
            <a:r>
              <a:rPr lang="en-US" altLang="zh-CN" dirty="0" err="1">
                <a:solidFill>
                  <a:srgbClr val="000000"/>
                </a:solidFill>
                <a:latin typeface="Courier New" panose="02070309020205020404" pitchFamily="49" charset="0"/>
              </a:rPr>
              <a:t>arg</a:t>
            </a:r>
            <a:r>
              <a:rPr lang="en-US" altLang="zh-CN" dirty="0">
                <a:solidFill>
                  <a:srgbClr val="000000"/>
                </a:solidFill>
                <a:latin typeface="Courier New" panose="02070309020205020404" pitchFamily="49" charset="0"/>
              </a:rPr>
              <a:t>] [-e] [-d] [-a/-base64] [-A] [-k password] [-</a:t>
            </a:r>
            <a:r>
              <a:rPr lang="en-US" altLang="zh-CN" dirty="0" err="1">
                <a:solidFill>
                  <a:srgbClr val="000000"/>
                </a:solidFill>
                <a:latin typeface="Courier New" panose="02070309020205020404" pitchFamily="49" charset="0"/>
              </a:rPr>
              <a:t>kfile</a:t>
            </a:r>
            <a:r>
              <a:rPr lang="en-US" altLang="zh-CN" dirty="0">
                <a:solidFill>
                  <a:srgbClr val="000000"/>
                </a:solidFill>
                <a:latin typeface="Courier New" panose="02070309020205020404" pitchFamily="49" charset="0"/>
              </a:rPr>
              <a:t> filename] </a:t>
            </a:r>
            <a:r>
              <a:rPr lang="en-US" altLang="zh-CN" dirty="0">
                <a:latin typeface="Courier New" panose="02070309020205020404" pitchFamily="49" charset="0"/>
              </a:rPr>
              <a:t>[-K key] [-iv IV] [-S salt] [-salt] [-</a:t>
            </a:r>
            <a:r>
              <a:rPr lang="en-US" altLang="zh-CN" dirty="0" err="1">
                <a:latin typeface="Courier New" panose="02070309020205020404" pitchFamily="49" charset="0"/>
              </a:rPr>
              <a:t>nosalt</a:t>
            </a:r>
            <a:r>
              <a:rPr lang="en-US" altLang="zh-CN" dirty="0">
                <a:latin typeface="Courier New" panose="02070309020205020404" pitchFamily="49" charset="0"/>
              </a:rPr>
              <a:t>] [-z] </a:t>
            </a:r>
            <a:r>
              <a:rPr lang="en-US" altLang="zh-CN" dirty="0">
                <a:solidFill>
                  <a:srgbClr val="AF6243"/>
                </a:solidFill>
                <a:latin typeface="Courier New" panose="02070309020205020404" pitchFamily="49" charset="0"/>
              </a:rPr>
              <a:t>[-md] [-p] [-P] [-</a:t>
            </a:r>
            <a:r>
              <a:rPr lang="en-US" altLang="zh-CN" dirty="0" err="1">
                <a:solidFill>
                  <a:srgbClr val="AF6243"/>
                </a:solidFill>
                <a:latin typeface="Courier New" panose="02070309020205020404" pitchFamily="49" charset="0"/>
              </a:rPr>
              <a:t>bufsize</a:t>
            </a:r>
            <a:r>
              <a:rPr lang="en-US" altLang="zh-CN" dirty="0">
                <a:solidFill>
                  <a:srgbClr val="AF6243"/>
                </a:solidFill>
                <a:latin typeface="Courier New" panose="02070309020205020404" pitchFamily="49" charset="0"/>
              </a:rPr>
              <a:t> number] [-</a:t>
            </a:r>
            <a:r>
              <a:rPr lang="en-US" altLang="zh-CN" dirty="0" err="1">
                <a:solidFill>
                  <a:srgbClr val="AF6243"/>
                </a:solidFill>
                <a:latin typeface="Courier New" panose="02070309020205020404" pitchFamily="49" charset="0"/>
              </a:rPr>
              <a:t>nopad</a:t>
            </a:r>
            <a:r>
              <a:rPr lang="en-US" altLang="zh-CN" dirty="0">
                <a:solidFill>
                  <a:srgbClr val="AF6243"/>
                </a:solidFill>
                <a:latin typeface="Courier New" panose="02070309020205020404" pitchFamily="49" charset="0"/>
              </a:rPr>
              <a:t>] [-debug] [-none] [-engine id]</a:t>
            </a:r>
            <a:endParaRPr lang="zh-CN" altLang="zh-CN" dirty="0">
              <a:solidFill>
                <a:srgbClr val="AF6243"/>
              </a:solidFill>
              <a:latin typeface="Courier New" panose="020703090202050204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的使用</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5" name="文本框 14"/>
          <p:cNvSpPr txBox="1"/>
          <p:nvPr/>
        </p:nvSpPr>
        <p:spPr>
          <a:xfrm>
            <a:off x="806263" y="1099255"/>
            <a:ext cx="11144731" cy="4246245"/>
          </a:xfrm>
          <a:prstGeom prst="rect">
            <a:avLst/>
          </a:prstGeom>
          <a:noFill/>
        </p:spPr>
        <p:txBody>
          <a:bodyPr wrap="square">
            <a:spAutoFit/>
          </a:bodyPr>
          <a:lstStyle/>
          <a:p>
            <a:pPr lvl="0" algn="just">
              <a:lnSpc>
                <a:spcPct val="150000"/>
              </a:lnSpc>
            </a:pP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查看</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OpenSSL</a:t>
            </a: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版本</a:t>
            </a:r>
            <a:endParaRPr lang="en-US"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marL="228600" lvl="0" indent="266700" algn="just"/>
            <a:r>
              <a:rPr lang="en-US" altLang="zh-CN" kern="100" dirty="0">
                <a:latin typeface="宋体" panose="02010600030101010101" pitchFamily="2" charset="-122"/>
                <a:ea typeface="等线" panose="02010600030101010101" charset="-122"/>
                <a:cs typeface="Times New Roman" panose="02020603050405020304" pitchFamily="18" charset="0"/>
              </a:rPr>
              <a:t>openssl version</a:t>
            </a:r>
            <a:endParaRPr lang="en-US" altLang="zh-CN" kern="100" dirty="0">
              <a:latin typeface="宋体" panose="02010600030101010101" pitchFamily="2" charset="-122"/>
              <a:ea typeface="等线" panose="02010600030101010101" charset="-122"/>
              <a:cs typeface="Times New Roman" panose="02020603050405020304" pitchFamily="18" charset="0"/>
            </a:endParaRPr>
          </a:p>
          <a:p>
            <a:pPr algn="just">
              <a:lnSpc>
                <a:spcPct val="150000"/>
              </a:lnSpc>
            </a:pP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查看证书</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marL="228600" indent="266700" algn="just"/>
            <a:r>
              <a:rPr lang="en-US" altLang="zh-CN" sz="1800" kern="100" dirty="0">
                <a:effectLst/>
                <a:latin typeface="宋体" panose="02010600030101010101" pitchFamily="2" charset="-122"/>
                <a:ea typeface="等线" panose="02010600030101010101" charset="-122"/>
                <a:cs typeface="Times New Roman" panose="02020603050405020304" pitchFamily="18" charset="0"/>
              </a:rPr>
              <a:t>openssl x509 -in cert.crt -text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noout</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a:t>
            </a:r>
            <a:endParaRPr lang="zh-CN" altLang="zh-CN" sz="1200" kern="100" dirty="0">
              <a:effectLst/>
              <a:latin typeface="等线" panose="02010600030101010101" charset="-122"/>
              <a:ea typeface="等线" panose="02010600030101010101" charset="-122"/>
              <a:cs typeface="Times New Roman" panose="02020603050405020304" pitchFamily="18" charset="0"/>
            </a:endParaRPr>
          </a:p>
          <a:p>
            <a:pPr lvl="0" algn="just">
              <a:lnSpc>
                <a:spcPct val="150000"/>
              </a:lnSpc>
            </a:pP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查看私钥</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marL="228600" indent="266700" algn="just"/>
            <a:r>
              <a:rPr lang="en-US" altLang="zh-CN" sz="1800" kern="100" dirty="0">
                <a:effectLst/>
                <a:latin typeface="宋体" panose="02010600030101010101" pitchFamily="2" charset="-122"/>
                <a:ea typeface="等线" panose="02010600030101010101" charset="-122"/>
                <a:cs typeface="Times New Roman" panose="02020603050405020304" pitchFamily="18" charset="0"/>
              </a:rPr>
              <a:t>openssl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rsa</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-in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server.key</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-text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noout</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a:t>
            </a:r>
            <a:endParaRPr lang="zh-CN" altLang="zh-CN" sz="1200" kern="100" dirty="0">
              <a:effectLst/>
              <a:latin typeface="等线" panose="02010600030101010101" charset="-122"/>
              <a:ea typeface="等线" panose="02010600030101010101" charset="-122"/>
              <a:cs typeface="Times New Roman" panose="02020603050405020304" pitchFamily="18" charset="0"/>
            </a:endParaRPr>
          </a:p>
          <a:p>
            <a:pPr algn="just">
              <a:lnSpc>
                <a:spcPct val="150000"/>
              </a:lnSpc>
            </a:pP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查看</a:t>
            </a: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公钥</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marL="228600" indent="266700" algn="just"/>
            <a:r>
              <a:rPr lang="en-US" altLang="zh-CN" sz="1800" kern="100" dirty="0">
                <a:effectLst/>
                <a:latin typeface="宋体" panose="02010600030101010101" pitchFamily="2" charset="-122"/>
                <a:ea typeface="等线" panose="02010600030101010101" charset="-122"/>
                <a:cs typeface="Times New Roman" panose="02020603050405020304" pitchFamily="18" charset="0"/>
              </a:rPr>
              <a:t>openssl</a:t>
            </a:r>
            <a:r>
              <a:rPr lang="en-US" altLang="zh-CN" kern="100" dirty="0">
                <a:latin typeface="宋体" panose="02010600030101010101" pitchFamily="2" charset="-122"/>
                <a:ea typeface="等线" panose="02010600030101010101" charset="-122"/>
                <a:cs typeface="Times New Roman" panose="02020603050405020304" pitchFamily="18" charset="0"/>
              </a:rPr>
              <a:t>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rsa</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pubin</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-in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pcapubkey.pem</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-text</a:t>
            </a:r>
            <a:r>
              <a:rPr lang="en-US" altLang="zh-CN" kern="100" dirty="0">
                <a:effectLst/>
                <a:latin typeface="宋体" panose="02010600030101010101" pitchFamily="2" charset="-122"/>
                <a:ea typeface="等线" panose="02010600030101010101" charset="-122"/>
                <a:cs typeface="Times New Roman" panose="02020603050405020304" pitchFamily="18" charset="0"/>
                <a:sym typeface="+mn-ea"/>
              </a:rPr>
              <a:t> </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noout</a:t>
            </a:r>
            <a:endParaRPr lang="zh-CN" altLang="zh-CN" sz="1200" kern="100" dirty="0">
              <a:effectLst/>
              <a:latin typeface="等线" panose="02010600030101010101" charset="-122"/>
              <a:ea typeface="等线" panose="02010600030101010101" charset="-122"/>
              <a:cs typeface="Times New Roman" panose="02020603050405020304" pitchFamily="18" charset="0"/>
            </a:endParaRPr>
          </a:p>
          <a:p>
            <a:pPr lvl="0" algn="just">
              <a:lnSpc>
                <a:spcPct val="150000"/>
              </a:lnSpc>
            </a:pP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查看</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CSR</a:t>
            </a: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Certificate Signing Request</a:t>
            </a: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marL="228600" indent="266700" algn="just"/>
            <a:r>
              <a:rPr lang="en-US" altLang="zh-CN" sz="1800" kern="100" dirty="0">
                <a:effectLst/>
                <a:latin typeface="宋体" panose="02010600030101010101" pitchFamily="2" charset="-122"/>
                <a:ea typeface="等线" panose="02010600030101010101" charset="-122"/>
                <a:cs typeface="Times New Roman" panose="02020603050405020304" pitchFamily="18" charset="0"/>
              </a:rPr>
              <a:t>openssl req -in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server.csr</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-text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noout</a:t>
            </a:r>
            <a:endParaRPr lang="zh-CN" altLang="zh-CN" sz="1200" kern="100" dirty="0">
              <a:effectLst/>
              <a:latin typeface="等线" panose="02010600030101010101" charset="-122"/>
              <a:ea typeface="等线" panose="02010600030101010101" charset="-122"/>
              <a:cs typeface="Times New Roman" panose="02020603050405020304" pitchFamily="18" charset="0"/>
            </a:endParaRPr>
          </a:p>
          <a:p>
            <a:pPr algn="just">
              <a:lnSpc>
                <a:spcPct val="150000"/>
              </a:lnSpc>
            </a:pPr>
            <a:r>
              <a:rPr lang="zh-CN" altLang="zh-CN" b="1" kern="100" dirty="0">
                <a:latin typeface="Times New Roman" panose="02020603050405020304" pitchFamily="18" charset="0"/>
                <a:ea typeface="宋体" panose="02010600030101010101" pitchFamily="2" charset="-122"/>
                <a:cs typeface="Times New Roman" panose="02020603050405020304" pitchFamily="18" charset="0"/>
              </a:rPr>
              <a:t>查看</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CRL</a:t>
            </a:r>
            <a:r>
              <a:rPr lang="zh-CN" altLang="en-US" b="1" kern="100" dirty="0">
                <a:latin typeface="Times New Roman" panose="02020603050405020304" pitchFamily="18" charset="0"/>
                <a:ea typeface="宋体" panose="02010600030101010101" pitchFamily="2" charset="-122"/>
                <a:cs typeface="Times New Roman" panose="02020603050405020304" pitchFamily="18" charset="0"/>
              </a:rPr>
              <a:t>列表</a:t>
            </a:r>
            <a:endParaRPr lang="zh-CN" altLang="zh-CN" b="1" kern="100" dirty="0">
              <a:latin typeface="Times New Roman" panose="02020603050405020304" pitchFamily="18" charset="0"/>
              <a:ea typeface="宋体" panose="02010600030101010101" pitchFamily="2" charset="-122"/>
              <a:cs typeface="Times New Roman" panose="02020603050405020304" pitchFamily="18" charset="0"/>
            </a:endParaRPr>
          </a:p>
          <a:p>
            <a:pPr marL="228600" indent="266700" algn="just"/>
            <a:r>
              <a:rPr lang="en-US" altLang="zh-CN" sz="1800" kern="100" dirty="0">
                <a:effectLst/>
                <a:latin typeface="宋体" panose="02010600030101010101" pitchFamily="2" charset="-122"/>
                <a:ea typeface="等线" panose="02010600030101010101" charset="-122"/>
                <a:cs typeface="Times New Roman" panose="02020603050405020304" pitchFamily="18" charset="0"/>
              </a:rPr>
              <a:t>openssl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crl</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-in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testca.crl</a:t>
            </a:r>
            <a:r>
              <a:rPr lang="en-US" altLang="zh-CN" sz="1800" kern="100" dirty="0">
                <a:effectLst/>
                <a:latin typeface="宋体" panose="02010600030101010101" pitchFamily="2" charset="-122"/>
                <a:ea typeface="等线" panose="02010600030101010101" charset="-122"/>
                <a:cs typeface="Times New Roman" panose="02020603050405020304" pitchFamily="18" charset="0"/>
              </a:rPr>
              <a:t> -text -</a:t>
            </a:r>
            <a:r>
              <a:rPr lang="en-US" altLang="zh-CN" sz="1800" kern="100" dirty="0" err="1">
                <a:effectLst/>
                <a:latin typeface="宋体" panose="02010600030101010101" pitchFamily="2" charset="-122"/>
                <a:ea typeface="等线" panose="02010600030101010101" charset="-122"/>
                <a:cs typeface="Times New Roman" panose="02020603050405020304" pitchFamily="18" charset="0"/>
              </a:rPr>
              <a:t>noout</a:t>
            </a:r>
            <a:endParaRPr lang="zh-CN" altLang="zh-CN" sz="12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en-US" altLang="zh-CN"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OpenSSL</a:t>
            </a: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的使用</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14" name="文本框 13"/>
          <p:cNvSpPr txBox="1"/>
          <p:nvPr/>
        </p:nvSpPr>
        <p:spPr>
          <a:xfrm>
            <a:off x="660400" y="2216713"/>
            <a:ext cx="11262658" cy="2424574"/>
          </a:xfrm>
          <a:prstGeom prst="rect">
            <a:avLst/>
          </a:prstGeom>
          <a:noFill/>
        </p:spPr>
        <p:txBody>
          <a:bodyPr wrap="square">
            <a:spAutoFit/>
          </a:bodyPr>
          <a:lstStyle/>
          <a:p>
            <a:pPr marL="457200" indent="-45720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了解</a:t>
            </a:r>
            <a:r>
              <a:rPr lang="en-US" altLang="zh-CN" sz="2800" dirty="0">
                <a:solidFill>
                  <a:srgbClr val="404244"/>
                </a:solidFill>
                <a:latin typeface="+mn-ea"/>
                <a:cs typeface="Helvetica" panose="020B0604020202020204" pitchFamily="34" charset="0"/>
              </a:rPr>
              <a:t>OpenSSL</a:t>
            </a:r>
            <a:r>
              <a:rPr lang="zh-CN" altLang="en-US" sz="2800" dirty="0">
                <a:solidFill>
                  <a:srgbClr val="404244"/>
                </a:solidFill>
                <a:latin typeface="+mn-ea"/>
                <a:cs typeface="Helvetica" panose="020B0604020202020204" pitchFamily="34" charset="0"/>
              </a:rPr>
              <a:t>的更多命令行使用方法，参考</a:t>
            </a:r>
            <a:r>
              <a:rPr lang="en-US" altLang="zh-CN" sz="2800" dirty="0" err="1">
                <a:solidFill>
                  <a:srgbClr val="404244"/>
                </a:solidFill>
                <a:latin typeface="+mn-ea"/>
                <a:cs typeface="Helvetica" panose="020B0604020202020204" pitchFamily="34" charset="0"/>
              </a:rPr>
              <a:t>openssl</a:t>
            </a:r>
            <a:r>
              <a:rPr lang="en-US" altLang="zh-CN" sz="2800" dirty="0">
                <a:solidFill>
                  <a:srgbClr val="404244"/>
                </a:solidFill>
                <a:latin typeface="+mn-ea"/>
                <a:cs typeface="Helvetica" panose="020B0604020202020204" pitchFamily="34" charset="0"/>
              </a:rPr>
              <a:t>-cookbook</a:t>
            </a:r>
            <a:r>
              <a:rPr lang="zh-CN" altLang="zh-CN" sz="2400" kern="100" dirty="0">
                <a:effectLst/>
                <a:latin typeface="等线" panose="02010600030101010101" charset="-122"/>
                <a:ea typeface="宋体" panose="02010600030101010101" pitchFamily="2" charset="-122"/>
                <a:cs typeface="Times New Roman" panose="02020603050405020304" pitchFamily="18" charset="0"/>
              </a:rPr>
              <a:t>（</a:t>
            </a:r>
            <a:r>
              <a:rPr lang="en-US" altLang="zh-CN" sz="2400" u="sng" kern="100" dirty="0">
                <a:solidFill>
                  <a:srgbClr val="0563C1"/>
                </a:solidFill>
                <a:effectLst/>
                <a:latin typeface="宋体" panose="02010600030101010101" pitchFamily="2" charset="-122"/>
                <a:ea typeface="等线" panose="02010600030101010101" charset="-122"/>
                <a:cs typeface="Times New Roman" panose="02020603050405020304" pitchFamily="18" charset="0"/>
                <a:hlinkClick r:id="rId1"/>
              </a:rPr>
              <a:t>https://www.feistyduck.com/books/openssl-cookbook/</a:t>
            </a:r>
            <a:r>
              <a:rPr lang="zh-CN" altLang="zh-CN" sz="2400" kern="100" dirty="0">
                <a:effectLst/>
                <a:latin typeface="等线" panose="02010600030101010101" charset="-122"/>
                <a:ea typeface="宋体" panose="02010600030101010101" pitchFamily="2" charset="-122"/>
                <a:cs typeface="Times New Roman" panose="02020603050405020304" pitchFamily="18" charset="0"/>
              </a:rPr>
              <a:t>）</a:t>
            </a:r>
            <a:endParaRPr lang="zh-CN" altLang="zh-CN" sz="2400" kern="100" dirty="0">
              <a:effectLst/>
              <a:latin typeface="等线" panose="02010600030101010101" charset="-122"/>
              <a:ea typeface="等线" panose="02010600030101010101" charset="-122"/>
              <a:cs typeface="Times New Roman" panose="02020603050405020304" pitchFamily="18" charset="0"/>
            </a:endParaRPr>
          </a:p>
          <a:p>
            <a:pPr marL="457200" indent="-457200">
              <a:lnSpc>
                <a:spcPct val="200000"/>
              </a:lnSpc>
              <a:buFont typeface="Arial" panose="020B0604020202020204" pitchFamily="34" charset="0"/>
              <a:buChar char="•"/>
            </a:pPr>
            <a:endParaRPr lang="zh-CN" altLang="zh-CN" sz="2800" dirty="0">
              <a:solidFill>
                <a:srgbClr val="404244"/>
              </a:solidFill>
              <a:latin typeface="+mn-ea"/>
              <a:cs typeface="Helvetica"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14"/>
          <p:cNvSpPr txBox="1"/>
          <p:nvPr/>
        </p:nvSpPr>
        <p:spPr>
          <a:xfrm>
            <a:off x="6187271" y="2726062"/>
            <a:ext cx="4635499" cy="809946"/>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5400" b="1" kern="1200">
                <a:solidFill>
                  <a:srgbClr val="7E0C6E"/>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zh-CN" altLang="en-US" sz="4400" dirty="0">
                <a:ea typeface="微软雅黑" panose="020B0503020204020204" pitchFamily="34" charset="-122"/>
              </a:rPr>
              <a:t>实 验 要 求</a:t>
            </a:r>
            <a:endParaRPr lang="zh-CN" altLang="en-US" sz="4400" dirty="0">
              <a:ea typeface="微软雅黑" panose="020B0503020204020204" pitchFamily="34" charset="-122"/>
            </a:endParaRPr>
          </a:p>
        </p:txBody>
      </p:sp>
      <p:sp>
        <p:nvSpPr>
          <p:cNvPr id="8" name="文本框 7"/>
          <p:cNvSpPr txBox="1"/>
          <p:nvPr/>
        </p:nvSpPr>
        <p:spPr>
          <a:xfrm>
            <a:off x="4449017" y="1947721"/>
            <a:ext cx="1549400" cy="2215991"/>
          </a:xfrm>
          <a:prstGeom prst="rect">
            <a:avLst/>
          </a:prstGeom>
          <a:noFill/>
        </p:spPr>
        <p:txBody>
          <a:bodyPr wrap="square" rtlCol="0">
            <a:spAutoFit/>
          </a:bodyPr>
          <a:lstStyle/>
          <a:p>
            <a:r>
              <a:rPr lang="en-US" altLang="zh-CN" sz="13800" dirty="0">
                <a:solidFill>
                  <a:schemeClr val="accent1"/>
                </a:solidFill>
                <a:ea typeface="微软雅黑" panose="020B0503020204020204" pitchFamily="34" charset="-122"/>
              </a:rPr>
              <a:t>0</a:t>
            </a:r>
            <a:endParaRPr lang="zh-CN" altLang="en-US" sz="13800" dirty="0">
              <a:solidFill>
                <a:schemeClr val="accent1"/>
              </a:solidFill>
              <a:ea typeface="微软雅黑" panose="020B0503020204020204" pitchFamily="34" charset="-122"/>
            </a:endParaRPr>
          </a:p>
        </p:txBody>
      </p:sp>
      <p:sp>
        <p:nvSpPr>
          <p:cNvPr id="9" name="文本框 8"/>
          <p:cNvSpPr txBox="1"/>
          <p:nvPr/>
        </p:nvSpPr>
        <p:spPr>
          <a:xfrm>
            <a:off x="5403592" y="1964005"/>
            <a:ext cx="1549400" cy="2215991"/>
          </a:xfrm>
          <a:prstGeom prst="rect">
            <a:avLst/>
          </a:prstGeom>
          <a:noFill/>
        </p:spPr>
        <p:txBody>
          <a:bodyPr wrap="square" rtlCol="0">
            <a:spAutoFit/>
          </a:bodyPr>
          <a:lstStyle/>
          <a:p>
            <a:r>
              <a:rPr lang="en-US" altLang="zh-CN" sz="13800" dirty="0">
                <a:solidFill>
                  <a:schemeClr val="accent1"/>
                </a:solidFill>
                <a:ea typeface="微软雅黑" panose="020B0503020204020204" pitchFamily="34" charset="-122"/>
              </a:rPr>
              <a:t>3</a:t>
            </a:r>
            <a:endParaRPr lang="zh-CN" altLang="en-US" sz="13800" dirty="0">
              <a:solidFill>
                <a:schemeClr val="accent1"/>
              </a:solidFill>
              <a:ea typeface="微软雅黑" panose="020B0503020204020204" pitchFamily="34" charset="-122"/>
            </a:endParaRPr>
          </a:p>
        </p:txBody>
      </p:sp>
      <p:cxnSp>
        <p:nvCxnSpPr>
          <p:cNvPr id="10" name="直接连接符 9"/>
          <p:cNvCxnSpPr/>
          <p:nvPr/>
        </p:nvCxnSpPr>
        <p:spPr>
          <a:xfrm>
            <a:off x="6187271" y="3493007"/>
            <a:ext cx="4696628" cy="0"/>
          </a:xfrm>
          <a:prstGeom prst="line">
            <a:avLst/>
          </a:prstGeom>
          <a:ln w="38100">
            <a:solidFill>
              <a:srgbClr val="7E0C6E">
                <a:alpha val="19000"/>
              </a:srgb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实验环境</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521519" y="1411690"/>
            <a:ext cx="7739956" cy="3538220"/>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系统：</a:t>
            </a:r>
            <a:r>
              <a:rPr lang="en-US" altLang="zh-CN" sz="2800" b="1" dirty="0">
                <a:solidFill>
                  <a:srgbClr val="404244"/>
                </a:solidFill>
                <a:latin typeface="+mn-ea"/>
                <a:cs typeface="Helvetica" panose="020B0604020202020204" pitchFamily="34" charset="0"/>
              </a:rPr>
              <a:t>Ubuntu 20.04</a:t>
            </a:r>
            <a:endParaRPr lang="en-US" altLang="zh-CN" sz="2800" b="1" dirty="0">
              <a:solidFill>
                <a:srgbClr val="404244"/>
              </a:solidFill>
              <a:latin typeface="+mn-ea"/>
              <a:cs typeface="Helvetica" panose="020B0604020202020204" pitchFamily="34" charset="0"/>
            </a:endParaRPr>
          </a:p>
          <a:p>
            <a:pPr marL="457200" indent="-45720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虚拟机</a:t>
            </a:r>
            <a:r>
              <a:rPr lang="en-US" altLang="zh-CN" sz="2800" dirty="0">
                <a:solidFill>
                  <a:srgbClr val="404244"/>
                </a:solidFill>
                <a:latin typeface="+mn-ea"/>
                <a:cs typeface="Helvetica" panose="020B0604020202020204" pitchFamily="34" charset="0"/>
              </a:rPr>
              <a:t>/</a:t>
            </a:r>
            <a:r>
              <a:rPr lang="zh-CN" altLang="en-US" sz="2800" dirty="0">
                <a:solidFill>
                  <a:srgbClr val="404244"/>
                </a:solidFill>
                <a:latin typeface="+mn-ea"/>
                <a:cs typeface="Helvetica" panose="020B0604020202020204" pitchFamily="34" charset="0"/>
              </a:rPr>
              <a:t>云服务器</a:t>
            </a:r>
            <a:endParaRPr lang="en-US" altLang="zh-CN" sz="2800" dirty="0">
              <a:solidFill>
                <a:srgbClr val="404244"/>
              </a:solidFill>
              <a:latin typeface="+mn-ea"/>
              <a:cs typeface="Helvetica" panose="020B0604020202020204" pitchFamily="34" charset="0"/>
            </a:endParaRPr>
          </a:p>
          <a:p>
            <a:pPr marL="457200" indent="-457200">
              <a:lnSpc>
                <a:spcPct val="200000"/>
              </a:lnSpc>
              <a:buFont typeface="Arial" panose="020B0604020202020204" pitchFamily="34" charset="0"/>
              <a:buChar char="•"/>
            </a:pPr>
            <a:r>
              <a:rPr lang="zh-CN" altLang="en-US" sz="2800" dirty="0">
                <a:solidFill>
                  <a:srgbClr val="404244"/>
                </a:solidFill>
                <a:latin typeface="+mn-ea"/>
                <a:cs typeface="Helvetica" panose="020B0604020202020204" pitchFamily="34" charset="0"/>
              </a:rPr>
              <a:t>无需可视化界面</a:t>
            </a:r>
            <a:endParaRPr lang="en-US" altLang="zh-CN" sz="2800" dirty="0">
              <a:solidFill>
                <a:srgbClr val="404244"/>
              </a:solidFill>
              <a:latin typeface="+mn-ea"/>
              <a:cs typeface="Helvetica" panose="020B0604020202020204" pitchFamily="34" charset="0"/>
            </a:endParaRPr>
          </a:p>
          <a:p>
            <a:pPr>
              <a:lnSpc>
                <a:spcPct val="200000"/>
              </a:lnSpc>
            </a:pPr>
            <a:r>
              <a:rPr lang="zh-CN" altLang="en-US" sz="2800" b="1" dirty="0">
                <a:solidFill>
                  <a:srgbClr val="404244"/>
                </a:solidFill>
                <a:latin typeface="+mn-ea"/>
                <a:cs typeface="Helvetica" panose="020B0604020202020204" pitchFamily="34" charset="0"/>
              </a:rPr>
              <a:t>工具：</a:t>
            </a:r>
            <a:r>
              <a:rPr lang="en-US" altLang="zh-CN" sz="2800" b="1" dirty="0">
                <a:solidFill>
                  <a:srgbClr val="404244"/>
                </a:solidFill>
                <a:latin typeface="+mn-ea"/>
                <a:cs typeface="Helvetica" panose="020B0604020202020204" pitchFamily="34" charset="0"/>
              </a:rPr>
              <a:t>OpenSSL </a:t>
            </a:r>
            <a:r>
              <a:rPr lang="en-US" altLang="zh-CN" dirty="0"/>
              <a:t>	</a:t>
            </a:r>
            <a:endParaRPr lang="zh-CN" altLang="zh-CN" dirty="0"/>
          </a:p>
        </p:txBody>
      </p:sp>
      <p:sp>
        <p:nvSpPr>
          <p:cNvPr id="15" name="文本框 14"/>
          <p:cNvSpPr txBox="1"/>
          <p:nvPr/>
        </p:nvSpPr>
        <p:spPr>
          <a:xfrm>
            <a:off x="560044" y="4970886"/>
            <a:ext cx="6096000" cy="875881"/>
          </a:xfrm>
          <a:prstGeom prst="rect">
            <a:avLst/>
          </a:prstGeom>
          <a:noFill/>
        </p:spPr>
        <p:txBody>
          <a:bodyPr wrap="square">
            <a:spAutoFit/>
          </a:bodyPr>
          <a:lstStyle/>
          <a:p>
            <a:pPr algn="just" latinLnBrk="1">
              <a:lnSpc>
                <a:spcPct val="150000"/>
              </a:lnSpc>
            </a:pPr>
            <a:r>
              <a:rPr lang="en-US" altLang="zh-CN" b="1" kern="100" dirty="0" err="1">
                <a:latin typeface="宋体" panose="02010600030101010101" pitchFamily="2" charset="-122"/>
                <a:ea typeface="宋体" panose="02010600030101010101" pitchFamily="2" charset="-122"/>
                <a:cs typeface="Times New Roman" panose="02020603050405020304" pitchFamily="18" charset="0"/>
              </a:rPr>
              <a:t>sudo</a:t>
            </a:r>
            <a:r>
              <a:rPr lang="en-US" altLang="zh-CN" b="1" kern="100" dirty="0">
                <a:latin typeface="宋体" panose="02010600030101010101" pitchFamily="2" charset="-122"/>
                <a:ea typeface="宋体" panose="02010600030101010101" pitchFamily="2" charset="-122"/>
                <a:cs typeface="Times New Roman" panose="02020603050405020304" pitchFamily="18" charset="0"/>
              </a:rPr>
              <a:t> apt-get update</a:t>
            </a:r>
            <a:endParaRPr lang="en-US" altLang="zh-CN" b="1"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b="1" kern="100" dirty="0" err="1">
                <a:latin typeface="宋体" panose="02010600030101010101" pitchFamily="2" charset="-122"/>
                <a:ea typeface="宋体" panose="02010600030101010101" pitchFamily="2" charset="-122"/>
                <a:cs typeface="Times New Roman" panose="02020603050405020304" pitchFamily="18" charset="0"/>
              </a:rPr>
              <a:t>sudo</a:t>
            </a:r>
            <a:r>
              <a:rPr lang="en-US" altLang="zh-CN" b="1" kern="100" dirty="0">
                <a:latin typeface="宋体" panose="02010600030101010101" pitchFamily="2" charset="-122"/>
                <a:ea typeface="宋体" panose="02010600030101010101" pitchFamily="2" charset="-122"/>
                <a:cs typeface="Times New Roman" panose="02020603050405020304" pitchFamily="18" charset="0"/>
              </a:rPr>
              <a:t> apt-get install openssl</a:t>
            </a:r>
            <a:r>
              <a:rPr lang="en-US" altLang="zh-CN" b="1" kern="100" dirty="0">
                <a:effectLst/>
                <a:latin typeface="宋体" panose="02010600030101010101" pitchFamily="2" charset="-122"/>
                <a:ea typeface="宋体" panose="02010600030101010101" pitchFamily="2" charset="-122"/>
                <a:cs typeface="Times New Roman" panose="02020603050405020304" pitchFamily="18" charset="0"/>
              </a:rPr>
              <a:t>	</a:t>
            </a:r>
            <a:endParaRPr lang="zh-CN" altLang="en-US"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983973"/>
            <a:ext cx="11935307" cy="4680192"/>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一、搭建私有</a:t>
            </a:r>
            <a:r>
              <a:rPr lang="en-US" altLang="zh-CN" sz="2800" b="1" dirty="0">
                <a:solidFill>
                  <a:srgbClr val="404244"/>
                </a:solidFill>
                <a:latin typeface="+mn-ea"/>
                <a:cs typeface="Helvetica" panose="020B0604020202020204" pitchFamily="34" charset="0"/>
              </a:rPr>
              <a:t>CA</a:t>
            </a:r>
            <a:endParaRPr lang="en-US" altLang="zh-CN" sz="2800" b="1" dirty="0">
              <a:solidFill>
                <a:srgbClr val="404244"/>
              </a:solidFill>
              <a:latin typeface="+mn-ea"/>
              <a:cs typeface="Helvetica" panose="020B0604020202020204" pitchFamily="34" charset="0"/>
            </a:endParaRPr>
          </a:p>
          <a:p>
            <a:pPr marL="514350" indent="-514350">
              <a:lnSpc>
                <a:spcPct val="200000"/>
              </a:lnSpc>
              <a:buAutoNum type="arabicPeriod"/>
            </a:pPr>
            <a:r>
              <a:rPr lang="zh-CN" altLang="en-US" sz="2800" b="1" dirty="0">
                <a:solidFill>
                  <a:srgbClr val="404244"/>
                </a:solidFill>
                <a:latin typeface="+mn-ea"/>
                <a:cs typeface="Helvetica" panose="020B0604020202020204" pitchFamily="34" charset="0"/>
              </a:rPr>
              <a:t>创建私有</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所需要的文件目录，保存</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的相关信息</a:t>
            </a:r>
            <a:endParaRPr lang="en-US" altLang="zh-CN" sz="2800" b="1" dirty="0">
              <a:solidFill>
                <a:srgbClr val="404244"/>
              </a:solidFill>
              <a:latin typeface="+mn-ea"/>
              <a:cs typeface="Helvetica" panose="020B0604020202020204" pitchFamily="34" charset="0"/>
            </a:endParaRPr>
          </a:p>
          <a:p>
            <a:pPr algn="just" latinLnBrk="1">
              <a:lnSpc>
                <a:spcPct val="150000"/>
              </a:lnSpc>
            </a:pPr>
            <a:r>
              <a:rPr lang="en-US" altLang="zh-CN" b="1" kern="100" dirty="0" err="1">
                <a:effectLst/>
                <a:latin typeface="宋体" panose="02010600030101010101" pitchFamily="2" charset="-122"/>
                <a:ea typeface="宋体" panose="02010600030101010101" pitchFamily="2" charset="-122"/>
                <a:cs typeface="Times New Roman" panose="02020603050405020304" pitchFamily="18" charset="0"/>
              </a:rPr>
              <a:t>mkdir</a:t>
            </a:r>
            <a:r>
              <a:rPr lang="en-US" altLang="zh-CN" b="1" kern="100" dirty="0">
                <a:effectLst/>
                <a:latin typeface="宋体" panose="02010600030101010101" pitchFamily="2" charset="-122"/>
                <a:ea typeface="宋体" panose="02010600030101010101" pitchFamily="2" charset="-122"/>
                <a:cs typeface="Times New Roman" panose="02020603050405020304" pitchFamily="18" charset="0"/>
              </a:rPr>
              <a:t> </a:t>
            </a:r>
            <a:r>
              <a:rPr lang="en-US" altLang="zh-CN" b="1" kern="100" dirty="0" err="1">
                <a:effectLst/>
                <a:latin typeface="宋体" panose="02010600030101010101" pitchFamily="2" charset="-122"/>
                <a:ea typeface="宋体" panose="02010600030101010101" pitchFamily="2" charset="-122"/>
                <a:cs typeface="Times New Roman" panose="02020603050405020304" pitchFamily="18" charset="0"/>
              </a:rPr>
              <a:t>myCA</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0" dirty="0">
                <a:effectLst/>
                <a:latin typeface="宋体" panose="02010600030101010101" pitchFamily="2" charset="-122"/>
                <a:ea typeface="宋体" panose="02010600030101010101" pitchFamily="2" charset="-122"/>
                <a:cs typeface="Times New Roman" panose="02020603050405020304" pitchFamily="18" charset="0"/>
              </a:rPr>
              <a:t>创建</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CA</a:t>
            </a:r>
            <a:r>
              <a:rPr lang="zh-CN" altLang="zh-CN" kern="100" dirty="0">
                <a:effectLst/>
                <a:latin typeface="宋体" panose="02010600030101010101" pitchFamily="2" charset="-122"/>
                <a:ea typeface="宋体" panose="02010600030101010101" pitchFamily="2" charset="-122"/>
                <a:cs typeface="Times New Roman" panose="02020603050405020304" pitchFamily="18" charset="0"/>
              </a:rPr>
              <a:t>根文件夹</a:t>
            </a:r>
            <a:endParaRPr lang="zh-CN"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b="1" kern="100" dirty="0">
                <a:effectLst/>
                <a:latin typeface="宋体" panose="02010600030101010101" pitchFamily="2" charset="-122"/>
                <a:ea typeface="宋体" panose="02010600030101010101" pitchFamily="2" charset="-122"/>
                <a:cs typeface="Times New Roman" panose="02020603050405020304" pitchFamily="18" charset="0"/>
              </a:rPr>
              <a:t>cd </a:t>
            </a:r>
            <a:r>
              <a:rPr lang="en-US" altLang="zh-CN" b="1" kern="100" dirty="0" err="1">
                <a:effectLst/>
                <a:latin typeface="宋体" panose="02010600030101010101" pitchFamily="2" charset="-122"/>
                <a:ea typeface="宋体" panose="02010600030101010101" pitchFamily="2" charset="-122"/>
                <a:cs typeface="Times New Roman" panose="02020603050405020304" pitchFamily="18" charset="0"/>
              </a:rPr>
              <a:t>myCA</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0" dirty="0">
                <a:effectLst/>
                <a:latin typeface="宋体" panose="02010600030101010101" pitchFamily="2" charset="-122"/>
                <a:ea typeface="宋体" panose="02010600030101010101" pitchFamily="2" charset="-122"/>
                <a:cs typeface="Times New Roman" panose="02020603050405020304" pitchFamily="18" charset="0"/>
              </a:rPr>
              <a:t>进入</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CA</a:t>
            </a:r>
            <a:r>
              <a:rPr lang="zh-CN" altLang="zh-CN" kern="100" dirty="0">
                <a:effectLst/>
                <a:latin typeface="宋体" panose="02010600030101010101" pitchFamily="2" charset="-122"/>
                <a:ea typeface="宋体" panose="02010600030101010101" pitchFamily="2" charset="-122"/>
                <a:cs typeface="Times New Roman" panose="02020603050405020304" pitchFamily="18" charset="0"/>
              </a:rPr>
              <a:t>根文件夹</a:t>
            </a:r>
            <a:endParaRPr lang="zh-CN"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b="1" kern="100" dirty="0" err="1">
                <a:effectLst/>
                <a:latin typeface="宋体" panose="02010600030101010101" pitchFamily="2" charset="-122"/>
                <a:ea typeface="宋体" panose="02010600030101010101" pitchFamily="2" charset="-122"/>
                <a:cs typeface="Times New Roman" panose="02020603050405020304" pitchFamily="18" charset="0"/>
              </a:rPr>
              <a:t>mkdir</a:t>
            </a:r>
            <a:r>
              <a:rPr lang="en-US" altLang="zh-CN" b="1" kern="100" dirty="0">
                <a:effectLst/>
                <a:latin typeface="宋体" panose="02010600030101010101" pitchFamily="2" charset="-122"/>
                <a:ea typeface="宋体" panose="02010600030101010101" pitchFamily="2" charset="-122"/>
                <a:cs typeface="Times New Roman" panose="02020603050405020304" pitchFamily="18" charset="0"/>
              </a:rPr>
              <a:t> </a:t>
            </a:r>
            <a:r>
              <a:rPr lang="en-US" altLang="zh-CN" b="1" kern="100" dirty="0" err="1">
                <a:effectLst/>
                <a:latin typeface="宋体" panose="02010600030101010101" pitchFamily="2" charset="-122"/>
                <a:ea typeface="宋体" panose="02010600030101010101" pitchFamily="2" charset="-122"/>
                <a:cs typeface="Times New Roman" panose="02020603050405020304" pitchFamily="18" charset="0"/>
              </a:rPr>
              <a:t>newcerts</a:t>
            </a:r>
            <a:r>
              <a:rPr lang="en-US" altLang="zh-CN" b="1" kern="100" dirty="0">
                <a:effectLst/>
                <a:latin typeface="宋体" panose="02010600030101010101" pitchFamily="2" charset="-122"/>
                <a:ea typeface="宋体" panose="02010600030101010101" pitchFamily="2" charset="-122"/>
                <a:cs typeface="Times New Roman" panose="02020603050405020304" pitchFamily="18" charset="0"/>
              </a:rPr>
              <a:t> private conf</a:t>
            </a:r>
            <a:r>
              <a:rPr lang="en-US" altLang="zh-CN" kern="100" dirty="0">
                <a:effectLst/>
                <a:latin typeface="宋体" panose="02010600030101010101" pitchFamily="2" charset="-122"/>
                <a:ea typeface="宋体" panose="02010600030101010101" pitchFamily="2" charset="-122"/>
                <a:cs typeface="Times New Roman" panose="02020603050405020304" pitchFamily="18" charset="0"/>
              </a:rPr>
              <a:t>		//</a:t>
            </a:r>
            <a:r>
              <a:rPr lang="zh-CN" altLang="zh-CN" kern="100" dirty="0">
                <a:effectLst/>
                <a:latin typeface="宋体" panose="02010600030101010101" pitchFamily="2" charset="-122"/>
                <a:ea typeface="宋体" panose="02010600030101010101" pitchFamily="2" charset="-122"/>
                <a:cs typeface="Times New Roman" panose="02020603050405020304" pitchFamily="18" charset="0"/>
              </a:rPr>
              <a:t>创建三个文件夹，用来存放新发放证书、私钥和配置文件</a:t>
            </a:r>
            <a:endParaRPr lang="en-US" altLang="zh-CN"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b="1" kern="100" dirty="0" err="1">
                <a:latin typeface="宋体" panose="02010600030101010101" pitchFamily="2" charset="-122"/>
                <a:ea typeface="宋体" panose="02010600030101010101" pitchFamily="2" charset="-122"/>
                <a:cs typeface="Times New Roman" panose="02020603050405020304" pitchFamily="18" charset="0"/>
              </a:rPr>
              <a:t>chmod</a:t>
            </a:r>
            <a:r>
              <a:rPr lang="en-US" altLang="zh-CN" b="1" kern="100" dirty="0">
                <a:latin typeface="宋体" panose="02010600030101010101" pitchFamily="2" charset="-122"/>
                <a:ea typeface="宋体" panose="02010600030101010101" pitchFamily="2" charset="-122"/>
                <a:cs typeface="Times New Roman" panose="02020603050405020304" pitchFamily="18" charset="0"/>
              </a:rPr>
              <a:t> g-</a:t>
            </a:r>
            <a:r>
              <a:rPr lang="en-US" altLang="zh-CN" b="1" kern="100" dirty="0" err="1">
                <a:latin typeface="宋体" panose="02010600030101010101" pitchFamily="2" charset="-122"/>
                <a:ea typeface="宋体" panose="02010600030101010101" pitchFamily="2" charset="-122"/>
                <a:cs typeface="Times New Roman" panose="02020603050405020304" pitchFamily="18" charset="0"/>
              </a:rPr>
              <a:t>rwx,o</a:t>
            </a:r>
            <a:r>
              <a:rPr lang="en-US" altLang="zh-CN" b="1" kern="100" dirty="0">
                <a:latin typeface="宋体" panose="02010600030101010101" pitchFamily="2" charset="-122"/>
                <a:ea typeface="宋体" panose="02010600030101010101" pitchFamily="2" charset="-122"/>
                <a:cs typeface="Times New Roman" panose="02020603050405020304" pitchFamily="18" charset="0"/>
              </a:rPr>
              <a:t>-</a:t>
            </a:r>
            <a:r>
              <a:rPr lang="en-US" altLang="zh-CN" b="1" kern="100" dirty="0" err="1">
                <a:latin typeface="宋体" panose="02010600030101010101" pitchFamily="2" charset="-122"/>
                <a:ea typeface="宋体" panose="02010600030101010101" pitchFamily="2" charset="-122"/>
                <a:cs typeface="Times New Roman" panose="02020603050405020304" pitchFamily="18" charset="0"/>
              </a:rPr>
              <a:t>rwx</a:t>
            </a:r>
            <a:r>
              <a:rPr lang="en-US" altLang="zh-CN" b="1" kern="100" dirty="0">
                <a:latin typeface="宋体" panose="02010600030101010101" pitchFamily="2" charset="-122"/>
                <a:ea typeface="宋体" panose="02010600030101010101" pitchFamily="2" charset="-122"/>
                <a:cs typeface="Times New Roman" panose="02020603050405020304" pitchFamily="18" charset="0"/>
              </a:rPr>
              <a:t> private</a:t>
            </a: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kern="100" dirty="0">
                <a:latin typeface="宋体" panose="02010600030101010101" pitchFamily="2" charset="-122"/>
                <a:ea typeface="宋体" panose="02010600030101010101" pitchFamily="2" charset="-122"/>
                <a:cs typeface="Times New Roman" panose="02020603050405020304" pitchFamily="18" charset="0"/>
              </a:rPr>
              <a:t>设置</a:t>
            </a:r>
            <a:r>
              <a:rPr lang="en-US" altLang="zh-CN" kern="100" dirty="0">
                <a:latin typeface="宋体" panose="02010600030101010101" pitchFamily="2" charset="-122"/>
                <a:ea typeface="宋体" panose="02010600030101010101" pitchFamily="2" charset="-122"/>
                <a:cs typeface="Times New Roman" panose="02020603050405020304" pitchFamily="18" charset="0"/>
              </a:rPr>
              <a:t>private</a:t>
            </a:r>
            <a:r>
              <a:rPr lang="zh-CN" altLang="zh-CN" kern="100" dirty="0">
                <a:latin typeface="宋体" panose="02010600030101010101" pitchFamily="2" charset="-122"/>
                <a:ea typeface="宋体" panose="02010600030101010101" pitchFamily="2" charset="-122"/>
                <a:cs typeface="Times New Roman" panose="02020603050405020304" pitchFamily="18" charset="0"/>
              </a:rPr>
              <a:t>文件夹的操作权限</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b="1" kern="100" dirty="0">
                <a:latin typeface="宋体" panose="02010600030101010101" pitchFamily="2" charset="-122"/>
                <a:ea typeface="宋体" panose="02010600030101010101" pitchFamily="2" charset="-122"/>
                <a:cs typeface="Times New Roman" panose="02020603050405020304" pitchFamily="18" charset="0"/>
              </a:rPr>
              <a:t>touch index serial </a:t>
            </a:r>
            <a:r>
              <a:rPr lang="en-US" altLang="zh-CN" b="1" kern="100" dirty="0" err="1">
                <a:latin typeface="宋体" panose="02010600030101010101" pitchFamily="2" charset="-122"/>
                <a:ea typeface="宋体" panose="02010600030101010101" pitchFamily="2" charset="-122"/>
                <a:cs typeface="Times New Roman" panose="02020603050405020304" pitchFamily="18" charset="0"/>
              </a:rPr>
              <a:t>crlnumber</a:t>
            </a: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kern="100" dirty="0">
                <a:latin typeface="宋体" panose="02010600030101010101" pitchFamily="2" charset="-122"/>
                <a:ea typeface="宋体" panose="02010600030101010101" pitchFamily="2" charset="-122"/>
                <a:cs typeface="Times New Roman" panose="02020603050405020304" pitchFamily="18" charset="0"/>
              </a:rPr>
              <a:t>创建证书信息数据库</a:t>
            </a:r>
            <a:r>
              <a:rPr lang="zh-CN" altLang="en-US" kern="100" dirty="0">
                <a:latin typeface="宋体" panose="02010600030101010101" pitchFamily="2" charset="-122"/>
                <a:ea typeface="宋体" panose="02010600030101010101" pitchFamily="2" charset="-122"/>
                <a:cs typeface="Times New Roman" panose="02020603050405020304" pitchFamily="18" charset="0"/>
              </a:rPr>
              <a:t>、证书序号文件、</a:t>
            </a:r>
            <a:r>
              <a:rPr lang="en-US" altLang="zh-CN" kern="100" dirty="0" err="1">
                <a:latin typeface="宋体" panose="02010600030101010101" pitchFamily="2" charset="-122"/>
                <a:ea typeface="宋体" panose="02010600030101010101" pitchFamily="2" charset="-122"/>
                <a:cs typeface="Times New Roman" panose="02020603050405020304" pitchFamily="18" charset="0"/>
              </a:rPr>
              <a:t>crl</a:t>
            </a:r>
            <a:r>
              <a:rPr lang="zh-CN" altLang="en-US" kern="100" dirty="0">
                <a:latin typeface="宋体" panose="02010600030101010101" pitchFamily="2" charset="-122"/>
                <a:ea typeface="宋体" panose="02010600030101010101" pitchFamily="2" charset="-122"/>
                <a:cs typeface="Times New Roman" panose="02020603050405020304" pitchFamily="18" charset="0"/>
              </a:rPr>
              <a:t>序号文件</a:t>
            </a:r>
            <a:endParaRPr lang="zh-CN" altLang="zh-CN"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b="1" kern="100" dirty="0">
                <a:latin typeface="宋体" panose="02010600030101010101" pitchFamily="2" charset="-122"/>
                <a:ea typeface="宋体" panose="02010600030101010101" pitchFamily="2" charset="-122"/>
                <a:cs typeface="Times New Roman" panose="02020603050405020304" pitchFamily="18" charset="0"/>
              </a:rPr>
              <a:t>echo 01 &gt; serial</a:t>
            </a: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kern="100" dirty="0">
                <a:latin typeface="宋体" panose="02010600030101010101" pitchFamily="2" charset="-122"/>
                <a:ea typeface="宋体" panose="02010600030101010101" pitchFamily="2" charset="-122"/>
                <a:cs typeface="Times New Roman" panose="02020603050405020304" pitchFamily="18" charset="0"/>
              </a:rPr>
              <a:t>初始化</a:t>
            </a:r>
            <a:r>
              <a:rPr lang="zh-CN" altLang="zh-CN" kern="100" dirty="0">
                <a:latin typeface="宋体" panose="02010600030101010101" pitchFamily="2" charset="-122"/>
                <a:ea typeface="宋体" panose="02010600030101010101" pitchFamily="2" charset="-122"/>
                <a:cs typeface="Times New Roman" panose="02020603050405020304" pitchFamily="18" charset="0"/>
              </a:rPr>
              <a:t>证书的序号</a:t>
            </a:r>
            <a:endParaRPr lang="en-US" altLang="zh-CN"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b="1" kern="100" dirty="0">
                <a:latin typeface="宋体" panose="02010600030101010101" pitchFamily="2" charset="-122"/>
                <a:ea typeface="宋体" panose="02010600030101010101" pitchFamily="2" charset="-122"/>
                <a:cs typeface="Times New Roman" panose="02020603050405020304" pitchFamily="18" charset="0"/>
              </a:rPr>
              <a:t>echo 01 &gt; </a:t>
            </a:r>
            <a:r>
              <a:rPr lang="en-US" altLang="zh-CN" b="1" kern="100" dirty="0" err="1">
                <a:latin typeface="宋体" panose="02010600030101010101" pitchFamily="2" charset="-122"/>
                <a:ea typeface="宋体" panose="02010600030101010101" pitchFamily="2" charset="-122"/>
                <a:cs typeface="Times New Roman" panose="02020603050405020304" pitchFamily="18" charset="0"/>
              </a:rPr>
              <a:t>crlnumber</a:t>
            </a:r>
            <a:r>
              <a:rPr lang="en-US" altLang="zh-CN"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kern="100" dirty="0">
                <a:latin typeface="宋体" panose="02010600030101010101" pitchFamily="2" charset="-122"/>
                <a:ea typeface="宋体" panose="02010600030101010101" pitchFamily="2" charset="-122"/>
                <a:cs typeface="Times New Roman" panose="02020603050405020304" pitchFamily="18" charset="0"/>
              </a:rPr>
              <a:t>初始化吊销证书序号</a:t>
            </a:r>
            <a:endParaRPr lang="zh-CN" altLang="zh-CN" kern="100" dirty="0">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2184546" y="2696211"/>
            <a:ext cx="8289871" cy="930390"/>
          </a:xfrm>
          <a:prstGeom prst="rect">
            <a:avLst/>
          </a:prstGeom>
        </p:spPr>
      </p:pic>
      <p:sp>
        <p:nvSpPr>
          <p:cNvPr id="8" name="文本框 7"/>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9" name="文本框 8"/>
          <p:cNvSpPr txBox="1"/>
          <p:nvPr/>
        </p:nvSpPr>
        <p:spPr>
          <a:xfrm>
            <a:off x="457370" y="983973"/>
            <a:ext cx="11935307" cy="824136"/>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一、搭建私有</a:t>
            </a:r>
            <a:r>
              <a:rPr lang="en-US" altLang="zh-CN" sz="2800" b="1" dirty="0">
                <a:solidFill>
                  <a:srgbClr val="404244"/>
                </a:solidFill>
                <a:latin typeface="+mn-ea"/>
                <a:cs typeface="Helvetica" panose="020B0604020202020204" pitchFamily="34" charset="0"/>
              </a:rPr>
              <a:t>CA</a:t>
            </a:r>
            <a:endParaRPr lang="en-US" altLang="zh-CN" sz="2800" b="1" dirty="0">
              <a:solidFill>
                <a:srgbClr val="404244"/>
              </a:solidFill>
              <a:latin typeface="+mn-ea"/>
              <a:cs typeface="Helvetica" panose="020B0604020202020204" pitchFamily="34" charset="0"/>
            </a:endParaRPr>
          </a:p>
        </p:txBody>
      </p:sp>
      <p:pic>
        <p:nvPicPr>
          <p:cNvPr id="11" name="图片 10"/>
          <p:cNvPicPr>
            <a:picLocks noChangeAspect="1"/>
          </p:cNvPicPr>
          <p:nvPr/>
        </p:nvPicPr>
        <p:blipFill>
          <a:blip r:embed="rId2"/>
          <a:stretch>
            <a:fillRect/>
          </a:stretch>
        </p:blipFill>
        <p:spPr>
          <a:xfrm>
            <a:off x="1655894" y="1354872"/>
            <a:ext cx="3951156" cy="5046054"/>
          </a:xfrm>
          <a:prstGeom prst="rect">
            <a:avLst/>
          </a:prstGeom>
        </p:spPr>
      </p:pic>
      <p:pic>
        <p:nvPicPr>
          <p:cNvPr id="13" name="图片 12"/>
          <p:cNvPicPr>
            <a:picLocks noChangeAspect="1"/>
          </p:cNvPicPr>
          <p:nvPr/>
        </p:nvPicPr>
        <p:blipFill rotWithShape="1">
          <a:blip r:embed="rId3"/>
          <a:srcRect r="13402"/>
          <a:stretch>
            <a:fillRect/>
          </a:stretch>
        </p:blipFill>
        <p:spPr>
          <a:xfrm>
            <a:off x="6386630" y="1366626"/>
            <a:ext cx="4224219" cy="49652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786637"/>
            <a:ext cx="11935307" cy="2293064"/>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一、搭建私有</a:t>
            </a:r>
            <a:r>
              <a:rPr lang="en-US" altLang="zh-CN" sz="2800" b="1" dirty="0">
                <a:solidFill>
                  <a:srgbClr val="404244"/>
                </a:solidFill>
                <a:latin typeface="+mn-ea"/>
                <a:cs typeface="Helvetica" panose="020B0604020202020204" pitchFamily="34" charset="0"/>
              </a:rPr>
              <a:t>CA</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800" b="1" dirty="0">
                <a:solidFill>
                  <a:srgbClr val="404244"/>
                </a:solidFill>
                <a:latin typeface="+mn-ea"/>
                <a:cs typeface="Helvetica" panose="020B0604020202020204" pitchFamily="34" charset="0"/>
              </a:rPr>
              <a:t>2. </a:t>
            </a:r>
            <a:r>
              <a:rPr lang="zh-CN" altLang="en-US" sz="2800" b="1" dirty="0">
                <a:solidFill>
                  <a:srgbClr val="404244"/>
                </a:solidFill>
                <a:latin typeface="+mn-ea"/>
                <a:cs typeface="Helvetica" panose="020B0604020202020204" pitchFamily="34" charset="0"/>
              </a:rPr>
              <a:t>创建生成</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自签名证书的配置文件</a:t>
            </a:r>
            <a:endParaRPr lang="en-US" altLang="zh-CN" sz="2800" b="1" dirty="0">
              <a:solidFill>
                <a:srgbClr val="404244"/>
              </a:solidFill>
              <a:latin typeface="+mn-ea"/>
              <a:cs typeface="Helvetica" panose="020B0604020202020204" pitchFamily="34" charset="0"/>
            </a:endParaRPr>
          </a:p>
          <a:p>
            <a:pPr>
              <a:lnSpc>
                <a:spcPct val="200000"/>
              </a:lnSpc>
            </a:pPr>
            <a:endParaRPr lang="zh-CN" altLang="zh-CN" kern="100" dirty="0">
              <a:latin typeface="等线" panose="02010600030101010101" charset="-122"/>
              <a:ea typeface="等线" panose="02010600030101010101" charset="-122"/>
              <a:cs typeface="Times New Roman" panose="02020603050405020304" pitchFamily="18" charset="0"/>
            </a:endParaRPr>
          </a:p>
        </p:txBody>
      </p:sp>
      <p:sp>
        <p:nvSpPr>
          <p:cNvPr id="16" name="文本框 15"/>
          <p:cNvSpPr txBox="1"/>
          <p:nvPr/>
        </p:nvSpPr>
        <p:spPr>
          <a:xfrm>
            <a:off x="660400" y="2768511"/>
            <a:ext cx="8528050" cy="1689373"/>
          </a:xfrm>
          <a:prstGeom prst="rect">
            <a:avLst/>
          </a:prstGeom>
          <a:noFill/>
        </p:spPr>
        <p:txBody>
          <a:bodyPr wrap="square">
            <a:spAutoFit/>
          </a:bodyPr>
          <a:lstStyle/>
          <a:p>
            <a:pPr algn="just" latinLnBrk="1">
              <a:lnSpc>
                <a:spcPct val="150000"/>
              </a:lnSpc>
            </a:pPr>
            <a:r>
              <a:rPr lang="en-US" altLang="zh-CN" sz="1800" b="1" kern="100" dirty="0">
                <a:effectLst/>
                <a:latin typeface="宋体" panose="02010600030101010101" pitchFamily="2" charset="-122"/>
                <a:ea typeface="宋体" panose="02010600030101010101" pitchFamily="2" charset="-122"/>
                <a:cs typeface="Times New Roman" panose="02020603050405020304" pitchFamily="18" charset="0"/>
              </a:rPr>
              <a:t>cd conf</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				</a:t>
            </a:r>
            <a:endPar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进入配置文件夹</a:t>
            </a:r>
            <a:endPar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1800" b="1" kern="100" dirty="0">
                <a:effectLst/>
                <a:latin typeface="宋体" panose="02010600030101010101" pitchFamily="2" charset="-122"/>
                <a:ea typeface="宋体" panose="02010600030101010101" pitchFamily="2" charset="-122"/>
                <a:cs typeface="Times New Roman" panose="02020603050405020304" pitchFamily="18" charset="0"/>
              </a:rPr>
              <a:t>vim </a:t>
            </a:r>
            <a:r>
              <a:rPr lang="en-US" altLang="zh-CN" sz="1800" b="1" kern="100" dirty="0" err="1">
                <a:effectLst/>
                <a:latin typeface="宋体" panose="02010600030101010101" pitchFamily="2" charset="-122"/>
                <a:ea typeface="宋体" panose="02010600030101010101" pitchFamily="2" charset="-122"/>
                <a:cs typeface="Times New Roman" panose="02020603050405020304" pitchFamily="18" charset="0"/>
              </a:rPr>
              <a:t>genca.conf</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			</a:t>
            </a:r>
            <a:endPar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创建用来生成自签名证书的配置文件</a:t>
            </a:r>
            <a:endPar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p:txBody>
      </p:sp>
      <p:pic>
        <p:nvPicPr>
          <p:cNvPr id="18" name="图片 17"/>
          <p:cNvPicPr>
            <a:picLocks noChangeAspect="1"/>
          </p:cNvPicPr>
          <p:nvPr/>
        </p:nvPicPr>
        <p:blipFill>
          <a:blip r:embed="rId1"/>
          <a:stretch>
            <a:fillRect/>
          </a:stretch>
        </p:blipFill>
        <p:spPr>
          <a:xfrm>
            <a:off x="6676352" y="1218095"/>
            <a:ext cx="5024195" cy="520886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786637"/>
            <a:ext cx="11935307" cy="2293064"/>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一、搭建私有</a:t>
            </a:r>
            <a:r>
              <a:rPr lang="en-US" altLang="zh-CN" sz="2800" b="1" dirty="0">
                <a:solidFill>
                  <a:srgbClr val="404244"/>
                </a:solidFill>
                <a:latin typeface="+mn-ea"/>
                <a:cs typeface="Helvetica" panose="020B0604020202020204" pitchFamily="34" charset="0"/>
              </a:rPr>
              <a:t>CA</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800" b="1" dirty="0">
                <a:solidFill>
                  <a:srgbClr val="404244"/>
                </a:solidFill>
                <a:latin typeface="+mn-ea"/>
                <a:cs typeface="Helvetica" panose="020B0604020202020204" pitchFamily="34" charset="0"/>
              </a:rPr>
              <a:t>2. </a:t>
            </a:r>
            <a:r>
              <a:rPr lang="zh-CN" altLang="en-US" sz="2800" b="1" dirty="0">
                <a:solidFill>
                  <a:srgbClr val="404244"/>
                </a:solidFill>
                <a:latin typeface="+mn-ea"/>
                <a:cs typeface="Helvetica" panose="020B0604020202020204" pitchFamily="34" charset="0"/>
              </a:rPr>
              <a:t>创建生成</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自签名证书的配置文件</a:t>
            </a:r>
            <a:endParaRPr lang="en-US" altLang="zh-CN" sz="2800" b="1" dirty="0">
              <a:solidFill>
                <a:srgbClr val="404244"/>
              </a:solidFill>
              <a:latin typeface="+mn-ea"/>
              <a:cs typeface="Helvetica" panose="020B0604020202020204" pitchFamily="34" charset="0"/>
            </a:endParaRPr>
          </a:p>
          <a:p>
            <a:pPr>
              <a:lnSpc>
                <a:spcPct val="200000"/>
              </a:lnSpc>
            </a:pPr>
            <a:endParaRPr lang="zh-CN" altLang="zh-CN" kern="100" dirty="0">
              <a:latin typeface="等线" panose="02010600030101010101" charset="-122"/>
              <a:ea typeface="等线" panose="02010600030101010101" charset="-122"/>
              <a:cs typeface="Times New Roman" panose="02020603050405020304" pitchFamily="18" charset="0"/>
            </a:endParaRPr>
          </a:p>
        </p:txBody>
      </p:sp>
      <p:pic>
        <p:nvPicPr>
          <p:cNvPr id="15" name="图片 14"/>
          <p:cNvPicPr>
            <a:picLocks noChangeAspect="1"/>
          </p:cNvPicPr>
          <p:nvPr/>
        </p:nvPicPr>
        <p:blipFill>
          <a:blip r:embed="rId1"/>
          <a:stretch>
            <a:fillRect/>
          </a:stretch>
        </p:blipFill>
        <p:spPr>
          <a:xfrm>
            <a:off x="683260" y="2638123"/>
            <a:ext cx="7227725" cy="371393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786637"/>
            <a:ext cx="11935307" cy="2293064"/>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一、搭建私有</a:t>
            </a:r>
            <a:r>
              <a:rPr lang="en-US" altLang="zh-CN" sz="2800" b="1" dirty="0">
                <a:solidFill>
                  <a:srgbClr val="404244"/>
                </a:solidFill>
                <a:latin typeface="+mn-ea"/>
                <a:cs typeface="Helvetica" panose="020B0604020202020204" pitchFamily="34" charset="0"/>
              </a:rPr>
              <a:t>CA</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800" b="1" dirty="0">
                <a:solidFill>
                  <a:srgbClr val="404244"/>
                </a:solidFill>
                <a:latin typeface="+mn-ea"/>
                <a:cs typeface="Helvetica" panose="020B0604020202020204" pitchFamily="34" charset="0"/>
              </a:rPr>
              <a:t>3. </a:t>
            </a:r>
            <a:r>
              <a:rPr lang="zh-CN" altLang="en-US" sz="2800" b="1" dirty="0">
                <a:solidFill>
                  <a:srgbClr val="404244"/>
                </a:solidFill>
                <a:latin typeface="+mn-ea"/>
                <a:cs typeface="Helvetica" panose="020B0604020202020204" pitchFamily="34" charset="0"/>
              </a:rPr>
              <a:t>生成私有</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的私钥和自签名证书（根证书）</a:t>
            </a:r>
            <a:endParaRPr lang="en-US" altLang="zh-CN" sz="2800" b="1" dirty="0">
              <a:solidFill>
                <a:srgbClr val="404244"/>
              </a:solidFill>
              <a:latin typeface="+mn-ea"/>
              <a:cs typeface="Helvetica" panose="020B0604020202020204" pitchFamily="34" charset="0"/>
            </a:endParaRPr>
          </a:p>
          <a:p>
            <a:pPr>
              <a:lnSpc>
                <a:spcPct val="200000"/>
              </a:lnSpc>
            </a:pPr>
            <a:endParaRPr lang="zh-CN" altLang="zh-CN" kern="100" dirty="0">
              <a:latin typeface="等线" panose="02010600030101010101" charset="-122"/>
              <a:ea typeface="等线" panose="02010600030101010101" charset="-122"/>
              <a:cs typeface="Times New Roman" panose="02020603050405020304" pitchFamily="18" charset="0"/>
            </a:endParaRPr>
          </a:p>
        </p:txBody>
      </p:sp>
      <p:sp>
        <p:nvSpPr>
          <p:cNvPr id="16" name="文本框 15"/>
          <p:cNvSpPr txBox="1"/>
          <p:nvPr/>
        </p:nvSpPr>
        <p:spPr>
          <a:xfrm>
            <a:off x="521518" y="2922328"/>
            <a:ext cx="11460931" cy="2051524"/>
          </a:xfrm>
          <a:prstGeom prst="rect">
            <a:avLst/>
          </a:prstGeom>
          <a:noFill/>
        </p:spPr>
        <p:txBody>
          <a:bodyPr wrap="square">
            <a:spAutoFit/>
          </a:bodyPr>
          <a:lstStyle/>
          <a:p>
            <a:pPr algn="just" latinLnBrk="1">
              <a:lnSpc>
                <a:spcPct val="150000"/>
              </a:lnSpc>
            </a:pP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openssl req -x509 -</a:t>
            </a:r>
            <a:r>
              <a:rPr lang="en-US" altLang="zh-CN" sz="2400" b="1" kern="100" dirty="0" err="1">
                <a:latin typeface="宋体" panose="02010600030101010101" pitchFamily="2" charset="-122"/>
                <a:ea typeface="宋体" panose="02010600030101010101" pitchFamily="2" charset="-122"/>
                <a:cs typeface="Times New Roman" panose="02020603050405020304" pitchFamily="18" charset="0"/>
              </a:rPr>
              <a:t>newkey</a:t>
            </a: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 rsa:2048 -out </a:t>
            </a:r>
            <a:r>
              <a:rPr lang="en-US" altLang="zh-CN" sz="2400" b="1" kern="100" dirty="0" err="1">
                <a:latin typeface="宋体" panose="02010600030101010101" pitchFamily="2" charset="-122"/>
                <a:ea typeface="宋体" panose="02010600030101010101" pitchFamily="2" charset="-122"/>
                <a:cs typeface="Times New Roman" panose="02020603050405020304" pitchFamily="18" charset="0"/>
              </a:rPr>
              <a:t>cacert.pem</a:t>
            </a: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 -</a:t>
            </a:r>
            <a:r>
              <a:rPr lang="en-US" altLang="zh-CN" sz="2400" b="1" kern="100" dirty="0" err="1">
                <a:latin typeface="宋体" panose="02010600030101010101" pitchFamily="2" charset="-122"/>
                <a:ea typeface="宋体" panose="02010600030101010101" pitchFamily="2" charset="-122"/>
                <a:cs typeface="Times New Roman" panose="02020603050405020304" pitchFamily="18" charset="0"/>
              </a:rPr>
              <a:t>outform</a:t>
            </a: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 PEM -days 2190 -config /root/</a:t>
            </a:r>
            <a:r>
              <a:rPr lang="en-US" altLang="zh-CN" sz="2400" b="1" kern="100" dirty="0" err="1">
                <a:latin typeface="宋体" panose="02010600030101010101" pitchFamily="2" charset="-122"/>
                <a:ea typeface="宋体" panose="02010600030101010101" pitchFamily="2" charset="-122"/>
                <a:cs typeface="Times New Roman" panose="02020603050405020304" pitchFamily="18" charset="0"/>
              </a:rPr>
              <a:t>myCA</a:t>
            </a: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/conf/</a:t>
            </a:r>
            <a:r>
              <a:rPr lang="en-US" altLang="zh-CN" sz="2400" b="1" kern="100" dirty="0" err="1">
                <a:latin typeface="宋体" panose="02010600030101010101" pitchFamily="2" charset="-122"/>
                <a:ea typeface="宋体" panose="02010600030101010101" pitchFamily="2" charset="-122"/>
                <a:cs typeface="Times New Roman" panose="02020603050405020304" pitchFamily="18" charset="0"/>
              </a:rPr>
              <a:t>genca.conf</a:t>
            </a: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          </a:t>
            </a:r>
            <a:endParaRPr lang="en-US" altLang="zh-CN" sz="2400" b="1"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回到</a:t>
            </a:r>
            <a:r>
              <a:rPr lang="en-US" altLang="zh-CN" sz="2000" kern="100" dirty="0" err="1">
                <a:latin typeface="宋体" panose="02010600030101010101" pitchFamily="2" charset="-122"/>
                <a:ea typeface="宋体" panose="02010600030101010101" pitchFamily="2" charset="-122"/>
                <a:cs typeface="Times New Roman" panose="02020603050405020304" pitchFamily="18" charset="0"/>
              </a:rPr>
              <a:t>myCA</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根目录下，</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生成</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x509</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自签名证</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书，过程中需要输入</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CA</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私钥的保护密码，请牢记。</a:t>
            </a:r>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//CA</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会按照</a:t>
            </a:r>
            <a:r>
              <a:rPr lang="en-US" altLang="zh-CN" sz="2000" kern="100">
                <a:latin typeface="宋体" panose="02010600030101010101" pitchFamily="2" charset="-122"/>
                <a:ea typeface="宋体" panose="02010600030101010101" pitchFamily="2" charset="-122"/>
                <a:cs typeface="Times New Roman" panose="02020603050405020304" pitchFamily="18" charset="0"/>
              </a:rPr>
              <a:t>genca</a:t>
            </a:r>
            <a:r>
              <a:rPr lang="en-US" altLang="zh-CN" sz="2000" kern="100" dirty="0" err="1">
                <a:latin typeface="宋体" panose="02010600030101010101" pitchFamily="2" charset="-122"/>
                <a:ea typeface="宋体" panose="02010600030101010101" pitchFamily="2" charset="-122"/>
                <a:cs typeface="Times New Roman" panose="02020603050405020304" pitchFamily="18" charset="0"/>
              </a:rPr>
              <a:t>.conf</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文件中配置的规则自签名生成证书</a:t>
            </a:r>
            <a:endParaRPr lang="zh-CN" altLang="en-US" sz="2000" kern="100" dirty="0">
              <a:latin typeface="宋体" panose="02010600030101010101" pitchFamily="2" charset="-122"/>
              <a:ea typeface="宋体" panose="02010600030101010101" pitchFamily="2" charset="-122"/>
              <a:cs typeface="Times New Roman" panose="02020603050405020304" pitchFamily="18" charset="0"/>
            </a:endParaRPr>
          </a:p>
        </p:txBody>
      </p:sp>
      <p:pic>
        <p:nvPicPr>
          <p:cNvPr id="15" name="图片 14"/>
          <p:cNvPicPr>
            <a:picLocks noChangeAspect="1"/>
          </p:cNvPicPr>
          <p:nvPr/>
        </p:nvPicPr>
        <p:blipFill>
          <a:blip r:embed="rId1"/>
          <a:stretch>
            <a:fillRect/>
          </a:stretch>
        </p:blipFill>
        <p:spPr>
          <a:xfrm>
            <a:off x="434128" y="5333715"/>
            <a:ext cx="11323743" cy="1273179"/>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786637"/>
            <a:ext cx="11935307" cy="2293064"/>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一、搭建私有</a:t>
            </a:r>
            <a:r>
              <a:rPr lang="en-US" altLang="zh-CN" sz="2800" b="1" dirty="0">
                <a:solidFill>
                  <a:srgbClr val="404244"/>
                </a:solidFill>
                <a:latin typeface="+mn-ea"/>
                <a:cs typeface="Helvetica" panose="020B0604020202020204" pitchFamily="34" charset="0"/>
              </a:rPr>
              <a:t>CA</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800" b="1" dirty="0">
                <a:solidFill>
                  <a:srgbClr val="404244"/>
                </a:solidFill>
                <a:latin typeface="+mn-ea"/>
                <a:cs typeface="Helvetica" panose="020B0604020202020204" pitchFamily="34" charset="0"/>
              </a:rPr>
              <a:t>3. </a:t>
            </a:r>
            <a:r>
              <a:rPr lang="zh-CN" altLang="en-US" sz="2800" b="1" dirty="0">
                <a:solidFill>
                  <a:srgbClr val="404244"/>
                </a:solidFill>
                <a:latin typeface="+mn-ea"/>
                <a:cs typeface="Helvetica" panose="020B0604020202020204" pitchFamily="34" charset="0"/>
              </a:rPr>
              <a:t>生成私有</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的私钥和自签名证书（根证书）</a:t>
            </a:r>
            <a:endParaRPr lang="en-US" altLang="zh-CN" sz="2800" b="1" dirty="0">
              <a:solidFill>
                <a:srgbClr val="404244"/>
              </a:solidFill>
              <a:latin typeface="+mn-ea"/>
              <a:cs typeface="Helvetica" panose="020B0604020202020204" pitchFamily="34" charset="0"/>
            </a:endParaRPr>
          </a:p>
          <a:p>
            <a:pPr>
              <a:lnSpc>
                <a:spcPct val="200000"/>
              </a:lnSpc>
            </a:pPr>
            <a:endParaRPr lang="zh-CN" altLang="zh-CN" kern="100" dirty="0">
              <a:latin typeface="等线" panose="02010600030101010101" charset="-122"/>
              <a:ea typeface="等线" panose="02010600030101010101" charset="-122"/>
              <a:cs typeface="Times New Roman" panose="02020603050405020304" pitchFamily="18" charset="0"/>
            </a:endParaRPr>
          </a:p>
        </p:txBody>
      </p:sp>
      <p:sp>
        <p:nvSpPr>
          <p:cNvPr id="16" name="文本框 15"/>
          <p:cNvSpPr txBox="1"/>
          <p:nvPr/>
        </p:nvSpPr>
        <p:spPr>
          <a:xfrm>
            <a:off x="521518" y="2922328"/>
            <a:ext cx="11460931" cy="1113766"/>
          </a:xfrm>
          <a:prstGeom prst="rect">
            <a:avLst/>
          </a:prstGeom>
          <a:noFill/>
        </p:spPr>
        <p:txBody>
          <a:bodyPr wrap="square">
            <a:spAutoFit/>
          </a:bodyPr>
          <a:lstStyle/>
          <a:p>
            <a:pPr algn="just" latinLnBrk="1">
              <a:lnSpc>
                <a:spcPct val="150000"/>
              </a:lnSpc>
            </a:pP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openssl x509 -in </a:t>
            </a:r>
            <a:r>
              <a:rPr lang="en-US" altLang="zh-CN" sz="2400" b="1" kern="100" dirty="0" err="1">
                <a:latin typeface="宋体" panose="02010600030101010101" pitchFamily="2" charset="-122"/>
                <a:ea typeface="宋体" panose="02010600030101010101" pitchFamily="2" charset="-122"/>
                <a:cs typeface="Times New Roman" panose="02020603050405020304" pitchFamily="18" charset="0"/>
              </a:rPr>
              <a:t>cacert.pem</a:t>
            </a: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 -text -</a:t>
            </a:r>
            <a:r>
              <a:rPr lang="en-US" altLang="zh-CN" sz="2400" b="1" kern="100" dirty="0" err="1">
                <a:latin typeface="宋体" panose="02010600030101010101" pitchFamily="2" charset="-122"/>
                <a:ea typeface="宋体" panose="02010600030101010101" pitchFamily="2" charset="-122"/>
                <a:cs typeface="Times New Roman" panose="02020603050405020304" pitchFamily="18" charset="0"/>
              </a:rPr>
              <a:t>noout</a:t>
            </a: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	</a:t>
            </a:r>
            <a:endParaRPr lang="en-US" altLang="zh-CN" sz="2400" b="1"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查看</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CA</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自签名证书</a:t>
            </a:r>
            <a:endParaRPr lang="zh-CN" altLang="en-US" sz="2000" kern="100" dirty="0">
              <a:latin typeface="宋体" panose="02010600030101010101" pitchFamily="2" charset="-122"/>
              <a:ea typeface="宋体" panose="02010600030101010101" pitchFamily="2" charset="-122"/>
              <a:cs typeface="Times New Roman" panose="02020603050405020304" pitchFamily="18" charset="0"/>
            </a:endParaRPr>
          </a:p>
        </p:txBody>
      </p:sp>
      <p:pic>
        <p:nvPicPr>
          <p:cNvPr id="17" name="图片 16"/>
          <p:cNvPicPr>
            <a:picLocks noChangeAspect="1"/>
          </p:cNvPicPr>
          <p:nvPr/>
        </p:nvPicPr>
        <p:blipFill>
          <a:blip r:embed="rId1"/>
          <a:stretch>
            <a:fillRect/>
          </a:stretch>
        </p:blipFill>
        <p:spPr>
          <a:xfrm>
            <a:off x="6251983" y="625150"/>
            <a:ext cx="5838868" cy="5981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964923"/>
            <a:ext cx="11935307" cy="1685911"/>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二、私有</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为服务器签发证书</a:t>
            </a:r>
            <a:endParaRPr lang="en-US" altLang="zh-CN" sz="2800" b="1" dirty="0">
              <a:solidFill>
                <a:srgbClr val="404244"/>
              </a:solidFill>
              <a:latin typeface="+mn-ea"/>
              <a:cs typeface="Helvetica" panose="020B0604020202020204" pitchFamily="34" charset="0"/>
            </a:endParaRPr>
          </a:p>
          <a:p>
            <a:pPr marL="514350" indent="-514350">
              <a:lnSpc>
                <a:spcPct val="200000"/>
              </a:lnSpc>
              <a:buAutoNum type="arabicPeriod"/>
            </a:pPr>
            <a:r>
              <a:rPr lang="zh-CN" altLang="en-US" sz="2800" b="1" dirty="0">
                <a:solidFill>
                  <a:srgbClr val="404244"/>
                </a:solidFill>
                <a:latin typeface="+mn-ea"/>
                <a:cs typeface="Helvetica" panose="020B0604020202020204" pitchFamily="34" charset="0"/>
              </a:rPr>
              <a:t>创建用来为其他请求签发证书的配置文件</a:t>
            </a:r>
            <a:endParaRPr lang="en-US" altLang="zh-CN" sz="2800" b="1" dirty="0">
              <a:solidFill>
                <a:srgbClr val="404244"/>
              </a:solidFill>
              <a:latin typeface="+mn-ea"/>
              <a:cs typeface="Helvetica" panose="020B0604020202020204" pitchFamily="34" charset="0"/>
            </a:endParaRPr>
          </a:p>
        </p:txBody>
      </p:sp>
      <p:sp>
        <p:nvSpPr>
          <p:cNvPr id="14" name="文本框 13"/>
          <p:cNvSpPr txBox="1"/>
          <p:nvPr/>
        </p:nvSpPr>
        <p:spPr>
          <a:xfrm>
            <a:off x="660400" y="2951422"/>
            <a:ext cx="8528050" cy="2221762"/>
          </a:xfrm>
          <a:prstGeom prst="rect">
            <a:avLst/>
          </a:prstGeom>
          <a:noFill/>
        </p:spPr>
        <p:txBody>
          <a:bodyPr wrap="square">
            <a:spAutoFit/>
          </a:bodyPr>
          <a:lstStyle/>
          <a:p>
            <a:pPr algn="just" latinLnBrk="1">
              <a:lnSpc>
                <a:spcPct val="150000"/>
              </a:lnSpc>
            </a:pPr>
            <a:r>
              <a:rPr lang="en-US" altLang="zh-CN" sz="2400" b="1" kern="100" dirty="0">
                <a:effectLst/>
                <a:latin typeface="宋体" panose="02010600030101010101" pitchFamily="2" charset="-122"/>
                <a:ea typeface="宋体" panose="02010600030101010101" pitchFamily="2" charset="-122"/>
                <a:cs typeface="Times New Roman" panose="02020603050405020304" pitchFamily="18" charset="0"/>
              </a:rPr>
              <a:t>cd conf</a:t>
            </a:r>
            <a:r>
              <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rPr>
              <a:t>				</a:t>
            </a:r>
            <a:endPar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再次</a:t>
            </a: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进入配置文件夹</a:t>
            </a:r>
            <a:endPar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400" b="1" kern="100" dirty="0">
                <a:effectLst/>
                <a:latin typeface="宋体" panose="02010600030101010101" pitchFamily="2" charset="-122"/>
                <a:ea typeface="宋体" panose="02010600030101010101" pitchFamily="2" charset="-122"/>
                <a:cs typeface="Times New Roman" panose="02020603050405020304" pitchFamily="18" charset="0"/>
              </a:rPr>
              <a:t>vim </a:t>
            </a:r>
            <a:r>
              <a:rPr lang="en-US" altLang="zh-CN" sz="2400" b="1" kern="100" dirty="0" err="1">
                <a:effectLst/>
                <a:latin typeface="宋体" panose="02010600030101010101" pitchFamily="2" charset="-122"/>
                <a:ea typeface="宋体" panose="02010600030101010101" pitchFamily="2" charset="-122"/>
                <a:cs typeface="Times New Roman" panose="02020603050405020304" pitchFamily="18" charset="0"/>
              </a:rPr>
              <a:t>ca.conf</a:t>
            </a:r>
            <a:r>
              <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rPr>
              <a:t>			</a:t>
            </a:r>
            <a:endPar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4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rPr>
              <a:t>创建用来</a:t>
            </a:r>
            <a:r>
              <a:rPr lang="zh-CN" altLang="en-US" sz="2400" kern="100" dirty="0">
                <a:effectLst/>
                <a:latin typeface="宋体" panose="02010600030101010101" pitchFamily="2" charset="-122"/>
                <a:ea typeface="宋体" panose="02010600030101010101" pitchFamily="2" charset="-122"/>
                <a:cs typeface="Times New Roman" panose="02020603050405020304" pitchFamily="18" charset="0"/>
              </a:rPr>
              <a:t>为其他请求签发证书的配置文件</a:t>
            </a:r>
            <a:endParaRPr lang="zh-CN" altLang="zh-CN" sz="2400" kern="100" dirty="0">
              <a:effectLst/>
              <a:latin typeface="宋体" panose="02010600030101010101" pitchFamily="2" charset="-122"/>
              <a:ea typeface="宋体" panose="02010600030101010101" pitchFamily="2" charset="-122"/>
              <a:cs typeface="Times New Roman" panose="02020603050405020304" pitchFamily="18" charset="0"/>
            </a:endParaRPr>
          </a:p>
        </p:txBody>
      </p:sp>
      <p:pic>
        <p:nvPicPr>
          <p:cNvPr id="16" name="图片 15"/>
          <p:cNvPicPr>
            <a:picLocks noChangeAspect="1"/>
          </p:cNvPicPr>
          <p:nvPr/>
        </p:nvPicPr>
        <p:blipFill>
          <a:blip r:embed="rId1"/>
          <a:stretch>
            <a:fillRect/>
          </a:stretch>
        </p:blipFill>
        <p:spPr>
          <a:xfrm>
            <a:off x="5832797" y="1327687"/>
            <a:ext cx="6224716" cy="49368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983973"/>
            <a:ext cx="11935307" cy="1685911"/>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二、私有</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为服务器签发证书</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800" b="1" dirty="0">
                <a:solidFill>
                  <a:srgbClr val="404244"/>
                </a:solidFill>
                <a:latin typeface="+mn-ea"/>
                <a:cs typeface="Helvetica" panose="020B0604020202020204" pitchFamily="34" charset="0"/>
              </a:rPr>
              <a:t>2. </a:t>
            </a:r>
            <a:r>
              <a:rPr lang="zh-CN" altLang="en-US" sz="2800" b="1" dirty="0">
                <a:solidFill>
                  <a:srgbClr val="404244"/>
                </a:solidFill>
                <a:latin typeface="+mn-ea"/>
                <a:cs typeface="Helvetica" panose="020B0604020202020204" pitchFamily="34" charset="0"/>
              </a:rPr>
              <a:t>模拟服务器，生成私钥与证书申请的请求文件</a:t>
            </a:r>
            <a:endParaRPr lang="en-US" altLang="zh-CN" sz="2800" b="1" dirty="0">
              <a:solidFill>
                <a:srgbClr val="404244"/>
              </a:solidFill>
              <a:latin typeface="+mn-ea"/>
              <a:cs typeface="Helvetica" panose="020B0604020202020204" pitchFamily="34" charset="0"/>
            </a:endParaRPr>
          </a:p>
        </p:txBody>
      </p:sp>
      <p:sp>
        <p:nvSpPr>
          <p:cNvPr id="15" name="文本框 14"/>
          <p:cNvSpPr txBox="1"/>
          <p:nvPr/>
        </p:nvSpPr>
        <p:spPr>
          <a:xfrm>
            <a:off x="457370" y="2659688"/>
            <a:ext cx="10855573" cy="3251852"/>
          </a:xfrm>
          <a:prstGeom prst="rect">
            <a:avLst/>
          </a:prstGeom>
          <a:noFill/>
        </p:spPr>
        <p:txBody>
          <a:bodyPr wrap="square">
            <a:spAutoFit/>
          </a:bodyPr>
          <a:lstStyle/>
          <a:p>
            <a:pPr algn="just" latinLnBrk="1">
              <a:lnSpc>
                <a:spcPct val="150000"/>
              </a:lnSpc>
            </a:pP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mkdir</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 server				</a:t>
            </a:r>
            <a:endParaRPr lang="en-US" altLang="zh-CN" sz="2000" b="1"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在任意路径下创建服务器文件夹</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server</a:t>
            </a:r>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cd server</a:t>
            </a:r>
            <a:endParaRPr lang="zh-CN" altLang="zh-CN" sz="2000" b="1"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openssl req -</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newkey</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 rsa:1024	-</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keyout</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 </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server.key</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 -out </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serverreq.pem</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 -subj “/O=</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ServerCom</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/OU=</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ServerOU</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/CN=server”</a:t>
            </a:r>
            <a:endParaRPr lang="zh-CN" altLang="zh-CN" sz="2000" b="1"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生成</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server</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的</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1024</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位私钥</a:t>
            </a:r>
            <a:r>
              <a:rPr lang="en-US" altLang="zh-CN" sz="2000" kern="100" dirty="0" err="1">
                <a:latin typeface="宋体" panose="02010600030101010101" pitchFamily="2" charset="-122"/>
                <a:ea typeface="宋体" panose="02010600030101010101" pitchFamily="2" charset="-122"/>
                <a:cs typeface="Times New Roman" panose="02020603050405020304" pitchFamily="18" charset="0"/>
              </a:rPr>
              <a:t>server.key</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和证书申请的请求文件</a:t>
            </a:r>
            <a:r>
              <a:rPr lang="en-US" altLang="zh-CN" sz="2000" kern="100" dirty="0" err="1">
                <a:latin typeface="宋体" panose="02010600030101010101" pitchFamily="2" charset="-122"/>
                <a:ea typeface="宋体" panose="02010600030101010101" pitchFamily="2" charset="-122"/>
                <a:cs typeface="Times New Roman" panose="02020603050405020304" pitchFamily="18" charset="0"/>
              </a:rPr>
              <a:t>serverreq.pem</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，此时需要设置服务器的私钥保护密码，请牢记</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p:txBody>
      </p:sp>
      <p:pic>
        <p:nvPicPr>
          <p:cNvPr id="17" name="图片 16"/>
          <p:cNvPicPr>
            <a:picLocks noChangeAspect="1"/>
          </p:cNvPicPr>
          <p:nvPr/>
        </p:nvPicPr>
        <p:blipFill>
          <a:blip r:embed="rId1"/>
          <a:stretch>
            <a:fillRect/>
          </a:stretch>
        </p:blipFill>
        <p:spPr>
          <a:xfrm>
            <a:off x="910009" y="5551475"/>
            <a:ext cx="9853685" cy="111919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983973"/>
            <a:ext cx="11935307" cy="1685911"/>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二、私有</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为服务器签发证书</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800" b="1" dirty="0">
                <a:solidFill>
                  <a:srgbClr val="404244"/>
                </a:solidFill>
                <a:latin typeface="+mn-ea"/>
                <a:cs typeface="Helvetica" panose="020B0604020202020204" pitchFamily="34" charset="0"/>
              </a:rPr>
              <a:t>3. CA</a:t>
            </a:r>
            <a:r>
              <a:rPr lang="zh-CN" altLang="en-US" sz="2800" b="1" dirty="0">
                <a:solidFill>
                  <a:srgbClr val="404244"/>
                </a:solidFill>
                <a:latin typeface="+mn-ea"/>
                <a:cs typeface="Helvetica" panose="020B0604020202020204" pitchFamily="34" charset="0"/>
              </a:rPr>
              <a:t>根据服务器的证书请求文件生成证书并将其返回给服务器</a:t>
            </a:r>
            <a:endParaRPr lang="en-US" altLang="zh-CN" sz="2800" b="1" dirty="0">
              <a:solidFill>
                <a:srgbClr val="404244"/>
              </a:solidFill>
              <a:latin typeface="+mn-ea"/>
              <a:cs typeface="Helvetica" panose="020B0604020202020204" pitchFamily="34" charset="0"/>
            </a:endParaRPr>
          </a:p>
        </p:txBody>
      </p:sp>
      <p:sp>
        <p:nvSpPr>
          <p:cNvPr id="15" name="文本框 14"/>
          <p:cNvSpPr txBox="1"/>
          <p:nvPr/>
        </p:nvSpPr>
        <p:spPr>
          <a:xfrm>
            <a:off x="479176" y="2867220"/>
            <a:ext cx="10588874" cy="1405193"/>
          </a:xfrm>
          <a:prstGeom prst="rect">
            <a:avLst/>
          </a:prstGeom>
          <a:noFill/>
        </p:spPr>
        <p:txBody>
          <a:bodyPr wrap="square">
            <a:spAutoFit/>
          </a:bodyPr>
          <a:lstStyle/>
          <a:p>
            <a:pPr algn="just" latinLnBrk="1">
              <a:lnSpc>
                <a:spcPct val="150000"/>
              </a:lnSpc>
            </a:pP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openssl ca -in </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serverreq.pem</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 -out server.crt -config /root/</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myCA</a:t>
            </a:r>
            <a:r>
              <a:rPr lang="en-US" altLang="zh-CN" sz="2000" b="1" kern="100" dirty="0">
                <a:latin typeface="宋体" panose="02010600030101010101" pitchFamily="2" charset="-122"/>
                <a:ea typeface="宋体" panose="02010600030101010101" pitchFamily="2" charset="-122"/>
                <a:cs typeface="Times New Roman" panose="02020603050405020304" pitchFamily="18" charset="0"/>
              </a:rPr>
              <a:t>/conf/</a:t>
            </a:r>
            <a:r>
              <a:rPr lang="en-US" altLang="zh-CN" sz="2000" b="1" kern="100" dirty="0" err="1">
                <a:latin typeface="宋体" panose="02010600030101010101" pitchFamily="2" charset="-122"/>
                <a:ea typeface="宋体" panose="02010600030101010101" pitchFamily="2" charset="-122"/>
                <a:cs typeface="Times New Roman" panose="02020603050405020304" pitchFamily="18" charset="0"/>
              </a:rPr>
              <a:t>ca.conf</a:t>
            </a:r>
            <a:endParaRPr lang="zh-CN" altLang="zh-CN" sz="2000" b="1"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向私有</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CA</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提交</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证书请求文件</a:t>
            </a:r>
            <a:r>
              <a:rPr lang="en-US" altLang="zh-CN" sz="2000" kern="100" dirty="0" err="1">
                <a:latin typeface="宋体" panose="02010600030101010101" pitchFamily="2" charset="-122"/>
                <a:ea typeface="宋体" panose="02010600030101010101" pitchFamily="2" charset="-122"/>
                <a:cs typeface="Times New Roman" panose="02020603050405020304" pitchFamily="18" charset="0"/>
              </a:rPr>
              <a:t>serverreq.pem</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CA</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生成并返回证书</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server.crt</a:t>
            </a:r>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pPr algn="just" latinLnBrk="1">
              <a:lnSpc>
                <a:spcPct val="150000"/>
              </a:lnSpc>
            </a:pP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生成证书的规则是参照之前为</a:t>
            </a:r>
            <a:r>
              <a:rPr lang="en-US" altLang="zh-CN" sz="2000" kern="100" dirty="0">
                <a:latin typeface="宋体" panose="02010600030101010101" pitchFamily="2" charset="-122"/>
                <a:ea typeface="宋体" panose="02010600030101010101" pitchFamily="2" charset="-122"/>
                <a:cs typeface="Times New Roman" panose="02020603050405020304" pitchFamily="18" charset="0"/>
              </a:rPr>
              <a:t>CA</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定义的</a:t>
            </a:r>
            <a:r>
              <a:rPr lang="en-US" altLang="zh-CN" sz="2000" kern="100" dirty="0" err="1">
                <a:latin typeface="宋体" panose="02010600030101010101" pitchFamily="2" charset="-122"/>
                <a:ea typeface="宋体" panose="02010600030101010101" pitchFamily="2" charset="-122"/>
                <a:cs typeface="Times New Roman" panose="02020603050405020304" pitchFamily="18" charset="0"/>
              </a:rPr>
              <a:t>ca.conf</a:t>
            </a:r>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配置文件执行的</a:t>
            </a:r>
            <a:endParaRPr lang="zh-CN" altLang="zh-CN" sz="2000" kern="100" dirty="0">
              <a:latin typeface="宋体" panose="02010600030101010101" pitchFamily="2" charset="-122"/>
              <a:ea typeface="宋体" panose="02010600030101010101" pitchFamily="2" charset="-122"/>
              <a:cs typeface="Times New Roman" panose="02020603050405020304" pitchFamily="18" charset="0"/>
            </a:endParaRPr>
          </a:p>
        </p:txBody>
      </p:sp>
      <p:pic>
        <p:nvPicPr>
          <p:cNvPr id="17" name="图片 16"/>
          <p:cNvPicPr>
            <a:picLocks noChangeAspect="1"/>
          </p:cNvPicPr>
          <p:nvPr/>
        </p:nvPicPr>
        <p:blipFill>
          <a:blip r:embed="rId1"/>
          <a:stretch>
            <a:fillRect/>
          </a:stretch>
        </p:blipFill>
        <p:spPr>
          <a:xfrm>
            <a:off x="2558655" y="4469749"/>
            <a:ext cx="7074690" cy="23057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983973"/>
            <a:ext cx="11935307" cy="1685911"/>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二、私有</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为服务器签发证书</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800" b="1" dirty="0">
                <a:solidFill>
                  <a:srgbClr val="404244"/>
                </a:solidFill>
                <a:latin typeface="+mn-ea"/>
                <a:cs typeface="Helvetica" panose="020B0604020202020204" pitchFamily="34" charset="0"/>
              </a:rPr>
              <a:t>3. CA</a:t>
            </a:r>
            <a:r>
              <a:rPr lang="zh-CN" altLang="en-US" sz="2800" b="1" dirty="0">
                <a:solidFill>
                  <a:srgbClr val="404244"/>
                </a:solidFill>
                <a:latin typeface="+mn-ea"/>
                <a:cs typeface="Helvetica" panose="020B0604020202020204" pitchFamily="34" charset="0"/>
              </a:rPr>
              <a:t>根据服务器的证书请求文件生成证书并将其返回给服务器</a:t>
            </a:r>
            <a:endParaRPr lang="en-US" altLang="zh-CN" sz="2800" b="1" dirty="0">
              <a:solidFill>
                <a:srgbClr val="404244"/>
              </a:solidFill>
              <a:latin typeface="+mn-ea"/>
              <a:cs typeface="Helvetica" panose="020B0604020202020204" pitchFamily="34" charset="0"/>
            </a:endParaRPr>
          </a:p>
        </p:txBody>
      </p:sp>
      <p:pic>
        <p:nvPicPr>
          <p:cNvPr id="16" name="图片 15"/>
          <p:cNvPicPr>
            <a:picLocks noChangeAspect="1"/>
          </p:cNvPicPr>
          <p:nvPr/>
        </p:nvPicPr>
        <p:blipFill>
          <a:blip r:embed="rId1"/>
          <a:stretch>
            <a:fillRect/>
          </a:stretch>
        </p:blipFill>
        <p:spPr>
          <a:xfrm>
            <a:off x="660400" y="3506125"/>
            <a:ext cx="8316935" cy="495302"/>
          </a:xfrm>
          <a:prstGeom prst="rect">
            <a:avLst/>
          </a:prstGeom>
        </p:spPr>
      </p:pic>
      <p:sp>
        <p:nvSpPr>
          <p:cNvPr id="19" name="文本框 18"/>
          <p:cNvSpPr txBox="1"/>
          <p:nvPr/>
        </p:nvSpPr>
        <p:spPr>
          <a:xfrm>
            <a:off x="573330" y="3059668"/>
            <a:ext cx="6197600" cy="1938992"/>
          </a:xfrm>
          <a:prstGeom prst="rect">
            <a:avLst/>
          </a:prstGeom>
          <a:noFill/>
        </p:spPr>
        <p:txBody>
          <a:bodyPr wrap="square">
            <a:spAutoFit/>
          </a:bodyPr>
          <a:lstStyle/>
          <a:p>
            <a:r>
              <a:rPr lang="zh-CN" altLang="zh-CN" sz="2000" kern="100" dirty="0">
                <a:latin typeface="宋体" panose="02010600030101010101" pitchFamily="2" charset="-122"/>
                <a:ea typeface="宋体" panose="02010600030101010101" pitchFamily="2" charset="-122"/>
                <a:cs typeface="Times New Roman" panose="02020603050405020304" pitchFamily="18" charset="0"/>
              </a:rPr>
              <a:t>证书信息数据库</a:t>
            </a:r>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更新</a:t>
            </a:r>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a:p>
            <a:r>
              <a:rPr lang="zh-CN" altLang="en-US" sz="2000" kern="100" dirty="0">
                <a:latin typeface="宋体" panose="02010600030101010101" pitchFamily="2" charset="-122"/>
                <a:ea typeface="宋体" panose="02010600030101010101" pitchFamily="2" charset="-122"/>
                <a:cs typeface="Times New Roman" panose="02020603050405020304" pitchFamily="18" charset="0"/>
              </a:rPr>
              <a:t>证书目录中生成了新证书备份</a:t>
            </a:r>
            <a:endParaRPr lang="en-US" altLang="zh-CN" sz="2000" kern="100" dirty="0">
              <a:latin typeface="宋体" panose="02010600030101010101" pitchFamily="2" charset="-122"/>
              <a:ea typeface="宋体" panose="02010600030101010101" pitchFamily="2" charset="-122"/>
              <a:cs typeface="Times New Roman" panose="02020603050405020304" pitchFamily="18" charset="0"/>
            </a:endParaRPr>
          </a:p>
        </p:txBody>
      </p:sp>
      <p:pic>
        <p:nvPicPr>
          <p:cNvPr id="21" name="图片 20"/>
          <p:cNvPicPr>
            <a:picLocks noChangeAspect="1"/>
          </p:cNvPicPr>
          <p:nvPr/>
        </p:nvPicPr>
        <p:blipFill>
          <a:blip r:embed="rId2"/>
          <a:stretch>
            <a:fillRect/>
          </a:stretch>
        </p:blipFill>
        <p:spPr>
          <a:xfrm>
            <a:off x="660400" y="5112817"/>
            <a:ext cx="8269327" cy="61515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983973"/>
            <a:ext cx="11935307" cy="1685911"/>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三、私有</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为客户端签发证书</a:t>
            </a:r>
            <a:endParaRPr lang="en-US" altLang="zh-CN" sz="2800" b="1" dirty="0">
              <a:solidFill>
                <a:srgbClr val="404244"/>
              </a:solidFill>
              <a:latin typeface="+mn-ea"/>
              <a:cs typeface="Helvetica" panose="020B0604020202020204" pitchFamily="34" charset="0"/>
            </a:endParaRPr>
          </a:p>
          <a:p>
            <a:pPr>
              <a:lnSpc>
                <a:spcPct val="200000"/>
              </a:lnSpc>
            </a:pPr>
            <a:r>
              <a:rPr lang="en-US" altLang="zh-CN" sz="2800" b="1" dirty="0">
                <a:solidFill>
                  <a:srgbClr val="404244"/>
                </a:solidFill>
                <a:latin typeface="+mn-ea"/>
                <a:cs typeface="Helvetica" panose="020B0604020202020204" pitchFamily="34" charset="0"/>
              </a:rPr>
              <a:t>……</a:t>
            </a:r>
            <a:endParaRPr lang="en-US" altLang="zh-CN" sz="2800" b="1" dirty="0">
              <a:solidFill>
                <a:srgbClr val="404244"/>
              </a:solidFill>
              <a:latin typeface="+mn-ea"/>
              <a:cs typeface="Helvetica"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983973"/>
            <a:ext cx="11935307" cy="3409459"/>
          </a:xfrm>
          <a:prstGeom prst="rect">
            <a:avLst/>
          </a:prstGeom>
          <a:noFill/>
        </p:spPr>
        <p:txBody>
          <a:bodyPr wrap="square">
            <a:spAutoFit/>
          </a:bodyPr>
          <a:lstStyle/>
          <a:p>
            <a:pPr>
              <a:lnSpc>
                <a:spcPct val="200000"/>
              </a:lnSpc>
            </a:pPr>
            <a:r>
              <a:rPr lang="zh-CN" altLang="en-US" sz="2800" b="1" dirty="0">
                <a:solidFill>
                  <a:srgbClr val="404244"/>
                </a:solidFill>
                <a:latin typeface="+mn-ea"/>
                <a:cs typeface="Helvetica" panose="020B0604020202020204" pitchFamily="34" charset="0"/>
              </a:rPr>
              <a:t>四、</a:t>
            </a:r>
            <a:r>
              <a:rPr lang="en-US" altLang="zh-CN" sz="2800" b="1" dirty="0">
                <a:solidFill>
                  <a:srgbClr val="404244"/>
                </a:solidFill>
                <a:latin typeface="+mn-ea"/>
                <a:cs typeface="Helvetica" panose="020B0604020202020204" pitchFamily="34" charset="0"/>
              </a:rPr>
              <a:t>CA</a:t>
            </a:r>
            <a:r>
              <a:rPr lang="zh-CN" altLang="en-US" sz="2800" b="1" dirty="0">
                <a:solidFill>
                  <a:srgbClr val="404244"/>
                </a:solidFill>
                <a:latin typeface="+mn-ea"/>
                <a:cs typeface="Helvetica" panose="020B0604020202020204" pitchFamily="34" charset="0"/>
              </a:rPr>
              <a:t>吊销用户证书</a:t>
            </a:r>
            <a:endParaRPr lang="en-US" altLang="zh-CN" sz="2800" b="1" dirty="0">
              <a:solidFill>
                <a:srgbClr val="404244"/>
              </a:solidFill>
              <a:latin typeface="+mn-ea"/>
              <a:cs typeface="Helvetica" panose="020B0604020202020204" pitchFamily="34" charset="0"/>
            </a:endParaRPr>
          </a:p>
          <a:p>
            <a:pPr marL="514350" indent="-514350">
              <a:lnSpc>
                <a:spcPct val="200000"/>
              </a:lnSpc>
              <a:buAutoNum type="arabicPeriod"/>
            </a:pPr>
            <a:r>
              <a:rPr lang="zh-CN" altLang="en-US" sz="2800" b="1" dirty="0">
                <a:solidFill>
                  <a:srgbClr val="404244"/>
                </a:solidFill>
                <a:latin typeface="+mn-ea"/>
                <a:cs typeface="Helvetica" panose="020B0604020202020204" pitchFamily="34" charset="0"/>
              </a:rPr>
              <a:t>找到需要吊销的用户证书序号</a:t>
            </a:r>
            <a:endParaRPr lang="en-US" altLang="zh-CN" sz="2800" b="1" dirty="0">
              <a:solidFill>
                <a:srgbClr val="404244"/>
              </a:solidFill>
              <a:latin typeface="+mn-ea"/>
              <a:cs typeface="Helvetica" panose="020B0604020202020204" pitchFamily="34" charset="0"/>
            </a:endParaRPr>
          </a:p>
          <a:p>
            <a:pPr marL="514350" indent="-514350">
              <a:lnSpc>
                <a:spcPct val="200000"/>
              </a:lnSpc>
              <a:buAutoNum type="arabicPeriod"/>
            </a:pPr>
            <a:r>
              <a:rPr lang="zh-CN" altLang="en-US" sz="2800" b="1" dirty="0">
                <a:solidFill>
                  <a:srgbClr val="404244"/>
                </a:solidFill>
                <a:latin typeface="+mn-ea"/>
                <a:cs typeface="Helvetica" panose="020B0604020202020204" pitchFamily="34" charset="0"/>
              </a:rPr>
              <a:t>使用</a:t>
            </a:r>
            <a:r>
              <a:rPr lang="en-US" altLang="zh-CN" sz="2800" b="1" dirty="0" err="1">
                <a:solidFill>
                  <a:srgbClr val="404244"/>
                </a:solidFill>
                <a:latin typeface="+mn-ea"/>
                <a:cs typeface="Helvetica" panose="020B0604020202020204" pitchFamily="34" charset="0"/>
              </a:rPr>
              <a:t>openssl</a:t>
            </a:r>
            <a:r>
              <a:rPr lang="en-US" altLang="zh-CN" sz="2800" b="1" dirty="0">
                <a:solidFill>
                  <a:srgbClr val="404244"/>
                </a:solidFill>
                <a:latin typeface="+mn-ea"/>
                <a:cs typeface="Helvetica" panose="020B0604020202020204" pitchFamily="34" charset="0"/>
              </a:rPr>
              <a:t> ca</a:t>
            </a:r>
            <a:r>
              <a:rPr lang="zh-CN" altLang="en-US" sz="2800" b="1" dirty="0">
                <a:solidFill>
                  <a:srgbClr val="404244"/>
                </a:solidFill>
                <a:latin typeface="+mn-ea"/>
                <a:cs typeface="Helvetica" panose="020B0604020202020204" pitchFamily="34" charset="0"/>
              </a:rPr>
              <a:t>指令完成用户证书吊销</a:t>
            </a:r>
            <a:endParaRPr lang="en-US" altLang="zh-CN" sz="2800" b="1" dirty="0">
              <a:solidFill>
                <a:srgbClr val="404244"/>
              </a:solidFill>
              <a:latin typeface="+mn-ea"/>
              <a:cs typeface="Helvetica" panose="020B0604020202020204" pitchFamily="34" charset="0"/>
            </a:endParaRPr>
          </a:p>
          <a:p>
            <a:pPr marL="514350" indent="-514350">
              <a:lnSpc>
                <a:spcPct val="200000"/>
              </a:lnSpc>
              <a:buAutoNum type="arabicPeriod"/>
            </a:pPr>
            <a:r>
              <a:rPr lang="zh-CN" altLang="en-US" sz="2800" b="1" dirty="0">
                <a:solidFill>
                  <a:srgbClr val="404244"/>
                </a:solidFill>
                <a:latin typeface="+mn-ea"/>
                <a:cs typeface="Helvetica" panose="020B0604020202020204" pitchFamily="34" charset="0"/>
              </a:rPr>
              <a:t>更新并重新生成证书吊销列表</a:t>
            </a:r>
            <a:r>
              <a:rPr lang="en-US" altLang="zh-CN" sz="2800" b="1" dirty="0">
                <a:solidFill>
                  <a:srgbClr val="404244"/>
                </a:solidFill>
                <a:latin typeface="+mn-ea"/>
                <a:cs typeface="Helvetica" panose="020B0604020202020204" pitchFamily="34" charset="0"/>
              </a:rPr>
              <a:t>CRL</a:t>
            </a:r>
            <a:endParaRPr lang="en-US" altLang="zh-CN" sz="2800" b="1" dirty="0">
              <a:solidFill>
                <a:srgbClr val="404244"/>
              </a:solidFill>
              <a:latin typeface="+mn-ea"/>
              <a:cs typeface="Helvetica" panose="020B06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实验要求</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457370" y="983973"/>
            <a:ext cx="11935307" cy="2036648"/>
          </a:xfrm>
          <a:prstGeom prst="rect">
            <a:avLst/>
          </a:prstGeom>
          <a:noFill/>
        </p:spPr>
        <p:txBody>
          <a:bodyPr wrap="square">
            <a:spAutoFit/>
          </a:bodyPr>
          <a:lstStyle/>
          <a:p>
            <a:pPr>
              <a:lnSpc>
                <a:spcPct val="200000"/>
              </a:lnSpc>
            </a:pPr>
            <a:r>
              <a:rPr lang="zh-CN" altLang="en-US" sz="3600" b="1" dirty="0">
                <a:solidFill>
                  <a:srgbClr val="C00000"/>
                </a:solidFill>
                <a:latin typeface="+mn-ea"/>
                <a:cs typeface="Helvetica" panose="020B0604020202020204" pitchFamily="34" charset="0"/>
              </a:rPr>
              <a:t>思考：</a:t>
            </a:r>
            <a:endParaRPr lang="en-US" altLang="zh-CN" sz="3600" b="1" dirty="0">
              <a:solidFill>
                <a:srgbClr val="C00000"/>
              </a:solidFill>
              <a:latin typeface="+mn-ea"/>
              <a:cs typeface="Helvetica" panose="020B0604020202020204" pitchFamily="34" charset="0"/>
            </a:endParaRPr>
          </a:p>
          <a:p>
            <a:pPr marL="457200" indent="-457200">
              <a:lnSpc>
                <a:spcPct val="200000"/>
              </a:lnSpc>
              <a:buFont typeface="Arial" panose="020B0604020202020204" pitchFamily="34" charset="0"/>
              <a:buChar char="•"/>
            </a:pPr>
            <a:r>
              <a:rPr lang="en-US" altLang="zh-CN" sz="3200" b="1" dirty="0">
                <a:solidFill>
                  <a:srgbClr val="404244"/>
                </a:solidFill>
                <a:latin typeface="+mn-ea"/>
                <a:cs typeface="Helvetica" panose="020B0604020202020204" pitchFamily="34" charset="0"/>
              </a:rPr>
              <a:t>CA</a:t>
            </a:r>
            <a:r>
              <a:rPr lang="zh-CN" altLang="en-US" sz="3200" b="1" dirty="0">
                <a:solidFill>
                  <a:srgbClr val="404244"/>
                </a:solidFill>
                <a:latin typeface="+mn-ea"/>
                <a:cs typeface="Helvetica" panose="020B0604020202020204" pitchFamily="34" charset="0"/>
              </a:rPr>
              <a:t>如何验证证书的有效性？需要考虑到哪些方面？</a:t>
            </a:r>
            <a:endParaRPr lang="en-US" altLang="zh-CN" sz="3200" b="1" dirty="0">
              <a:solidFill>
                <a:srgbClr val="404244"/>
              </a:solidFill>
              <a:latin typeface="+mn-ea"/>
              <a:cs typeface="Helvetica"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866151"/>
            <a:ext cx="6904036" cy="685799"/>
            <a:chOff x="0" y="-754379"/>
            <a:chExt cx="6904036" cy="685799"/>
          </a:xfrm>
        </p:grpSpPr>
        <p:grpSp>
          <p:nvGrpSpPr>
            <p:cNvPr id="4" name="组合 3"/>
            <p:cNvGrpSpPr/>
            <p:nvPr/>
          </p:nvGrpSpPr>
          <p:grpSpPr>
            <a:xfrm>
              <a:off x="0" y="-754379"/>
              <a:ext cx="6904036" cy="685799"/>
              <a:chOff x="1786550" y="-904875"/>
              <a:chExt cx="6904036" cy="685799"/>
            </a:xfrm>
          </p:grpSpPr>
          <p:sp>
            <p:nvSpPr>
              <p:cNvPr id="6" name="矩形 5"/>
              <p:cNvSpPr/>
              <p:nvPr/>
            </p:nvSpPr>
            <p:spPr>
              <a:xfrm>
                <a:off x="1786550" y="-904875"/>
                <a:ext cx="6904036" cy="685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 name="矩形 6"/>
              <p:cNvSpPr/>
              <p:nvPr/>
            </p:nvSpPr>
            <p:spPr>
              <a:xfrm flipH="1">
                <a:off x="1786550" y="-904875"/>
                <a:ext cx="52388" cy="6857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grpSp>
            <p:nvGrpSpPr>
              <p:cNvPr id="8" name="组合 7"/>
              <p:cNvGrpSpPr/>
              <p:nvPr/>
            </p:nvGrpSpPr>
            <p:grpSpPr>
              <a:xfrm>
                <a:off x="1943430" y="-776742"/>
                <a:ext cx="364639" cy="429532"/>
                <a:chOff x="202990" y="7474403"/>
                <a:chExt cx="364639" cy="429532"/>
              </a:xfrm>
            </p:grpSpPr>
            <p:sp>
              <p:nvSpPr>
                <p:cNvPr id="12" name="椭圆 11"/>
                <p:cNvSpPr/>
                <p:nvPr/>
              </p:nvSpPr>
              <p:spPr>
                <a:xfrm>
                  <a:off x="267138" y="7538114"/>
                  <a:ext cx="236342" cy="236342"/>
                </a:xfrm>
                <a:prstGeom prst="ellipse">
                  <a:avLst/>
                </a:prstGeom>
                <a:solidFill>
                  <a:srgbClr val="FED1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3" name="Oval 7"/>
                <p:cNvSpPr/>
                <p:nvPr/>
              </p:nvSpPr>
              <p:spPr>
                <a:xfrm>
                  <a:off x="202990" y="7474403"/>
                  <a:ext cx="364639" cy="429532"/>
                </a:xfrm>
                <a:custGeom>
                  <a:avLst/>
                  <a:gdLst>
                    <a:gd name="connsiteX0" fmla="*/ 204373 w 514281"/>
                    <a:gd name="connsiteY0" fmla="*/ 530626 h 605804"/>
                    <a:gd name="connsiteX1" fmla="*/ 204373 w 514281"/>
                    <a:gd name="connsiteY1" fmla="*/ 556952 h 605804"/>
                    <a:gd name="connsiteX2" fmla="*/ 311229 w 514281"/>
                    <a:gd name="connsiteY2" fmla="*/ 556952 h 605804"/>
                    <a:gd name="connsiteX3" fmla="*/ 311229 w 514281"/>
                    <a:gd name="connsiteY3" fmla="*/ 530626 h 605804"/>
                    <a:gd name="connsiteX4" fmla="*/ 204373 w 514281"/>
                    <a:gd name="connsiteY4" fmla="*/ 479178 h 605804"/>
                    <a:gd name="connsiteX5" fmla="*/ 204373 w 514281"/>
                    <a:gd name="connsiteY5" fmla="*/ 504299 h 605804"/>
                    <a:gd name="connsiteX6" fmla="*/ 311229 w 514281"/>
                    <a:gd name="connsiteY6" fmla="*/ 504299 h 605804"/>
                    <a:gd name="connsiteX7" fmla="*/ 311229 w 514281"/>
                    <a:gd name="connsiteY7" fmla="*/ 479178 h 605804"/>
                    <a:gd name="connsiteX8" fmla="*/ 458958 w 514281"/>
                    <a:gd name="connsiteY8" fmla="*/ 243592 h 605804"/>
                    <a:gd name="connsiteX9" fmla="*/ 514281 w 514281"/>
                    <a:gd name="connsiteY9" fmla="*/ 243592 h 605804"/>
                    <a:gd name="connsiteX10" fmla="*/ 514281 w 514281"/>
                    <a:gd name="connsiteY10" fmla="*/ 269913 h 605804"/>
                    <a:gd name="connsiteX11" fmla="*/ 458958 w 514281"/>
                    <a:gd name="connsiteY11" fmla="*/ 269913 h 605804"/>
                    <a:gd name="connsiteX12" fmla="*/ 0 w 514281"/>
                    <a:gd name="connsiteY12" fmla="*/ 243592 h 605804"/>
                    <a:gd name="connsiteX13" fmla="*/ 55323 w 514281"/>
                    <a:gd name="connsiteY13" fmla="*/ 243592 h 605804"/>
                    <a:gd name="connsiteX14" fmla="*/ 55323 w 514281"/>
                    <a:gd name="connsiteY14" fmla="*/ 269913 h 605804"/>
                    <a:gd name="connsiteX15" fmla="*/ 0 w 514281"/>
                    <a:gd name="connsiteY15" fmla="*/ 269913 h 605804"/>
                    <a:gd name="connsiteX16" fmla="*/ 263695 w 514281"/>
                    <a:gd name="connsiteY16" fmla="*/ 202846 h 605804"/>
                    <a:gd name="connsiteX17" fmla="*/ 192467 w 514281"/>
                    <a:gd name="connsiteY17" fmla="*/ 273946 h 605804"/>
                    <a:gd name="connsiteX18" fmla="*/ 237321 w 514281"/>
                    <a:gd name="connsiteY18" fmla="*/ 273946 h 605804"/>
                    <a:gd name="connsiteX19" fmla="*/ 250601 w 514281"/>
                    <a:gd name="connsiteY19" fmla="*/ 288407 h 605804"/>
                    <a:gd name="connsiteX20" fmla="*/ 246608 w 514281"/>
                    <a:gd name="connsiteY20" fmla="*/ 326599 h 605804"/>
                    <a:gd name="connsiteX21" fmla="*/ 320436 w 514281"/>
                    <a:gd name="connsiteY21" fmla="*/ 252904 h 605804"/>
                    <a:gd name="connsiteX22" fmla="*/ 275582 w 514281"/>
                    <a:gd name="connsiteY22" fmla="*/ 252904 h 605804"/>
                    <a:gd name="connsiteX23" fmla="*/ 262302 w 514281"/>
                    <a:gd name="connsiteY23" fmla="*/ 239648 h 605804"/>
                    <a:gd name="connsiteX24" fmla="*/ 283673 w 514281"/>
                    <a:gd name="connsiteY24" fmla="*/ 156984 h 605804"/>
                    <a:gd name="connsiteX25" fmla="*/ 291462 w 514281"/>
                    <a:gd name="connsiteY25" fmla="*/ 168641 h 605804"/>
                    <a:gd name="connsiteX26" fmla="*/ 290071 w 514281"/>
                    <a:gd name="connsiteY26" fmla="*/ 225094 h 605804"/>
                    <a:gd name="connsiteX27" fmla="*/ 290069 w 514281"/>
                    <a:gd name="connsiteY27" fmla="*/ 225094 h 605804"/>
                    <a:gd name="connsiteX28" fmla="*/ 290069 w 514281"/>
                    <a:gd name="connsiteY28" fmla="*/ 225187 h 605804"/>
                    <a:gd name="connsiteX29" fmla="*/ 290071 w 514281"/>
                    <a:gd name="connsiteY29" fmla="*/ 225094 h 605804"/>
                    <a:gd name="connsiteX30" fmla="*/ 353496 w 514281"/>
                    <a:gd name="connsiteY30" fmla="*/ 225094 h 605804"/>
                    <a:gd name="connsiteX31" fmla="*/ 362783 w 514281"/>
                    <a:gd name="connsiteY31" fmla="*/ 247435 h 605804"/>
                    <a:gd name="connsiteX32" fmla="*/ 240014 w 514281"/>
                    <a:gd name="connsiteY32" fmla="*/ 369982 h 605804"/>
                    <a:gd name="connsiteX33" fmla="*/ 217634 w 514281"/>
                    <a:gd name="connsiteY33" fmla="*/ 359414 h 605804"/>
                    <a:gd name="connsiteX34" fmla="*/ 222927 w 514281"/>
                    <a:gd name="connsiteY34" fmla="*/ 298882 h 605804"/>
                    <a:gd name="connsiteX35" fmla="*/ 160893 w 514281"/>
                    <a:gd name="connsiteY35" fmla="*/ 298882 h 605804"/>
                    <a:gd name="connsiteX36" fmla="*/ 151606 w 514281"/>
                    <a:gd name="connsiteY36" fmla="*/ 276542 h 605804"/>
                    <a:gd name="connsiteX37" fmla="*/ 268988 w 514281"/>
                    <a:gd name="connsiteY37" fmla="*/ 159371 h 605804"/>
                    <a:gd name="connsiteX38" fmla="*/ 283673 w 514281"/>
                    <a:gd name="connsiteY38" fmla="*/ 156984 h 605804"/>
                    <a:gd name="connsiteX39" fmla="*/ 250606 w 514281"/>
                    <a:gd name="connsiteY39" fmla="*/ 114503 h 605804"/>
                    <a:gd name="connsiteX40" fmla="*/ 114784 w 514281"/>
                    <a:gd name="connsiteY40" fmla="*/ 244837 h 605804"/>
                    <a:gd name="connsiteX41" fmla="*/ 159624 w 514281"/>
                    <a:gd name="connsiteY41" fmla="*/ 362007 h 605804"/>
                    <a:gd name="connsiteX42" fmla="*/ 204001 w 514281"/>
                    <a:gd name="connsiteY42" fmla="*/ 452852 h 605804"/>
                    <a:gd name="connsiteX43" fmla="*/ 311322 w 514281"/>
                    <a:gd name="connsiteY43" fmla="*/ 452852 h 605804"/>
                    <a:gd name="connsiteX44" fmla="*/ 354678 w 514281"/>
                    <a:gd name="connsiteY44" fmla="*/ 362007 h 605804"/>
                    <a:gd name="connsiteX45" fmla="*/ 400819 w 514281"/>
                    <a:gd name="connsiteY45" fmla="*/ 258000 h 605804"/>
                    <a:gd name="connsiteX46" fmla="*/ 250606 w 514281"/>
                    <a:gd name="connsiteY46" fmla="*/ 114503 h 605804"/>
                    <a:gd name="connsiteX47" fmla="*/ 249213 w 514281"/>
                    <a:gd name="connsiteY47" fmla="*/ 88269 h 605804"/>
                    <a:gd name="connsiteX48" fmla="*/ 427556 w 514281"/>
                    <a:gd name="connsiteY48" fmla="*/ 258092 h 605804"/>
                    <a:gd name="connsiteX49" fmla="*/ 373524 w 514281"/>
                    <a:gd name="connsiteY49" fmla="*/ 381845 h 605804"/>
                    <a:gd name="connsiteX50" fmla="*/ 337874 w 514281"/>
                    <a:gd name="connsiteY50" fmla="*/ 460824 h 605804"/>
                    <a:gd name="connsiteX51" fmla="*/ 337874 w 514281"/>
                    <a:gd name="connsiteY51" fmla="*/ 571413 h 605804"/>
                    <a:gd name="connsiteX52" fmla="*/ 324598 w 514281"/>
                    <a:gd name="connsiteY52" fmla="*/ 583278 h 605804"/>
                    <a:gd name="connsiteX53" fmla="*/ 270473 w 514281"/>
                    <a:gd name="connsiteY53" fmla="*/ 583278 h 605804"/>
                    <a:gd name="connsiteX54" fmla="*/ 270473 w 514281"/>
                    <a:gd name="connsiteY54" fmla="*/ 592548 h 605804"/>
                    <a:gd name="connsiteX55" fmla="*/ 257290 w 514281"/>
                    <a:gd name="connsiteY55" fmla="*/ 605804 h 605804"/>
                    <a:gd name="connsiteX56" fmla="*/ 244014 w 514281"/>
                    <a:gd name="connsiteY56" fmla="*/ 592548 h 605804"/>
                    <a:gd name="connsiteX57" fmla="*/ 244014 w 514281"/>
                    <a:gd name="connsiteY57" fmla="*/ 583278 h 605804"/>
                    <a:gd name="connsiteX58" fmla="*/ 189890 w 514281"/>
                    <a:gd name="connsiteY58" fmla="*/ 583278 h 605804"/>
                    <a:gd name="connsiteX59" fmla="*/ 176707 w 514281"/>
                    <a:gd name="connsiteY59" fmla="*/ 570023 h 605804"/>
                    <a:gd name="connsiteX60" fmla="*/ 176707 w 514281"/>
                    <a:gd name="connsiteY60" fmla="*/ 460824 h 605804"/>
                    <a:gd name="connsiteX61" fmla="*/ 139757 w 514281"/>
                    <a:gd name="connsiteY61" fmla="*/ 380454 h 605804"/>
                    <a:gd name="connsiteX62" fmla="*/ 87025 w 514281"/>
                    <a:gd name="connsiteY62" fmla="*/ 242241 h 605804"/>
                    <a:gd name="connsiteX63" fmla="*/ 249213 w 514281"/>
                    <a:gd name="connsiteY63" fmla="*/ 88269 h 605804"/>
                    <a:gd name="connsiteX64" fmla="*/ 429815 w 514281"/>
                    <a:gd name="connsiteY64" fmla="*/ 66120 h 605804"/>
                    <a:gd name="connsiteX65" fmla="*/ 448444 w 514281"/>
                    <a:gd name="connsiteY65" fmla="*/ 84608 h 605804"/>
                    <a:gd name="connsiteX66" fmla="*/ 409280 w 514281"/>
                    <a:gd name="connsiteY66" fmla="*/ 123772 h 605804"/>
                    <a:gd name="connsiteX67" fmla="*/ 390721 w 514281"/>
                    <a:gd name="connsiteY67" fmla="*/ 105143 h 605804"/>
                    <a:gd name="connsiteX68" fmla="*/ 84820 w 514281"/>
                    <a:gd name="connsiteY68" fmla="*/ 66120 h 605804"/>
                    <a:gd name="connsiteX69" fmla="*/ 123843 w 514281"/>
                    <a:gd name="connsiteY69" fmla="*/ 105143 h 605804"/>
                    <a:gd name="connsiteX70" fmla="*/ 105284 w 514281"/>
                    <a:gd name="connsiteY70" fmla="*/ 123772 h 605804"/>
                    <a:gd name="connsiteX71" fmla="*/ 66120 w 514281"/>
                    <a:gd name="connsiteY71" fmla="*/ 84749 h 605804"/>
                    <a:gd name="connsiteX72" fmla="*/ 243945 w 514281"/>
                    <a:gd name="connsiteY72" fmla="*/ 0 h 605804"/>
                    <a:gd name="connsiteX73" fmla="*/ 270266 w 514281"/>
                    <a:gd name="connsiteY73" fmla="*/ 0 h 605804"/>
                    <a:gd name="connsiteX74" fmla="*/ 270266 w 514281"/>
                    <a:gd name="connsiteY74" fmla="*/ 55253 h 605804"/>
                    <a:gd name="connsiteX75" fmla="*/ 243945 w 514281"/>
                    <a:gd name="connsiteY75" fmla="*/ 55253 h 605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514281" h="605804">
                      <a:moveTo>
                        <a:pt x="204373" y="530626"/>
                      </a:moveTo>
                      <a:lnTo>
                        <a:pt x="204373" y="556952"/>
                      </a:lnTo>
                      <a:lnTo>
                        <a:pt x="311229" y="556952"/>
                      </a:lnTo>
                      <a:lnTo>
                        <a:pt x="311229" y="530626"/>
                      </a:lnTo>
                      <a:close/>
                      <a:moveTo>
                        <a:pt x="204373" y="479178"/>
                      </a:moveTo>
                      <a:lnTo>
                        <a:pt x="204373" y="504299"/>
                      </a:lnTo>
                      <a:lnTo>
                        <a:pt x="311229" y="504299"/>
                      </a:lnTo>
                      <a:lnTo>
                        <a:pt x="311229" y="479178"/>
                      </a:lnTo>
                      <a:close/>
                      <a:moveTo>
                        <a:pt x="458958" y="243592"/>
                      </a:moveTo>
                      <a:lnTo>
                        <a:pt x="514281" y="243592"/>
                      </a:lnTo>
                      <a:lnTo>
                        <a:pt x="514281" y="269913"/>
                      </a:lnTo>
                      <a:lnTo>
                        <a:pt x="458958" y="269913"/>
                      </a:lnTo>
                      <a:close/>
                      <a:moveTo>
                        <a:pt x="0" y="243592"/>
                      </a:moveTo>
                      <a:lnTo>
                        <a:pt x="55323" y="243592"/>
                      </a:lnTo>
                      <a:lnTo>
                        <a:pt x="55323" y="269913"/>
                      </a:lnTo>
                      <a:lnTo>
                        <a:pt x="0" y="269913"/>
                      </a:lnTo>
                      <a:close/>
                      <a:moveTo>
                        <a:pt x="263695" y="202846"/>
                      </a:moveTo>
                      <a:lnTo>
                        <a:pt x="192467" y="273946"/>
                      </a:lnTo>
                      <a:lnTo>
                        <a:pt x="237321" y="273946"/>
                      </a:lnTo>
                      <a:cubicBezTo>
                        <a:pt x="248001" y="273946"/>
                        <a:pt x="251530" y="280991"/>
                        <a:pt x="250601" y="288407"/>
                      </a:cubicBezTo>
                      <a:lnTo>
                        <a:pt x="246608" y="326599"/>
                      </a:lnTo>
                      <a:lnTo>
                        <a:pt x="320436" y="252904"/>
                      </a:lnTo>
                      <a:lnTo>
                        <a:pt x="275582" y="252904"/>
                      </a:lnTo>
                      <a:cubicBezTo>
                        <a:pt x="270010" y="252904"/>
                        <a:pt x="262302" y="250586"/>
                        <a:pt x="262302" y="239648"/>
                      </a:cubicBezTo>
                      <a:close/>
                      <a:moveTo>
                        <a:pt x="283673" y="156984"/>
                      </a:moveTo>
                      <a:cubicBezTo>
                        <a:pt x="288142" y="159139"/>
                        <a:pt x="291462" y="163635"/>
                        <a:pt x="291462" y="168641"/>
                      </a:cubicBezTo>
                      <a:lnTo>
                        <a:pt x="290071" y="225094"/>
                      </a:lnTo>
                      <a:lnTo>
                        <a:pt x="290069" y="225094"/>
                      </a:lnTo>
                      <a:lnTo>
                        <a:pt x="290069" y="225187"/>
                      </a:lnTo>
                      <a:lnTo>
                        <a:pt x="290071" y="225094"/>
                      </a:lnTo>
                      <a:lnTo>
                        <a:pt x="353496" y="225094"/>
                      </a:lnTo>
                      <a:cubicBezTo>
                        <a:pt x="367798" y="225094"/>
                        <a:pt x="370398" y="240946"/>
                        <a:pt x="362783" y="247435"/>
                      </a:cubicBezTo>
                      <a:lnTo>
                        <a:pt x="240014" y="369982"/>
                      </a:lnTo>
                      <a:cubicBezTo>
                        <a:pt x="231378" y="376749"/>
                        <a:pt x="217634" y="373041"/>
                        <a:pt x="217634" y="359414"/>
                      </a:cubicBezTo>
                      <a:lnTo>
                        <a:pt x="222927" y="298882"/>
                      </a:lnTo>
                      <a:lnTo>
                        <a:pt x="160893" y="298882"/>
                      </a:lnTo>
                      <a:cubicBezTo>
                        <a:pt x="148077" y="298882"/>
                        <a:pt x="141484" y="286646"/>
                        <a:pt x="151606" y="276542"/>
                      </a:cubicBezTo>
                      <a:lnTo>
                        <a:pt x="268988" y="159371"/>
                      </a:lnTo>
                      <a:cubicBezTo>
                        <a:pt x="273585" y="155014"/>
                        <a:pt x="279204" y="154829"/>
                        <a:pt x="283673" y="156984"/>
                      </a:cubicBezTo>
                      <a:close/>
                      <a:moveTo>
                        <a:pt x="250606" y="114503"/>
                      </a:moveTo>
                      <a:cubicBezTo>
                        <a:pt x="179399" y="118396"/>
                        <a:pt x="121375" y="173830"/>
                        <a:pt x="114784" y="244837"/>
                      </a:cubicBezTo>
                      <a:cubicBezTo>
                        <a:pt x="110792" y="289610"/>
                        <a:pt x="126667" y="331788"/>
                        <a:pt x="159624" y="362007"/>
                      </a:cubicBezTo>
                      <a:cubicBezTo>
                        <a:pt x="186083" y="387407"/>
                        <a:pt x="201680" y="419388"/>
                        <a:pt x="204001" y="452852"/>
                      </a:cubicBezTo>
                      <a:lnTo>
                        <a:pt x="311322" y="452852"/>
                      </a:lnTo>
                      <a:cubicBezTo>
                        <a:pt x="313086" y="418553"/>
                        <a:pt x="328683" y="386758"/>
                        <a:pt x="354678" y="362007"/>
                      </a:cubicBezTo>
                      <a:cubicBezTo>
                        <a:pt x="383736" y="334476"/>
                        <a:pt x="400819" y="297489"/>
                        <a:pt x="400819" y="258000"/>
                      </a:cubicBezTo>
                      <a:cubicBezTo>
                        <a:pt x="400819" y="176425"/>
                        <a:pt x="332304" y="110517"/>
                        <a:pt x="250606" y="114503"/>
                      </a:cubicBezTo>
                      <a:close/>
                      <a:moveTo>
                        <a:pt x="249213" y="88269"/>
                      </a:moveTo>
                      <a:cubicBezTo>
                        <a:pt x="346786" y="82985"/>
                        <a:pt x="427185" y="161964"/>
                        <a:pt x="427556" y="258092"/>
                      </a:cubicBezTo>
                      <a:cubicBezTo>
                        <a:pt x="427556" y="304164"/>
                        <a:pt x="407782" y="350142"/>
                        <a:pt x="373524" y="381845"/>
                      </a:cubicBezTo>
                      <a:cubicBezTo>
                        <a:pt x="351057" y="402795"/>
                        <a:pt x="337874" y="430511"/>
                        <a:pt x="337874" y="460824"/>
                      </a:cubicBezTo>
                      <a:lnTo>
                        <a:pt x="337874" y="571413"/>
                      </a:lnTo>
                      <a:cubicBezTo>
                        <a:pt x="337874" y="577995"/>
                        <a:pt x="331190" y="583278"/>
                        <a:pt x="324598" y="583278"/>
                      </a:cubicBezTo>
                      <a:lnTo>
                        <a:pt x="270473" y="583278"/>
                      </a:lnTo>
                      <a:lnTo>
                        <a:pt x="270473" y="592548"/>
                      </a:lnTo>
                      <a:cubicBezTo>
                        <a:pt x="270473" y="600428"/>
                        <a:pt x="265182" y="605804"/>
                        <a:pt x="257290" y="605804"/>
                      </a:cubicBezTo>
                      <a:cubicBezTo>
                        <a:pt x="249306" y="605804"/>
                        <a:pt x="244014" y="600428"/>
                        <a:pt x="244014" y="592548"/>
                      </a:cubicBezTo>
                      <a:lnTo>
                        <a:pt x="244014" y="583278"/>
                      </a:lnTo>
                      <a:lnTo>
                        <a:pt x="189890" y="583278"/>
                      </a:lnTo>
                      <a:cubicBezTo>
                        <a:pt x="181999" y="583278"/>
                        <a:pt x="176707" y="577995"/>
                        <a:pt x="176707" y="570023"/>
                      </a:cubicBezTo>
                      <a:lnTo>
                        <a:pt x="176707" y="460824"/>
                      </a:lnTo>
                      <a:cubicBezTo>
                        <a:pt x="176707" y="430511"/>
                        <a:pt x="163524" y="402795"/>
                        <a:pt x="139757" y="380454"/>
                      </a:cubicBezTo>
                      <a:cubicBezTo>
                        <a:pt x="101508" y="344951"/>
                        <a:pt x="83126" y="293596"/>
                        <a:pt x="87025" y="242241"/>
                      </a:cubicBezTo>
                      <a:cubicBezTo>
                        <a:pt x="95009" y="158071"/>
                        <a:pt x="164823" y="92255"/>
                        <a:pt x="249213" y="88269"/>
                      </a:cubicBezTo>
                      <a:close/>
                      <a:moveTo>
                        <a:pt x="429815" y="66120"/>
                      </a:moveTo>
                      <a:lnTo>
                        <a:pt x="448444" y="84608"/>
                      </a:lnTo>
                      <a:lnTo>
                        <a:pt x="409280" y="123772"/>
                      </a:lnTo>
                      <a:lnTo>
                        <a:pt x="390721" y="105143"/>
                      </a:lnTo>
                      <a:close/>
                      <a:moveTo>
                        <a:pt x="84820" y="66120"/>
                      </a:moveTo>
                      <a:lnTo>
                        <a:pt x="123843" y="105143"/>
                      </a:lnTo>
                      <a:lnTo>
                        <a:pt x="105284" y="123772"/>
                      </a:lnTo>
                      <a:lnTo>
                        <a:pt x="66120" y="84749"/>
                      </a:lnTo>
                      <a:close/>
                      <a:moveTo>
                        <a:pt x="243945" y="0"/>
                      </a:moveTo>
                      <a:lnTo>
                        <a:pt x="270266" y="0"/>
                      </a:lnTo>
                      <a:lnTo>
                        <a:pt x="270266" y="55253"/>
                      </a:lnTo>
                      <a:lnTo>
                        <a:pt x="243945" y="5525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ea typeface="微软雅黑" panose="020B0503020204020204" pitchFamily="34" charset="-122"/>
                  </a:endParaRPr>
                </a:p>
              </p:txBody>
            </p:sp>
          </p:grpSp>
          <p:cxnSp>
            <p:nvCxnSpPr>
              <p:cNvPr id="9" name="直接连接符 8"/>
              <p:cNvCxnSpPr/>
              <p:nvPr/>
            </p:nvCxnSpPr>
            <p:spPr>
              <a:xfrm>
                <a:off x="2446950" y="-776742"/>
                <a:ext cx="0" cy="4295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 name="等腰三角形 9"/>
              <p:cNvSpPr/>
              <p:nvPr/>
            </p:nvSpPr>
            <p:spPr>
              <a:xfrm rot="5400000">
                <a:off x="2443292" y="-584836"/>
                <a:ext cx="53036" cy="45720"/>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11" name="文本框 10"/>
              <p:cNvSpPr txBox="1"/>
              <p:nvPr/>
            </p:nvSpPr>
            <p:spPr>
              <a:xfrm>
                <a:off x="2492670" y="-746642"/>
                <a:ext cx="5803849" cy="369332"/>
              </a:xfrm>
              <a:prstGeom prst="rect">
                <a:avLst/>
              </a:prstGeom>
              <a:noFill/>
            </p:spPr>
            <p:txBody>
              <a:bodyPr wrap="square" rtlCol="0">
                <a:spAutoFit/>
              </a:bodyPr>
              <a:lstStyle/>
              <a:p>
                <a:pPr lvl="0" algn="ctr"/>
                <a:r>
                  <a:rPr lang="zh-CN" altLang="en-US" dirty="0">
                    <a:ea typeface="微软雅黑" panose="020B0503020204020204" pitchFamily="34" charset="-122"/>
                  </a:rPr>
                  <a:t>选中图片</a:t>
                </a:r>
                <a:r>
                  <a:rPr lang="en-US" altLang="zh-CN" dirty="0">
                    <a:ea typeface="微软雅黑" panose="020B0503020204020204" pitchFamily="34" charset="-122"/>
                  </a:rPr>
                  <a:t>Delete</a:t>
                </a:r>
                <a:r>
                  <a:rPr lang="zh-CN" altLang="en-US" dirty="0">
                    <a:ea typeface="微软雅黑" panose="020B0503020204020204" pitchFamily="34" charset="-122"/>
                  </a:rPr>
                  <a:t>，点击中间图标即可插入新图片</a:t>
                </a:r>
                <a:endParaRPr lang="zh-CN" altLang="en-US" dirty="0">
                  <a:ea typeface="微软雅黑" panose="020B0503020204020204" pitchFamily="34" charset="-122"/>
                </a:endParaRPr>
              </a:p>
            </p:txBody>
          </p:sp>
        </p:grpSp>
        <p:sp>
          <p:nvSpPr>
            <p:cNvPr id="5" name="文本框 4"/>
            <p:cNvSpPr txBox="1"/>
            <p:nvPr/>
          </p:nvSpPr>
          <p:spPr>
            <a:xfrm>
              <a:off x="6582625" y="-626246"/>
              <a:ext cx="188305" cy="425834"/>
            </a:xfrm>
            <a:custGeom>
              <a:avLst/>
              <a:gdLst/>
              <a:ahLst/>
              <a:cxnLst/>
              <a:rect l="l" t="t" r="r" b="b"/>
              <a:pathLst>
                <a:path w="188305" h="425834">
                  <a:moveTo>
                    <a:pt x="137517" y="318455"/>
                  </a:moveTo>
                  <a:cubicBezTo>
                    <a:pt x="151358" y="318455"/>
                    <a:pt x="161479" y="320222"/>
                    <a:pt x="167878" y="323757"/>
                  </a:cubicBezTo>
                  <a:cubicBezTo>
                    <a:pt x="174278" y="327291"/>
                    <a:pt x="179282" y="333003"/>
                    <a:pt x="182891" y="340890"/>
                  </a:cubicBezTo>
                  <a:cubicBezTo>
                    <a:pt x="186500" y="348778"/>
                    <a:pt x="188305" y="358303"/>
                    <a:pt x="188305" y="369465"/>
                  </a:cubicBezTo>
                  <a:cubicBezTo>
                    <a:pt x="188305" y="381669"/>
                    <a:pt x="186333" y="392069"/>
                    <a:pt x="182389" y="400664"/>
                  </a:cubicBezTo>
                  <a:cubicBezTo>
                    <a:pt x="178445" y="409258"/>
                    <a:pt x="173478" y="414951"/>
                    <a:pt x="167488" y="417742"/>
                  </a:cubicBezTo>
                  <a:cubicBezTo>
                    <a:pt x="161497" y="420532"/>
                    <a:pt x="151321" y="421927"/>
                    <a:pt x="136959" y="421927"/>
                  </a:cubicBezTo>
                  <a:lnTo>
                    <a:pt x="129815" y="421927"/>
                  </a:lnTo>
                  <a:lnTo>
                    <a:pt x="129815" y="378283"/>
                  </a:lnTo>
                  <a:lnTo>
                    <a:pt x="143210" y="378283"/>
                  </a:lnTo>
                  <a:cubicBezTo>
                    <a:pt x="149461" y="378283"/>
                    <a:pt x="153442" y="377725"/>
                    <a:pt x="155153" y="376609"/>
                  </a:cubicBezTo>
                  <a:cubicBezTo>
                    <a:pt x="156865" y="375493"/>
                    <a:pt x="157721" y="373633"/>
                    <a:pt x="157721" y="371028"/>
                  </a:cubicBezTo>
                  <a:cubicBezTo>
                    <a:pt x="157721" y="368200"/>
                    <a:pt x="156566" y="366061"/>
                    <a:pt x="154258" y="364610"/>
                  </a:cubicBezTo>
                  <a:cubicBezTo>
                    <a:pt x="151949" y="363159"/>
                    <a:pt x="148449" y="362433"/>
                    <a:pt x="143758" y="362433"/>
                  </a:cubicBezTo>
                  <a:cubicBezTo>
                    <a:pt x="137727" y="362433"/>
                    <a:pt x="133184" y="363249"/>
                    <a:pt x="130131" y="364880"/>
                  </a:cubicBezTo>
                  <a:cubicBezTo>
                    <a:pt x="127078" y="366438"/>
                    <a:pt x="123395" y="370865"/>
                    <a:pt x="119082" y="378160"/>
                  </a:cubicBezTo>
                  <a:cubicBezTo>
                    <a:pt x="106667" y="399078"/>
                    <a:pt x="96478" y="412254"/>
                    <a:pt x="88516" y="417686"/>
                  </a:cubicBezTo>
                  <a:cubicBezTo>
                    <a:pt x="80553" y="423118"/>
                    <a:pt x="67717" y="425834"/>
                    <a:pt x="50006" y="425834"/>
                  </a:cubicBezTo>
                  <a:cubicBezTo>
                    <a:pt x="37133" y="425834"/>
                    <a:pt x="27645" y="424327"/>
                    <a:pt x="21543" y="421313"/>
                  </a:cubicBezTo>
                  <a:cubicBezTo>
                    <a:pt x="15441" y="418300"/>
                    <a:pt x="10325" y="412477"/>
                    <a:pt x="6195" y="403845"/>
                  </a:cubicBezTo>
                  <a:cubicBezTo>
                    <a:pt x="2065" y="395213"/>
                    <a:pt x="0" y="385167"/>
                    <a:pt x="0" y="373707"/>
                  </a:cubicBezTo>
                  <a:cubicBezTo>
                    <a:pt x="0" y="361131"/>
                    <a:pt x="2381" y="350397"/>
                    <a:pt x="7144" y="341504"/>
                  </a:cubicBezTo>
                  <a:cubicBezTo>
                    <a:pt x="11906" y="332612"/>
                    <a:pt x="17971" y="326789"/>
                    <a:pt x="25338" y="324036"/>
                  </a:cubicBezTo>
                  <a:cubicBezTo>
                    <a:pt x="32705" y="321282"/>
                    <a:pt x="43160" y="319906"/>
                    <a:pt x="56704" y="319906"/>
                  </a:cubicBezTo>
                  <a:lnTo>
                    <a:pt x="68535" y="319906"/>
                  </a:lnTo>
                  <a:lnTo>
                    <a:pt x="68535" y="363549"/>
                  </a:lnTo>
                  <a:lnTo>
                    <a:pt x="46546" y="363549"/>
                  </a:lnTo>
                  <a:cubicBezTo>
                    <a:pt x="39774" y="363549"/>
                    <a:pt x="35421" y="364163"/>
                    <a:pt x="33486" y="365391"/>
                  </a:cubicBezTo>
                  <a:cubicBezTo>
                    <a:pt x="31552" y="366619"/>
                    <a:pt x="30584" y="368796"/>
                    <a:pt x="30584" y="371921"/>
                  </a:cubicBezTo>
                  <a:cubicBezTo>
                    <a:pt x="30584" y="375046"/>
                    <a:pt x="31812" y="377372"/>
                    <a:pt x="34268" y="378897"/>
                  </a:cubicBezTo>
                  <a:cubicBezTo>
                    <a:pt x="36723" y="380423"/>
                    <a:pt x="40370" y="381186"/>
                    <a:pt x="45207" y="381186"/>
                  </a:cubicBezTo>
                  <a:cubicBezTo>
                    <a:pt x="55848" y="381186"/>
                    <a:pt x="62806" y="379735"/>
                    <a:pt x="66080" y="376832"/>
                  </a:cubicBezTo>
                  <a:cubicBezTo>
                    <a:pt x="69354" y="373856"/>
                    <a:pt x="74823" y="366526"/>
                    <a:pt x="82488" y="354843"/>
                  </a:cubicBezTo>
                  <a:cubicBezTo>
                    <a:pt x="90227" y="343160"/>
                    <a:pt x="95845" y="335421"/>
                    <a:pt x="99343" y="331626"/>
                  </a:cubicBezTo>
                  <a:cubicBezTo>
                    <a:pt x="102840" y="327831"/>
                    <a:pt x="107677" y="324687"/>
                    <a:pt x="113854" y="322194"/>
                  </a:cubicBezTo>
                  <a:cubicBezTo>
                    <a:pt x="120030" y="319701"/>
                    <a:pt x="127918" y="318455"/>
                    <a:pt x="137517" y="318455"/>
                  </a:cubicBezTo>
                  <a:close/>
                  <a:moveTo>
                    <a:pt x="107603" y="245529"/>
                  </a:moveTo>
                  <a:cubicBezTo>
                    <a:pt x="107528" y="246868"/>
                    <a:pt x="107491" y="248022"/>
                    <a:pt x="107491" y="248989"/>
                  </a:cubicBezTo>
                  <a:cubicBezTo>
                    <a:pt x="107491" y="253305"/>
                    <a:pt x="108552" y="256300"/>
                    <a:pt x="110672" y="257975"/>
                  </a:cubicBezTo>
                  <a:cubicBezTo>
                    <a:pt x="112793" y="259649"/>
                    <a:pt x="117202" y="260486"/>
                    <a:pt x="123900" y="260486"/>
                  </a:cubicBezTo>
                  <a:lnTo>
                    <a:pt x="138745" y="260486"/>
                  </a:lnTo>
                  <a:cubicBezTo>
                    <a:pt x="144922" y="260486"/>
                    <a:pt x="148940" y="259519"/>
                    <a:pt x="150800" y="257584"/>
                  </a:cubicBezTo>
                  <a:cubicBezTo>
                    <a:pt x="152661" y="255649"/>
                    <a:pt x="153591" y="251631"/>
                    <a:pt x="153591" y="245529"/>
                  </a:cubicBezTo>
                  <a:close/>
                  <a:moveTo>
                    <a:pt x="3795" y="198536"/>
                  </a:moveTo>
                  <a:lnTo>
                    <a:pt x="184510" y="198536"/>
                  </a:lnTo>
                  <a:lnTo>
                    <a:pt x="184510" y="245864"/>
                  </a:lnTo>
                  <a:cubicBezTo>
                    <a:pt x="184510" y="258663"/>
                    <a:pt x="183505" y="268504"/>
                    <a:pt x="181496" y="275387"/>
                  </a:cubicBezTo>
                  <a:cubicBezTo>
                    <a:pt x="179487" y="282271"/>
                    <a:pt x="176585" y="287443"/>
                    <a:pt x="172790" y="290903"/>
                  </a:cubicBezTo>
                  <a:cubicBezTo>
                    <a:pt x="168994" y="294363"/>
                    <a:pt x="164399" y="296707"/>
                    <a:pt x="159004" y="297935"/>
                  </a:cubicBezTo>
                  <a:cubicBezTo>
                    <a:pt x="153609" y="299163"/>
                    <a:pt x="145256" y="299777"/>
                    <a:pt x="133945" y="299777"/>
                  </a:cubicBezTo>
                  <a:lnTo>
                    <a:pt x="118207" y="299777"/>
                  </a:lnTo>
                  <a:cubicBezTo>
                    <a:pt x="106673" y="299777"/>
                    <a:pt x="98264" y="298586"/>
                    <a:pt x="92981" y="296205"/>
                  </a:cubicBezTo>
                  <a:cubicBezTo>
                    <a:pt x="87697" y="293824"/>
                    <a:pt x="83642" y="289452"/>
                    <a:pt x="80814" y="283089"/>
                  </a:cubicBezTo>
                  <a:cubicBezTo>
                    <a:pt x="77986" y="276727"/>
                    <a:pt x="76572" y="268411"/>
                    <a:pt x="76572" y="258142"/>
                  </a:cubicBezTo>
                  <a:lnTo>
                    <a:pt x="76572" y="245529"/>
                  </a:lnTo>
                  <a:lnTo>
                    <a:pt x="3795" y="245529"/>
                  </a:lnTo>
                  <a:close/>
                  <a:moveTo>
                    <a:pt x="3795" y="122336"/>
                  </a:moveTo>
                  <a:lnTo>
                    <a:pt x="184510" y="122336"/>
                  </a:lnTo>
                  <a:lnTo>
                    <a:pt x="184510" y="169329"/>
                  </a:lnTo>
                  <a:lnTo>
                    <a:pt x="3795" y="169329"/>
                  </a:lnTo>
                  <a:close/>
                  <a:moveTo>
                    <a:pt x="148345" y="0"/>
                  </a:moveTo>
                  <a:lnTo>
                    <a:pt x="184510" y="0"/>
                  </a:lnTo>
                  <a:lnTo>
                    <a:pt x="184510" y="102691"/>
                  </a:lnTo>
                  <a:lnTo>
                    <a:pt x="148345" y="102691"/>
                  </a:lnTo>
                  <a:lnTo>
                    <a:pt x="148345" y="74786"/>
                  </a:lnTo>
                  <a:lnTo>
                    <a:pt x="3795" y="74786"/>
                  </a:lnTo>
                  <a:lnTo>
                    <a:pt x="3795" y="27793"/>
                  </a:lnTo>
                  <a:lnTo>
                    <a:pt x="148345" y="27793"/>
                  </a:ln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algn="ctr">
                <a:lnSpc>
                  <a:spcPct val="130000"/>
                </a:lnSpc>
              </a:pPr>
              <a:endParaRPr lang="zh-CN" altLang="en-US" spc="100" dirty="0">
                <a:solidFill>
                  <a:schemeClr val="tx1">
                    <a:lumMod val="65000"/>
                    <a:lumOff val="35000"/>
                  </a:schemeClr>
                </a:solidFill>
                <a:ea typeface="微软雅黑" panose="020B0503020204020204" pitchFamily="34" charset="-122"/>
              </a:endParaRPr>
            </a:p>
          </p:txBody>
        </p:sp>
      </p:grpSp>
      <p:sp>
        <p:nvSpPr>
          <p:cNvPr id="65" name="文本框 64"/>
          <p:cNvSpPr txBox="1"/>
          <p:nvPr/>
        </p:nvSpPr>
        <p:spPr>
          <a:xfrm>
            <a:off x="706120" y="251106"/>
            <a:ext cx="9664564" cy="535531"/>
          </a:xfrm>
          <a:prstGeom prst="rect">
            <a:avLst/>
          </a:prstGeom>
          <a:noFill/>
        </p:spPr>
        <p:txBody>
          <a:bodyPr wrap="square" rtlCol="0">
            <a:spAutoFit/>
          </a:bodyPr>
          <a:lstStyle/>
          <a:p>
            <a:pPr>
              <a:lnSpc>
                <a:spcPct val="90000"/>
              </a:lnSpc>
              <a:spcBef>
                <a:spcPts val="1000"/>
              </a:spcBef>
              <a:spcAft>
                <a:spcPts val="1000"/>
              </a:spcAft>
            </a:pPr>
            <a:r>
              <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rPr>
              <a:t>实验报告</a:t>
            </a:r>
            <a:endParaRPr lang="zh-CN" altLang="en-US" sz="3200" b="1" dirty="0">
              <a:gradFill>
                <a:gsLst>
                  <a:gs pos="0">
                    <a:schemeClr val="accent2"/>
                  </a:gs>
                  <a:gs pos="54000">
                    <a:schemeClr val="accent1"/>
                  </a:gs>
                  <a:gs pos="100000">
                    <a:schemeClr val="accent1"/>
                  </a:gs>
                </a:gsLst>
                <a:lin ang="2700000" scaled="1"/>
              </a:gradFill>
              <a:effectLst>
                <a:outerShdw dist="38100" dir="2700000" algn="tl" rotWithShape="0">
                  <a:schemeClr val="accent1">
                    <a:alpha val="16000"/>
                  </a:schemeClr>
                </a:outerShdw>
              </a:effectLst>
              <a:ea typeface="微软雅黑" panose="020B0503020204020204" pitchFamily="34" charset="-122"/>
              <a:cs typeface="OPPOSans B" panose="00020600040101010101" pitchFamily="18" charset="-122"/>
            </a:endParaRPr>
          </a:p>
        </p:txBody>
      </p:sp>
      <p:sp>
        <p:nvSpPr>
          <p:cNvPr id="2" name="文本框 1"/>
          <p:cNvSpPr txBox="1"/>
          <p:nvPr/>
        </p:nvSpPr>
        <p:spPr>
          <a:xfrm>
            <a:off x="521518" y="1411690"/>
            <a:ext cx="9721031" cy="4271234"/>
          </a:xfrm>
          <a:prstGeom prst="rect">
            <a:avLst/>
          </a:prstGeom>
          <a:noFill/>
        </p:spPr>
        <p:txBody>
          <a:bodyPr wrap="square">
            <a:spAutoFit/>
          </a:bodyPr>
          <a:lstStyle/>
          <a:p>
            <a:pPr marL="514350" indent="-514350">
              <a:lnSpc>
                <a:spcPct val="200000"/>
              </a:lnSpc>
              <a:buAutoNum type="arabicPeriod"/>
            </a:pPr>
            <a:r>
              <a:rPr lang="zh-CN" altLang="en-US" sz="2800" b="1" dirty="0">
                <a:solidFill>
                  <a:srgbClr val="404244"/>
                </a:solidFill>
                <a:latin typeface="+mn-ea"/>
                <a:cs typeface="Helvetica" panose="020B0604020202020204" pitchFamily="34" charset="0"/>
              </a:rPr>
              <a:t>要体现实验过程（截图）</a:t>
            </a:r>
            <a:endParaRPr lang="en-US" altLang="zh-CN" sz="2800" b="1" dirty="0">
              <a:solidFill>
                <a:srgbClr val="404244"/>
              </a:solidFill>
              <a:latin typeface="+mn-ea"/>
              <a:cs typeface="Helvetica" panose="020B0604020202020204" pitchFamily="34" charset="0"/>
            </a:endParaRPr>
          </a:p>
          <a:p>
            <a:pPr marL="514350" indent="-514350">
              <a:lnSpc>
                <a:spcPct val="200000"/>
              </a:lnSpc>
              <a:buAutoNum type="arabicPeriod"/>
            </a:pPr>
            <a:r>
              <a:rPr lang="zh-CN" altLang="en-US" sz="2800" b="1" dirty="0">
                <a:solidFill>
                  <a:srgbClr val="404244"/>
                </a:solidFill>
                <a:latin typeface="+mn-ea"/>
                <a:cs typeface="Helvetica" panose="020B0604020202020204" pitchFamily="34" charset="0"/>
              </a:rPr>
              <a:t>有对关键代码</a:t>
            </a:r>
            <a:r>
              <a:rPr lang="en-US" altLang="zh-CN" sz="2800" b="1" dirty="0">
                <a:solidFill>
                  <a:srgbClr val="404244"/>
                </a:solidFill>
                <a:latin typeface="+mn-ea"/>
                <a:cs typeface="Helvetica" panose="020B0604020202020204" pitchFamily="34" charset="0"/>
              </a:rPr>
              <a:t>/</a:t>
            </a:r>
            <a:r>
              <a:rPr lang="zh-CN" altLang="en-US" sz="2800" b="1" dirty="0">
                <a:solidFill>
                  <a:srgbClr val="404244"/>
                </a:solidFill>
                <a:latin typeface="+mn-ea"/>
                <a:cs typeface="Helvetica" panose="020B0604020202020204" pitchFamily="34" charset="0"/>
              </a:rPr>
              <a:t>指令的分析或比较详细的代码</a:t>
            </a:r>
            <a:r>
              <a:rPr lang="en-US" altLang="zh-CN" sz="2800" b="1" dirty="0">
                <a:solidFill>
                  <a:srgbClr val="404244"/>
                </a:solidFill>
                <a:latin typeface="+mn-ea"/>
                <a:cs typeface="Helvetica" panose="020B0604020202020204" pitchFamily="34" charset="0"/>
              </a:rPr>
              <a:t>/</a:t>
            </a:r>
            <a:r>
              <a:rPr lang="zh-CN" altLang="en-US" sz="2800" b="1" dirty="0">
                <a:solidFill>
                  <a:srgbClr val="404244"/>
                </a:solidFill>
                <a:latin typeface="+mn-ea"/>
                <a:cs typeface="Helvetica" panose="020B0604020202020204" pitchFamily="34" charset="0"/>
              </a:rPr>
              <a:t>指令注释</a:t>
            </a:r>
            <a:endParaRPr lang="en-US" altLang="zh-CN" sz="2800" b="1" dirty="0">
              <a:solidFill>
                <a:srgbClr val="404244"/>
              </a:solidFill>
              <a:latin typeface="+mn-ea"/>
              <a:cs typeface="Helvetica" panose="020B0604020202020204" pitchFamily="34" charset="0"/>
            </a:endParaRPr>
          </a:p>
          <a:p>
            <a:pPr marL="514350" indent="-514350">
              <a:lnSpc>
                <a:spcPct val="200000"/>
              </a:lnSpc>
              <a:buAutoNum type="arabicPeriod"/>
            </a:pPr>
            <a:r>
              <a:rPr lang="zh-CN" altLang="en-US" sz="2800" b="1" dirty="0">
                <a:solidFill>
                  <a:srgbClr val="404244"/>
                </a:solidFill>
                <a:latin typeface="+mn-ea"/>
                <a:cs typeface="Helvetica" panose="020B0604020202020204" pitchFamily="34" charset="0"/>
              </a:rPr>
              <a:t>实验心得总结</a:t>
            </a:r>
            <a:r>
              <a:rPr lang="en-US" altLang="zh-CN" sz="2800" b="1" dirty="0">
                <a:solidFill>
                  <a:srgbClr val="404244"/>
                </a:solidFill>
                <a:latin typeface="+mn-ea"/>
                <a:cs typeface="Helvetica" panose="020B0604020202020204" pitchFamily="34" charset="0"/>
              </a:rPr>
              <a:t>	</a:t>
            </a:r>
            <a:endParaRPr lang="en-US" altLang="zh-CN" sz="2800" b="1" dirty="0">
              <a:solidFill>
                <a:srgbClr val="404244"/>
              </a:solidFill>
              <a:latin typeface="+mn-ea"/>
              <a:cs typeface="Helvetica" panose="020B0604020202020204" pitchFamily="34" charset="0"/>
            </a:endParaRPr>
          </a:p>
          <a:p>
            <a:pPr>
              <a:lnSpc>
                <a:spcPct val="200000"/>
              </a:lnSpc>
            </a:pPr>
            <a:r>
              <a:rPr lang="zh-CN" altLang="en-US" sz="2800" b="1" dirty="0">
                <a:solidFill>
                  <a:srgbClr val="C00000"/>
                </a:solidFill>
                <a:latin typeface="+mn-ea"/>
                <a:cs typeface="Helvetica" panose="020B0604020202020204" pitchFamily="34" charset="0"/>
              </a:rPr>
              <a:t>实验时间：</a:t>
            </a:r>
            <a:r>
              <a:rPr lang="en-US" altLang="zh-CN" sz="2800" b="1" dirty="0">
                <a:solidFill>
                  <a:srgbClr val="C00000"/>
                </a:solidFill>
                <a:latin typeface="+mn-ea"/>
                <a:cs typeface="Helvetica" panose="020B0604020202020204" pitchFamily="34" charset="0"/>
              </a:rPr>
              <a:t>2</a:t>
            </a:r>
            <a:r>
              <a:rPr lang="zh-CN" altLang="en-US" sz="2800" b="1" dirty="0">
                <a:solidFill>
                  <a:srgbClr val="C00000"/>
                </a:solidFill>
                <a:latin typeface="+mn-ea"/>
                <a:cs typeface="Helvetica" panose="020B0604020202020204" pitchFamily="34" charset="0"/>
              </a:rPr>
              <a:t>周</a:t>
            </a:r>
            <a:endParaRPr lang="en-US" altLang="zh-CN" sz="2800" b="1" dirty="0">
              <a:solidFill>
                <a:srgbClr val="C00000"/>
              </a:solidFill>
              <a:latin typeface="+mn-ea"/>
              <a:cs typeface="Helvetica" panose="020B0604020202020204" pitchFamily="34" charset="0"/>
            </a:endParaRPr>
          </a:p>
          <a:p>
            <a:pPr>
              <a:lnSpc>
                <a:spcPct val="200000"/>
              </a:lnSpc>
            </a:pPr>
            <a:r>
              <a:rPr lang="zh-CN" altLang="en-US" sz="2800" b="1" dirty="0">
                <a:solidFill>
                  <a:srgbClr val="C00000"/>
                </a:solidFill>
                <a:latin typeface="+mn-ea"/>
                <a:cs typeface="Helvetica" panose="020B0604020202020204" pitchFamily="34" charset="0"/>
              </a:rPr>
              <a:t>提交</a:t>
            </a:r>
            <a:r>
              <a:rPr lang="zh-CN" altLang="en-US" sz="2800" b="1">
                <a:solidFill>
                  <a:srgbClr val="C00000"/>
                </a:solidFill>
                <a:latin typeface="+mn-ea"/>
                <a:cs typeface="Helvetica" panose="020B0604020202020204" pitchFamily="34" charset="0"/>
              </a:rPr>
              <a:t>方式：智慧课堂</a:t>
            </a:r>
            <a:endParaRPr lang="zh-CN" altLang="zh-CN" sz="2800" b="1" dirty="0">
              <a:solidFill>
                <a:srgbClr val="C00000"/>
              </a:solidFill>
              <a:latin typeface="+mn-ea"/>
              <a:cs typeface="Helvetica" panose="020B0604020202020204" pitchFamily="34" charset="0"/>
            </a:endParaRPr>
          </a:p>
        </p:txBody>
      </p:sp>
    </p:spTree>
  </p:cSld>
  <p:clrMapOvr>
    <a:masterClrMapping/>
  </p:clrMapOvr>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7E0C6E"/>
      </a:accent1>
      <a:accent2>
        <a:srgbClr val="983D8B"/>
      </a:accent2>
      <a:accent3>
        <a:srgbClr val="B26DA8"/>
      </a:accent3>
      <a:accent4>
        <a:srgbClr val="CB9EC5"/>
      </a:accent4>
      <a:accent5>
        <a:srgbClr val="7E0C6E"/>
      </a:accent5>
      <a:accent6>
        <a:srgbClr val="983D8B"/>
      </a:accent6>
      <a:hlink>
        <a:srgbClr val="B26DA8"/>
      </a:hlink>
      <a:folHlink>
        <a:srgbClr val="CB9EC5"/>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8078</Words>
  <Application>WPS 演示</Application>
  <PresentationFormat>宽屏</PresentationFormat>
  <Paragraphs>698</Paragraphs>
  <Slides>50</Slides>
  <Notes>48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50</vt:i4>
      </vt:variant>
    </vt:vector>
  </HeadingPairs>
  <TitlesOfParts>
    <vt:vector size="67" baseType="lpstr">
      <vt:lpstr>Arial</vt:lpstr>
      <vt:lpstr>宋体</vt:lpstr>
      <vt:lpstr>Wingdings</vt:lpstr>
      <vt:lpstr>方正姚体</vt:lpstr>
      <vt:lpstr>微软雅黑</vt:lpstr>
      <vt:lpstr>仿宋</vt:lpstr>
      <vt:lpstr>OPPOSans B</vt:lpstr>
      <vt:lpstr>Helvetica</vt:lpstr>
      <vt:lpstr>Calibri</vt:lpstr>
      <vt:lpstr>Arial Unicode MS</vt:lpstr>
      <vt:lpstr>等线</vt:lpstr>
      <vt:lpstr>Times New Roman</vt:lpstr>
      <vt:lpstr>楷体</vt:lpstr>
      <vt:lpstr>Constantia</vt:lpstr>
      <vt:lpstr>Verdana</vt:lpstr>
      <vt:lpstr>Courier New</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蒋枘言</cp:lastModifiedBy>
  <cp:revision>7</cp:revision>
  <dcterms:created xsi:type="dcterms:W3CDTF">2025-02-15T09:33:00Z</dcterms:created>
  <dcterms:modified xsi:type="dcterms:W3CDTF">2026-03-04T06:30:39Z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C84335BEE6724184ADCD389D13407674_12</vt:lpwstr>
  </property>
</Properties>
</file>